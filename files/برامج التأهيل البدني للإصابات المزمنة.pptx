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8"/>
  </p:notesMasterIdLst>
  <p:sldIdLst>
    <p:sldId id="256" r:id="rId2"/>
    <p:sldId id="296" r:id="rId3"/>
    <p:sldId id="266" r:id="rId4"/>
    <p:sldId id="267" r:id="rId5"/>
    <p:sldId id="258" r:id="rId6"/>
    <p:sldId id="260" r:id="rId7"/>
    <p:sldId id="259" r:id="rId8"/>
    <p:sldId id="297" r:id="rId9"/>
    <p:sldId id="265" r:id="rId10"/>
    <p:sldId id="269" r:id="rId11"/>
    <p:sldId id="270" r:id="rId12"/>
    <p:sldId id="272" r:id="rId13"/>
    <p:sldId id="273" r:id="rId14"/>
    <p:sldId id="274" r:id="rId15"/>
    <p:sldId id="261" r:id="rId16"/>
    <p:sldId id="276" r:id="rId17"/>
    <p:sldId id="309" r:id="rId18"/>
    <p:sldId id="264" r:id="rId19"/>
    <p:sldId id="278" r:id="rId20"/>
    <p:sldId id="279" r:id="rId21"/>
    <p:sldId id="299" r:id="rId22"/>
    <p:sldId id="300" r:id="rId23"/>
    <p:sldId id="310" r:id="rId24"/>
    <p:sldId id="311" r:id="rId25"/>
    <p:sldId id="301" r:id="rId26"/>
    <p:sldId id="302" r:id="rId27"/>
    <p:sldId id="303" r:id="rId28"/>
    <p:sldId id="304" r:id="rId29"/>
    <p:sldId id="306" r:id="rId30"/>
    <p:sldId id="307" r:id="rId31"/>
    <p:sldId id="308" r:id="rId32"/>
    <p:sldId id="289" r:id="rId33"/>
    <p:sldId id="292" r:id="rId34"/>
    <p:sldId id="293" r:id="rId35"/>
    <p:sldId id="294" r:id="rId36"/>
    <p:sldId id="295" r:id="rId37"/>
  </p:sldIdLst>
  <p:sldSz cx="18288000" cy="10287000"/>
  <p:notesSz cx="6858000" cy="9144000"/>
  <p:embeddedFontLst>
    <p:embeddedFont>
      <p:font typeface="Canva Sans" panose="020B0604020202020204" charset="0"/>
      <p:regular r:id="rId39"/>
    </p:embeddedFont>
    <p:embeddedFont>
      <p:font typeface="Lalezar" panose="00000500000000000000" pitchFamily="2" charset="-78"/>
      <p:regular r:id="rId40"/>
    </p:embeddedFont>
    <p:embeddedFont>
      <p:font typeface="Poppins Bold" panose="020B0604020202020204" charset="0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5DB"/>
    <a:srgbClr val="FEFAEF"/>
    <a:srgbClr val="F5F5F5"/>
    <a:srgbClr val="FAF1EA"/>
    <a:srgbClr val="F5F4F1"/>
    <a:srgbClr val="B4DAFF"/>
    <a:srgbClr val="F3F3F7"/>
    <a:srgbClr val="ECECE8"/>
    <a:srgbClr val="F7F8F2"/>
    <a:srgbClr val="F2F2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946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EED014-2159-4868-B2CA-83DF361FF418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299DFC-6576-43BB-80C8-FD793E42A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682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03-May-26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2316870" y="454259"/>
            <a:ext cx="5581577" cy="558157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77FD6">
                    <a:alpha val="31000"/>
                  </a:srgbClr>
                </a:gs>
                <a:gs pos="100000">
                  <a:srgbClr val="CBE2FF">
                    <a:alpha val="31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30120" y="585596"/>
            <a:ext cx="5581577" cy="558157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77FD6">
                    <a:alpha val="31000"/>
                  </a:srgbClr>
                </a:gs>
                <a:gs pos="100000">
                  <a:srgbClr val="CBE2FF">
                    <a:alpha val="31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580156" y="-579648"/>
            <a:ext cx="1928382" cy="192838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77FD6">
                    <a:alpha val="31000"/>
                  </a:srgbClr>
                </a:gs>
                <a:gs pos="100000">
                  <a:srgbClr val="CBE2FF">
                    <a:alpha val="31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6425998">
            <a:off x="16639293" y="9087360"/>
            <a:ext cx="1928382" cy="1928382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77FD6">
                    <a:alpha val="31000"/>
                  </a:srgbClr>
                </a:gs>
                <a:gs pos="100000">
                  <a:srgbClr val="CBE2FF">
                    <a:alpha val="31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926980" y="1149316"/>
            <a:ext cx="11413103" cy="26518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32"/>
              </a:lnSpc>
            </a:pPr>
            <a:r>
              <a:rPr lang="ar-EG" sz="8800" b="1" dirty="0">
                <a:solidFill>
                  <a:srgbClr val="4383D1"/>
                </a:solidFill>
                <a:latin typeface="Lalezar" panose="00000500000000000000" pitchFamily="2" charset="-78"/>
                <a:ea typeface="Poppins Bold"/>
                <a:cs typeface="Lalezar" panose="00000500000000000000" pitchFamily="2" charset="-78"/>
                <a:sym typeface="Poppins Bold"/>
              </a:rPr>
              <a:t>برامج التأهيل البدني للإصابات المزمنة </a:t>
            </a:r>
            <a:endParaRPr lang="en-US" sz="8800" b="1" dirty="0">
              <a:solidFill>
                <a:srgbClr val="4383D1"/>
              </a:solidFill>
              <a:latin typeface="Lalezar" panose="00000500000000000000" pitchFamily="2" charset="-78"/>
              <a:ea typeface="Poppins Bold"/>
              <a:cs typeface="Lalezar" panose="00000500000000000000" pitchFamily="2" charset="-78"/>
              <a:sym typeface="Poppins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-1956862" y="4385864"/>
            <a:ext cx="9499988" cy="1258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4841"/>
              </a:lnSpc>
            </a:pPr>
            <a:r>
              <a:rPr lang="ar-EG" sz="4800" b="1" dirty="0">
                <a:latin typeface="Lalezar" panose="00000500000000000000" pitchFamily="2" charset="-78"/>
                <a:ea typeface="Inter Bold"/>
                <a:cs typeface="Lalezar" panose="00000500000000000000" pitchFamily="2" charset="-78"/>
                <a:sym typeface="Inter Bold"/>
              </a:rPr>
              <a:t>تحت إشراف:</a:t>
            </a:r>
            <a:endParaRPr lang="en-US" sz="4800" b="1" dirty="0">
              <a:latin typeface="Lalezar" panose="00000500000000000000" pitchFamily="2" charset="-78"/>
              <a:ea typeface="Inter Bold"/>
              <a:cs typeface="Lalezar" panose="00000500000000000000" pitchFamily="2" charset="-78"/>
              <a:sym typeface="Inter Bold"/>
            </a:endParaRPr>
          </a:p>
          <a:p>
            <a:pPr algn="l">
              <a:lnSpc>
                <a:spcPts val="4841"/>
              </a:lnSpc>
            </a:pPr>
            <a:endParaRPr lang="en-US" sz="4700" b="1" dirty="0">
              <a:solidFill>
                <a:srgbClr val="000000"/>
              </a:solidFill>
              <a:latin typeface="Lalezar" panose="00000500000000000000" pitchFamily="2" charset="-78"/>
              <a:ea typeface="Poppins Bold"/>
              <a:cs typeface="Lalezar" panose="00000500000000000000" pitchFamily="2" charset="-78"/>
              <a:sym typeface="Poppins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4427048" y="7176272"/>
            <a:ext cx="3156526" cy="4520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3132"/>
              </a:lnSpc>
            </a:pPr>
            <a:r>
              <a:rPr lang="ar-EG" sz="4000" b="1" dirty="0">
                <a:solidFill>
                  <a:srgbClr val="000000"/>
                </a:solidFill>
                <a:latin typeface="Lalezar" panose="00000500000000000000" pitchFamily="2" charset="-78"/>
                <a:ea typeface="Poppins Bold"/>
                <a:cs typeface="Lalezar" panose="00000500000000000000" pitchFamily="2" charset="-78"/>
                <a:sym typeface="Poppins Bold"/>
              </a:rPr>
              <a:t>فاطمة فايز حسين</a:t>
            </a:r>
            <a:endParaRPr lang="en-US" sz="4000" b="1" dirty="0">
              <a:solidFill>
                <a:srgbClr val="000000"/>
              </a:solidFill>
              <a:latin typeface="Lalezar" panose="00000500000000000000" pitchFamily="2" charset="-78"/>
              <a:ea typeface="Poppins Bold"/>
              <a:cs typeface="Lalezar" panose="00000500000000000000" pitchFamily="2" charset="-78"/>
              <a:sym typeface="Poppins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398019" y="6549112"/>
            <a:ext cx="2120865" cy="37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520"/>
              </a:lnSpc>
            </a:pPr>
            <a:r>
              <a:rPr lang="ar-EG" sz="3600" dirty="0">
                <a:solidFill>
                  <a:srgbClr val="000000"/>
                </a:solidFill>
                <a:latin typeface="Lalezar" panose="00000500000000000000" pitchFamily="2" charset="-78"/>
                <a:ea typeface="Canva Sans"/>
                <a:cs typeface="Lalezar" panose="00000500000000000000" pitchFamily="2" charset="-78"/>
                <a:sym typeface="Canva Sans"/>
              </a:rPr>
              <a:t>إعداد:</a:t>
            </a:r>
            <a:endParaRPr lang="en-US" sz="3600" dirty="0">
              <a:solidFill>
                <a:srgbClr val="000000"/>
              </a:solidFill>
              <a:latin typeface="Lalezar" panose="00000500000000000000" pitchFamily="2" charset="-78"/>
              <a:ea typeface="Canva Sans"/>
              <a:cs typeface="Lalezar" panose="00000500000000000000" pitchFamily="2" charset="-78"/>
              <a:sym typeface="Canva Sans"/>
            </a:endParaRPr>
          </a:p>
        </p:txBody>
      </p:sp>
      <p:sp>
        <p:nvSpPr>
          <p:cNvPr id="27" name="TextBox 22">
            <a:extLst>
              <a:ext uri="{FF2B5EF4-FFF2-40B4-BE49-F238E27FC236}">
                <a16:creationId xmlns:a16="http://schemas.microsoft.com/office/drawing/2014/main" id="{01F484E2-2FBB-B292-687C-77F9C154EB39}"/>
              </a:ext>
            </a:extLst>
          </p:cNvPr>
          <p:cNvSpPr txBox="1"/>
          <p:nvPr/>
        </p:nvSpPr>
        <p:spPr>
          <a:xfrm>
            <a:off x="536592" y="5333503"/>
            <a:ext cx="9499988" cy="1258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4841"/>
              </a:lnSpc>
            </a:pPr>
            <a:r>
              <a:rPr lang="ar-EG" sz="5400" b="1" dirty="0">
                <a:latin typeface="Lalezar" panose="00000500000000000000" pitchFamily="2" charset="-78"/>
                <a:ea typeface="Inter Bold"/>
                <a:cs typeface="Lalezar" panose="00000500000000000000" pitchFamily="2" charset="-78"/>
                <a:sym typeface="Inter Bold"/>
              </a:rPr>
              <a:t>أ</a:t>
            </a:r>
            <a:r>
              <a:rPr lang="en-US" sz="5400" b="1" dirty="0">
                <a:latin typeface="Lalezar" panose="00000500000000000000" pitchFamily="2" charset="-78"/>
                <a:ea typeface="Inter Bold"/>
                <a:cs typeface="Lalezar" panose="00000500000000000000" pitchFamily="2" charset="-78"/>
                <a:sym typeface="Inter Bold"/>
              </a:rPr>
              <a:t>.</a:t>
            </a:r>
            <a:r>
              <a:rPr lang="ar-EG" sz="5400" b="1" dirty="0">
                <a:latin typeface="Lalezar" panose="00000500000000000000" pitchFamily="2" charset="-78"/>
                <a:ea typeface="Inter Bold"/>
                <a:cs typeface="Lalezar" panose="00000500000000000000" pitchFamily="2" charset="-78"/>
                <a:sym typeface="Inter Bold"/>
              </a:rPr>
              <a:t>د </a:t>
            </a:r>
            <a:r>
              <a:rPr lang="en-US" sz="5400" b="1" dirty="0">
                <a:latin typeface="Lalezar" panose="00000500000000000000" pitchFamily="2" charset="-78"/>
                <a:ea typeface="Inter Bold"/>
                <a:cs typeface="Lalezar" panose="00000500000000000000" pitchFamily="2" charset="-78"/>
                <a:sym typeface="Inter Bold"/>
              </a:rPr>
              <a:t>/</a:t>
            </a:r>
            <a:r>
              <a:rPr lang="ar-EG" sz="5400" b="1" dirty="0">
                <a:latin typeface="Lalezar" panose="00000500000000000000" pitchFamily="2" charset="-78"/>
                <a:ea typeface="Inter Bold"/>
                <a:cs typeface="Lalezar" panose="00000500000000000000" pitchFamily="2" charset="-78"/>
                <a:sym typeface="Inter Bold"/>
              </a:rPr>
              <a:t> أحمد أبو العباس عبد الحميد</a:t>
            </a:r>
            <a:endParaRPr lang="en-US" sz="5400" b="1" dirty="0">
              <a:latin typeface="Lalezar" panose="00000500000000000000" pitchFamily="2" charset="-78"/>
              <a:ea typeface="Inter Bold"/>
              <a:cs typeface="Lalezar" panose="00000500000000000000" pitchFamily="2" charset="-78"/>
              <a:sym typeface="Inter Bold"/>
            </a:endParaRPr>
          </a:p>
          <a:p>
            <a:pPr algn="l">
              <a:lnSpc>
                <a:spcPts val="4841"/>
              </a:lnSpc>
            </a:pPr>
            <a:endParaRPr lang="en-US" sz="4700" b="1" dirty="0">
              <a:solidFill>
                <a:srgbClr val="000000"/>
              </a:solidFill>
              <a:latin typeface="Lalezar" panose="00000500000000000000" pitchFamily="2" charset="-78"/>
              <a:ea typeface="Poppins Bold"/>
              <a:cs typeface="Lalezar" panose="00000500000000000000" pitchFamily="2" charset="-78"/>
              <a:sym typeface="Poppins Bold"/>
            </a:endParaRPr>
          </a:p>
        </p:txBody>
      </p:sp>
      <p:sp>
        <p:nvSpPr>
          <p:cNvPr id="28" name="TextBox 24">
            <a:extLst>
              <a:ext uri="{FF2B5EF4-FFF2-40B4-BE49-F238E27FC236}">
                <a16:creationId xmlns:a16="http://schemas.microsoft.com/office/drawing/2014/main" id="{21CE619C-A8AD-AFA5-32F0-FCA41509DF31}"/>
              </a:ext>
            </a:extLst>
          </p:cNvPr>
          <p:cNvSpPr txBox="1"/>
          <p:nvPr/>
        </p:nvSpPr>
        <p:spPr>
          <a:xfrm>
            <a:off x="4079645" y="7833273"/>
            <a:ext cx="4139678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/>
            <a:r>
              <a:rPr lang="ar-EG" sz="3200" b="1" dirty="0">
                <a:solidFill>
                  <a:srgbClr val="000000"/>
                </a:solidFill>
                <a:latin typeface="Lalezar" panose="00000500000000000000" pitchFamily="2" charset="-78"/>
                <a:ea typeface="Poppins Bold"/>
                <a:cs typeface="Lalezar" panose="00000500000000000000" pitchFamily="2" charset="-78"/>
                <a:sym typeface="Poppins Bold"/>
              </a:rPr>
              <a:t>الفرقة الثانية ماجستير </a:t>
            </a:r>
          </a:p>
          <a:p>
            <a:pPr algn="ctr" rtl="1"/>
            <a:r>
              <a:rPr lang="ar-EG" sz="3200" b="1" dirty="0">
                <a:solidFill>
                  <a:srgbClr val="000000"/>
                </a:solidFill>
                <a:latin typeface="Lalezar" panose="00000500000000000000" pitchFamily="2" charset="-78"/>
                <a:ea typeface="Poppins Bold"/>
                <a:cs typeface="Lalezar" panose="00000500000000000000" pitchFamily="2" charset="-78"/>
                <a:sym typeface="Poppins Bold"/>
              </a:rPr>
              <a:t>2026</a:t>
            </a:r>
            <a:endParaRPr lang="en-US" sz="3200" b="1" dirty="0">
              <a:solidFill>
                <a:srgbClr val="000000"/>
              </a:solidFill>
              <a:latin typeface="Lalezar" panose="00000500000000000000" pitchFamily="2" charset="-78"/>
              <a:ea typeface="Poppins Bold"/>
              <a:cs typeface="Lalezar" panose="00000500000000000000" pitchFamily="2" charset="-78"/>
              <a:sym typeface="Poppins Bold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8B20953-5667-F676-2CFC-E8ADD1F0B0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05"/>
          <a:stretch>
            <a:fillRect/>
          </a:stretch>
        </p:blipFill>
        <p:spPr>
          <a:xfrm flipH="1">
            <a:off x="12080750" y="453181"/>
            <a:ext cx="5925987" cy="8684503"/>
          </a:xfrm>
          <a:prstGeom prst="flowChartConnector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8215280-1F3B-CAE8-0E40-0D56BD3465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8100"/>
            <a:ext cx="18288000" cy="102957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629A0C-CDC7-F190-0CE2-9CBE383A83BB}"/>
              </a:ext>
            </a:extLst>
          </p:cNvPr>
          <p:cNvSpPr txBox="1"/>
          <p:nvPr/>
        </p:nvSpPr>
        <p:spPr>
          <a:xfrm>
            <a:off x="2514600" y="2705100"/>
            <a:ext cx="75438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5400" dirty="0">
                <a:latin typeface="Lalezar" panose="00000500000000000000" pitchFamily="2" charset="-78"/>
                <a:cs typeface="Lalezar" panose="00000500000000000000" pitchFamily="2" charset="-78"/>
              </a:rPr>
              <a:t>لأن الخبرة تصنع الفارق، كان الإشراف حجر الأساس في هذه الرحلة...</a:t>
            </a:r>
          </a:p>
          <a:p>
            <a:pPr algn="ctr" rtl="1"/>
            <a:r>
              <a:rPr lang="ar-EG" sz="5400" dirty="0">
                <a:latin typeface="Lalezar" panose="00000500000000000000" pitchFamily="2" charset="-78"/>
                <a:cs typeface="Lalezar" panose="00000500000000000000" pitchFamily="2" charset="-78"/>
              </a:rPr>
              <a:t> فكل الشكر لمن صنع الفرق، شكراً لدكتورنا الكريم دكتور أحمد</a:t>
            </a:r>
            <a:r>
              <a:rPr lang="en-US" sz="5400" dirty="0">
                <a:latin typeface="Lalezar" panose="00000500000000000000" pitchFamily="2" charset="-78"/>
                <a:cs typeface="Lalezar" panose="00000500000000000000" pitchFamily="2" charset="-78"/>
              </a:rPr>
              <a:t>  </a:t>
            </a:r>
            <a:r>
              <a:rPr lang="en-US" sz="5400" dirty="0"/>
              <a:t>♡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2BD858-22F3-7072-0F4D-5614A4727C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86" t="6890" r="7801" b="5802"/>
          <a:stretch>
            <a:fillRect/>
          </a:stretch>
        </p:blipFill>
        <p:spPr>
          <a:xfrm>
            <a:off x="10896600" y="1734980"/>
            <a:ext cx="6553200" cy="7018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275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B0929A-B083-8A9C-F135-4CB4E8DC5D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-952500"/>
            <a:ext cx="13716000" cy="13716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0099A0-8517-95AB-D704-3E8CDD761ED8}"/>
              </a:ext>
            </a:extLst>
          </p:cNvPr>
          <p:cNvSpPr txBox="1"/>
          <p:nvPr/>
        </p:nvSpPr>
        <p:spPr>
          <a:xfrm>
            <a:off x="4800600" y="4381500"/>
            <a:ext cx="9372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8000" b="1" dirty="0">
                <a:latin typeface="Lalezar" panose="00000500000000000000" pitchFamily="2" charset="-78"/>
                <a:cs typeface="+mj-cs"/>
              </a:rPr>
              <a:t>ليست كل الإصابات تُرى بالأشعة بعضها يقاس بكم الحياة التي فقدناها بعدها</a:t>
            </a:r>
            <a:endParaRPr lang="en-US" sz="8000" b="1" dirty="0">
              <a:latin typeface="Lalezar" panose="00000500000000000000" pitchFamily="2" charset="-7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51974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6A8C21-E360-2C1D-566B-20B98BD18F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137"/>
          <a:stretch>
            <a:fillRect/>
          </a:stretch>
        </p:blipFill>
        <p:spPr>
          <a:xfrm flipH="1">
            <a:off x="8458200" y="27552"/>
            <a:ext cx="9829800" cy="10259448"/>
          </a:xfrm>
          <a:prstGeom prst="rect">
            <a:avLst/>
          </a:prstGeom>
        </p:spPr>
      </p:pic>
      <p:sp>
        <p:nvSpPr>
          <p:cNvPr id="4" name="TextBox 20">
            <a:extLst>
              <a:ext uri="{FF2B5EF4-FFF2-40B4-BE49-F238E27FC236}">
                <a16:creationId xmlns:a16="http://schemas.microsoft.com/office/drawing/2014/main" id="{8F2CA2E9-F976-8DF4-DF64-1BC4722369B4}"/>
              </a:ext>
            </a:extLst>
          </p:cNvPr>
          <p:cNvSpPr txBox="1"/>
          <p:nvPr/>
        </p:nvSpPr>
        <p:spPr>
          <a:xfrm>
            <a:off x="11582400" y="3086100"/>
            <a:ext cx="6418268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6383"/>
              </a:lnSpc>
            </a:pPr>
            <a:r>
              <a:rPr lang="ar-EG" sz="8000" b="1" dirty="0">
                <a:latin typeface="Lalezar" panose="00000500000000000000" pitchFamily="2" charset="-78"/>
                <a:ea typeface="Poppins Bold"/>
                <a:cs typeface="+mj-cs"/>
                <a:sym typeface="Poppins Bold"/>
              </a:rPr>
              <a:t>المقدمة</a:t>
            </a:r>
            <a:endParaRPr lang="en-US" sz="8000" b="1" dirty="0">
              <a:latin typeface="Lalezar" panose="00000500000000000000" pitchFamily="2" charset="-78"/>
              <a:ea typeface="Poppins Bold"/>
              <a:cs typeface="+mj-cs"/>
              <a:sym typeface="Poppins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97B66A-DA89-AF08-4B25-124CC0851C5D}"/>
              </a:ext>
            </a:extLst>
          </p:cNvPr>
          <p:cNvSpPr txBox="1"/>
          <p:nvPr/>
        </p:nvSpPr>
        <p:spPr>
          <a:xfrm>
            <a:off x="6781800" y="4569411"/>
            <a:ext cx="11353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ar-EG" sz="7200" b="1" dirty="0">
                <a:latin typeface="Lalezar" panose="00000500000000000000" pitchFamily="2" charset="-78"/>
                <a:cs typeface="+mj-cs"/>
              </a:rPr>
              <a:t>الإصابة المزمنة لا تبدأ فجأة لكنها نتيجة تجاهل بسيط يتراكم حتى يصبح مشكلة كبيرة.</a:t>
            </a:r>
            <a:endParaRPr lang="en-US" sz="7200" b="1" dirty="0">
              <a:latin typeface="Lalezar" panose="00000500000000000000" pitchFamily="2" charset="-78"/>
              <a:cs typeface="+mj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172159-4E17-EE1C-0AC3-78AE1BFFF0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60" r="33417"/>
          <a:stretch>
            <a:fillRect/>
          </a:stretch>
        </p:blipFill>
        <p:spPr>
          <a:xfrm>
            <a:off x="1447800" y="-1409700"/>
            <a:ext cx="4724400" cy="1518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349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886EF43D-F63A-836B-7E30-C7C54F858E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39" y="3312297"/>
            <a:ext cx="11097065" cy="6974703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8423578">
            <a:off x="16835712" y="6078272"/>
            <a:ext cx="5581577" cy="558157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77FD6">
                    <a:alpha val="31000"/>
                  </a:srgbClr>
                </a:gs>
                <a:gs pos="100000">
                  <a:srgbClr val="CBE2FF">
                    <a:alpha val="31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8423578">
            <a:off x="14930713" y="7849858"/>
            <a:ext cx="5581577" cy="558157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77FD6">
                    <a:alpha val="31000"/>
                  </a:srgbClr>
                </a:gs>
                <a:gs pos="100000">
                  <a:srgbClr val="CBE2FF">
                    <a:alpha val="31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928952" y="-592112"/>
            <a:ext cx="15254552" cy="1928382"/>
            <a:chOff x="-5715337" y="-14288"/>
            <a:chExt cx="6451937" cy="812800"/>
          </a:xfrm>
        </p:grpSpPr>
        <p:sp>
          <p:nvSpPr>
            <p:cNvPr id="12" name="Freeform 12"/>
            <p:cNvSpPr/>
            <p:nvPr/>
          </p:nvSpPr>
          <p:spPr>
            <a:xfrm>
              <a:off x="-5715337" y="-14288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77FD6">
                    <a:alpha val="31000"/>
                  </a:srgbClr>
                </a:gs>
                <a:gs pos="100000">
                  <a:srgbClr val="CBE2FF">
                    <a:alpha val="31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401362" y="1149458"/>
            <a:ext cx="7461884" cy="888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6383"/>
              </a:lnSpc>
            </a:pPr>
            <a:r>
              <a:rPr lang="ar-EG" sz="8000" b="1" dirty="0">
                <a:solidFill>
                  <a:srgbClr val="4383D1"/>
                </a:solidFill>
                <a:latin typeface="Poppins Bold"/>
                <a:ea typeface="Poppins Bold"/>
                <a:cs typeface="+mj-cs"/>
                <a:sym typeface="Poppins Bold"/>
              </a:rPr>
              <a:t>الطب الرياضي</a:t>
            </a:r>
            <a:endParaRPr lang="en-US" sz="8000" b="1" dirty="0">
              <a:solidFill>
                <a:srgbClr val="4383D1"/>
              </a:solidFill>
              <a:latin typeface="Poppins Bold"/>
              <a:ea typeface="Poppins Bold"/>
              <a:cs typeface="+mj-cs"/>
              <a:sym typeface="Poppins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681789" y="2895151"/>
            <a:ext cx="7826372" cy="300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089338" y="2106913"/>
            <a:ext cx="10898229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rtl="1"/>
            <a:r>
              <a:rPr lang="ar-EG" sz="7200" b="1" dirty="0">
                <a:solidFill>
                  <a:srgbClr val="000000"/>
                </a:solidFill>
                <a:latin typeface="Poppins Bold"/>
                <a:ea typeface="Poppins Bold"/>
                <a:cs typeface="+mj-cs"/>
                <a:sym typeface="Poppins Bold"/>
              </a:rPr>
              <a:t>الطب الرياضي علم حديث يبحث في علاج التطورات والتغيرات الوظيفية والتشريحية المرضية المختلفة في الجسم كنتيجة لنشاطه الحركي في الظروف المختلفة</a:t>
            </a:r>
            <a:endParaRPr lang="en-US" sz="7200" b="1" dirty="0">
              <a:solidFill>
                <a:srgbClr val="000000"/>
              </a:solidFill>
              <a:latin typeface="Poppins Bold"/>
              <a:ea typeface="Poppins Bold"/>
              <a:cs typeface="+mj-cs"/>
              <a:sym typeface="Poppins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2289439C-A6D1-4784-A597-800CA08C90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64"/>
          <a:stretch>
            <a:fillRect/>
          </a:stretch>
        </p:blipFill>
        <p:spPr>
          <a:xfrm>
            <a:off x="246659" y="587067"/>
            <a:ext cx="6667500" cy="9447224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1399193" y="7486448"/>
            <a:ext cx="5581577" cy="558157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77FD6">
                    <a:alpha val="8000"/>
                  </a:srgbClr>
                </a:gs>
                <a:gs pos="100000">
                  <a:srgbClr val="CBE2FF">
                    <a:alpha val="8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046008" y="3726804"/>
            <a:ext cx="9417305" cy="4875546"/>
            <a:chOff x="0" y="0"/>
            <a:chExt cx="1937717" cy="100319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37717" cy="1003199"/>
            </a:xfrm>
            <a:custGeom>
              <a:avLst/>
              <a:gdLst/>
              <a:ahLst/>
              <a:cxnLst/>
              <a:rect l="l" t="t" r="r" b="b"/>
              <a:pathLst>
                <a:path w="1937717" h="1003199">
                  <a:moveTo>
                    <a:pt x="16057" y="0"/>
                  </a:moveTo>
                  <a:lnTo>
                    <a:pt x="1921661" y="0"/>
                  </a:lnTo>
                  <a:cubicBezTo>
                    <a:pt x="1925919" y="0"/>
                    <a:pt x="1930003" y="1692"/>
                    <a:pt x="1933014" y="4703"/>
                  </a:cubicBezTo>
                  <a:cubicBezTo>
                    <a:pt x="1936025" y="7714"/>
                    <a:pt x="1937717" y="11798"/>
                    <a:pt x="1937717" y="16057"/>
                  </a:cubicBezTo>
                  <a:lnTo>
                    <a:pt x="1937717" y="987142"/>
                  </a:lnTo>
                  <a:cubicBezTo>
                    <a:pt x="1937717" y="991401"/>
                    <a:pt x="1936025" y="995485"/>
                    <a:pt x="1933014" y="998496"/>
                  </a:cubicBezTo>
                  <a:cubicBezTo>
                    <a:pt x="1930003" y="1001507"/>
                    <a:pt x="1925919" y="1003199"/>
                    <a:pt x="1921661" y="1003199"/>
                  </a:cubicBezTo>
                  <a:lnTo>
                    <a:pt x="16057" y="1003199"/>
                  </a:lnTo>
                  <a:cubicBezTo>
                    <a:pt x="11798" y="1003199"/>
                    <a:pt x="7714" y="1001507"/>
                    <a:pt x="4703" y="998496"/>
                  </a:cubicBezTo>
                  <a:cubicBezTo>
                    <a:pt x="1692" y="995485"/>
                    <a:pt x="0" y="991401"/>
                    <a:pt x="0" y="987142"/>
                  </a:cubicBezTo>
                  <a:lnTo>
                    <a:pt x="0" y="16057"/>
                  </a:lnTo>
                  <a:cubicBezTo>
                    <a:pt x="0" y="11798"/>
                    <a:pt x="1692" y="7714"/>
                    <a:pt x="4703" y="4703"/>
                  </a:cubicBezTo>
                  <a:cubicBezTo>
                    <a:pt x="7714" y="1692"/>
                    <a:pt x="11798" y="0"/>
                    <a:pt x="16057" y="0"/>
                  </a:cubicBezTo>
                  <a:close/>
                </a:path>
              </a:pathLst>
            </a:custGeom>
            <a:solidFill>
              <a:srgbClr val="4E6C7E"/>
            </a:solidFill>
            <a:ln w="19050" cap="rnd">
              <a:solidFill>
                <a:srgbClr val="4383D1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1937717" cy="10317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841995" y="3436913"/>
            <a:ext cx="9417305" cy="4875546"/>
            <a:chOff x="0" y="0"/>
            <a:chExt cx="1937717" cy="100319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37717" cy="1003199"/>
            </a:xfrm>
            <a:custGeom>
              <a:avLst/>
              <a:gdLst/>
              <a:ahLst/>
              <a:cxnLst/>
              <a:rect l="l" t="t" r="r" b="b"/>
              <a:pathLst>
                <a:path w="1937717" h="1003199">
                  <a:moveTo>
                    <a:pt x="16057" y="0"/>
                  </a:moveTo>
                  <a:lnTo>
                    <a:pt x="1921661" y="0"/>
                  </a:lnTo>
                  <a:cubicBezTo>
                    <a:pt x="1925919" y="0"/>
                    <a:pt x="1930003" y="1692"/>
                    <a:pt x="1933014" y="4703"/>
                  </a:cubicBezTo>
                  <a:cubicBezTo>
                    <a:pt x="1936025" y="7714"/>
                    <a:pt x="1937717" y="11798"/>
                    <a:pt x="1937717" y="16057"/>
                  </a:cubicBezTo>
                  <a:lnTo>
                    <a:pt x="1937717" y="987142"/>
                  </a:lnTo>
                  <a:cubicBezTo>
                    <a:pt x="1937717" y="991401"/>
                    <a:pt x="1936025" y="995485"/>
                    <a:pt x="1933014" y="998496"/>
                  </a:cubicBezTo>
                  <a:cubicBezTo>
                    <a:pt x="1930003" y="1001507"/>
                    <a:pt x="1925919" y="1003199"/>
                    <a:pt x="1921661" y="1003199"/>
                  </a:cubicBezTo>
                  <a:lnTo>
                    <a:pt x="16057" y="1003199"/>
                  </a:lnTo>
                  <a:cubicBezTo>
                    <a:pt x="11798" y="1003199"/>
                    <a:pt x="7714" y="1001507"/>
                    <a:pt x="4703" y="998496"/>
                  </a:cubicBezTo>
                  <a:cubicBezTo>
                    <a:pt x="1692" y="995485"/>
                    <a:pt x="0" y="991401"/>
                    <a:pt x="0" y="987142"/>
                  </a:cubicBezTo>
                  <a:lnTo>
                    <a:pt x="0" y="16057"/>
                  </a:lnTo>
                  <a:cubicBezTo>
                    <a:pt x="0" y="11798"/>
                    <a:pt x="1692" y="7714"/>
                    <a:pt x="4703" y="4703"/>
                  </a:cubicBezTo>
                  <a:cubicBezTo>
                    <a:pt x="7714" y="1692"/>
                    <a:pt x="11798" y="0"/>
                    <a:pt x="1605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4383D1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1937717" cy="10317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flipH="1">
            <a:off x="16723834" y="5120640"/>
            <a:ext cx="393928" cy="393928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57562"/>
              <a:ext cx="772097" cy="697677"/>
            </a:xfrm>
            <a:custGeom>
              <a:avLst/>
              <a:gdLst/>
              <a:ahLst/>
              <a:cxnLst/>
              <a:rect l="l" t="t" r="r" b="b"/>
              <a:pathLst>
                <a:path w="772097" h="697677">
                  <a:moveTo>
                    <a:pt x="743316" y="279354"/>
                  </a:moveTo>
                  <a:lnTo>
                    <a:pt x="475884" y="11922"/>
                  </a:lnTo>
                  <a:cubicBezTo>
                    <a:pt x="464243" y="281"/>
                    <a:pt x="446736" y="-3201"/>
                    <a:pt x="431527" y="3099"/>
                  </a:cubicBezTo>
                  <a:cubicBezTo>
                    <a:pt x="416317" y="9399"/>
                    <a:pt x="406400" y="24241"/>
                    <a:pt x="406400" y="40704"/>
                  </a:cubicBezTo>
                  <a:lnTo>
                    <a:pt x="406400" y="47372"/>
                  </a:lnTo>
                  <a:cubicBezTo>
                    <a:pt x="406400" y="101643"/>
                    <a:pt x="362405" y="145638"/>
                    <a:pt x="308134" y="145638"/>
                  </a:cubicBezTo>
                  <a:lnTo>
                    <a:pt x="98266" y="145638"/>
                  </a:lnTo>
                  <a:cubicBezTo>
                    <a:pt x="43995" y="145638"/>
                    <a:pt x="0" y="189633"/>
                    <a:pt x="0" y="243904"/>
                  </a:cubicBezTo>
                  <a:lnTo>
                    <a:pt x="0" y="453772"/>
                  </a:lnTo>
                  <a:cubicBezTo>
                    <a:pt x="0" y="508043"/>
                    <a:pt x="43995" y="552038"/>
                    <a:pt x="98266" y="552038"/>
                  </a:cubicBezTo>
                  <a:lnTo>
                    <a:pt x="308134" y="552038"/>
                  </a:lnTo>
                  <a:cubicBezTo>
                    <a:pt x="362405" y="552038"/>
                    <a:pt x="406400" y="596033"/>
                    <a:pt x="406400" y="650304"/>
                  </a:cubicBezTo>
                  <a:lnTo>
                    <a:pt x="406400" y="656972"/>
                  </a:lnTo>
                  <a:cubicBezTo>
                    <a:pt x="406400" y="673435"/>
                    <a:pt x="416317" y="688277"/>
                    <a:pt x="431527" y="694577"/>
                  </a:cubicBezTo>
                  <a:cubicBezTo>
                    <a:pt x="446736" y="700877"/>
                    <a:pt x="464243" y="697395"/>
                    <a:pt x="475884" y="685754"/>
                  </a:cubicBezTo>
                  <a:lnTo>
                    <a:pt x="743316" y="418322"/>
                  </a:lnTo>
                  <a:cubicBezTo>
                    <a:pt x="781691" y="379947"/>
                    <a:pt x="781691" y="317729"/>
                    <a:pt x="743316" y="279354"/>
                  </a:cubicBezTo>
                  <a:close/>
                </a:path>
              </a:pathLst>
            </a:custGeom>
            <a:solidFill>
              <a:srgbClr val="4E6C7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140019" y="812911"/>
            <a:ext cx="8323294" cy="1699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83"/>
              </a:lnSpc>
            </a:pPr>
            <a:r>
              <a:rPr lang="ar-EG" sz="7599" b="1" dirty="0">
                <a:solidFill>
                  <a:srgbClr val="4383D1"/>
                </a:solidFill>
                <a:latin typeface="Poppins Bold"/>
                <a:ea typeface="Poppins Bold"/>
                <a:cs typeface="+mj-cs"/>
                <a:sym typeface="Poppins Bold"/>
              </a:rPr>
              <a:t>العلاقة بين الطب الرياضي وإصابات الرياضيين</a:t>
            </a:r>
            <a:endParaRPr lang="en-US" sz="7599" b="1" dirty="0">
              <a:solidFill>
                <a:srgbClr val="4383D1"/>
              </a:solidFill>
              <a:latin typeface="Poppins Bold"/>
              <a:ea typeface="Poppins Bold"/>
              <a:cs typeface="+mj-cs"/>
              <a:sym typeface="Poppins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116513" y="3953782"/>
            <a:ext cx="6868267" cy="411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32"/>
              </a:lnSpc>
            </a:pPr>
            <a:r>
              <a:rPr lang="ar-EG" sz="3200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العلاقة بين الطب الرياضي وإصابات الرياضيين</a:t>
            </a:r>
            <a:endParaRPr lang="en-US" sz="2900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637982" y="5108247"/>
            <a:ext cx="8678956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ar-EG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علاقة تكاملية؛ حيث يهتم الطب الرياضي بالوقاية من الإصابات وتشخيصها وعلاجها بطرق علمية دقيقة.</a:t>
            </a: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9576387" y="2762377"/>
            <a:ext cx="745055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25" name="Group 25"/>
          <p:cNvGrpSpPr/>
          <p:nvPr/>
        </p:nvGrpSpPr>
        <p:grpSpPr>
          <a:xfrm>
            <a:off x="16803283" y="-1088609"/>
            <a:ext cx="1928382" cy="1928382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77FD6">
                    <a:alpha val="31000"/>
                  </a:srgbClr>
                </a:gs>
                <a:gs pos="100000">
                  <a:srgbClr val="CBE2FF">
                    <a:alpha val="31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8366205" y="839773"/>
            <a:ext cx="393381" cy="393381"/>
          </a:xfrm>
          <a:custGeom>
            <a:avLst/>
            <a:gdLst/>
            <a:ahLst/>
            <a:cxnLst/>
            <a:rect l="l" t="t" r="r" b="b"/>
            <a:pathLst>
              <a:path w="393381" h="393381">
                <a:moveTo>
                  <a:pt x="0" y="0"/>
                </a:moveTo>
                <a:lnTo>
                  <a:pt x="393381" y="0"/>
                </a:lnTo>
                <a:lnTo>
                  <a:pt x="393381" y="393381"/>
                </a:lnTo>
                <a:lnTo>
                  <a:pt x="0" y="3933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9" name="Group 29"/>
          <p:cNvGrpSpPr/>
          <p:nvPr/>
        </p:nvGrpSpPr>
        <p:grpSpPr>
          <a:xfrm>
            <a:off x="3178009" y="8140326"/>
            <a:ext cx="5581577" cy="5581577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77FD6">
                    <a:alpha val="8000"/>
                  </a:srgbClr>
                </a:gs>
                <a:gs pos="100000">
                  <a:srgbClr val="CBE2FF">
                    <a:alpha val="8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2" name="Group 13">
            <a:extLst>
              <a:ext uri="{FF2B5EF4-FFF2-40B4-BE49-F238E27FC236}">
                <a16:creationId xmlns:a16="http://schemas.microsoft.com/office/drawing/2014/main" id="{AAE00212-FD27-9BB6-C884-0C5241526C3F}"/>
              </a:ext>
            </a:extLst>
          </p:cNvPr>
          <p:cNvGrpSpPr/>
          <p:nvPr/>
        </p:nvGrpSpPr>
        <p:grpSpPr>
          <a:xfrm flipH="1">
            <a:off x="16741768" y="6396987"/>
            <a:ext cx="393928" cy="393928"/>
            <a:chOff x="0" y="0"/>
            <a:chExt cx="812800" cy="812800"/>
          </a:xfrm>
        </p:grpSpPr>
        <p:sp>
          <p:nvSpPr>
            <p:cNvPr id="33" name="Freeform 14">
              <a:extLst>
                <a:ext uri="{FF2B5EF4-FFF2-40B4-BE49-F238E27FC236}">
                  <a16:creationId xmlns:a16="http://schemas.microsoft.com/office/drawing/2014/main" id="{BEF42CC7-E4DD-A5AE-51CF-6B6E86E10736}"/>
                </a:ext>
              </a:extLst>
            </p:cNvPr>
            <p:cNvSpPr/>
            <p:nvPr/>
          </p:nvSpPr>
          <p:spPr>
            <a:xfrm>
              <a:off x="0" y="57562"/>
              <a:ext cx="772097" cy="697677"/>
            </a:xfrm>
            <a:custGeom>
              <a:avLst/>
              <a:gdLst/>
              <a:ahLst/>
              <a:cxnLst/>
              <a:rect l="l" t="t" r="r" b="b"/>
              <a:pathLst>
                <a:path w="772097" h="697677">
                  <a:moveTo>
                    <a:pt x="743316" y="279354"/>
                  </a:moveTo>
                  <a:lnTo>
                    <a:pt x="475884" y="11922"/>
                  </a:lnTo>
                  <a:cubicBezTo>
                    <a:pt x="464243" y="281"/>
                    <a:pt x="446736" y="-3201"/>
                    <a:pt x="431527" y="3099"/>
                  </a:cubicBezTo>
                  <a:cubicBezTo>
                    <a:pt x="416317" y="9399"/>
                    <a:pt x="406400" y="24241"/>
                    <a:pt x="406400" y="40704"/>
                  </a:cubicBezTo>
                  <a:lnTo>
                    <a:pt x="406400" y="47372"/>
                  </a:lnTo>
                  <a:cubicBezTo>
                    <a:pt x="406400" y="101643"/>
                    <a:pt x="362405" y="145638"/>
                    <a:pt x="308134" y="145638"/>
                  </a:cubicBezTo>
                  <a:lnTo>
                    <a:pt x="98266" y="145638"/>
                  </a:lnTo>
                  <a:cubicBezTo>
                    <a:pt x="43995" y="145638"/>
                    <a:pt x="0" y="189633"/>
                    <a:pt x="0" y="243904"/>
                  </a:cubicBezTo>
                  <a:lnTo>
                    <a:pt x="0" y="453772"/>
                  </a:lnTo>
                  <a:cubicBezTo>
                    <a:pt x="0" y="508043"/>
                    <a:pt x="43995" y="552038"/>
                    <a:pt x="98266" y="552038"/>
                  </a:cubicBezTo>
                  <a:lnTo>
                    <a:pt x="308134" y="552038"/>
                  </a:lnTo>
                  <a:cubicBezTo>
                    <a:pt x="362405" y="552038"/>
                    <a:pt x="406400" y="596033"/>
                    <a:pt x="406400" y="650304"/>
                  </a:cubicBezTo>
                  <a:lnTo>
                    <a:pt x="406400" y="656972"/>
                  </a:lnTo>
                  <a:cubicBezTo>
                    <a:pt x="406400" y="673435"/>
                    <a:pt x="416317" y="688277"/>
                    <a:pt x="431527" y="694577"/>
                  </a:cubicBezTo>
                  <a:cubicBezTo>
                    <a:pt x="446736" y="700877"/>
                    <a:pt x="464243" y="697395"/>
                    <a:pt x="475884" y="685754"/>
                  </a:cubicBezTo>
                  <a:lnTo>
                    <a:pt x="743316" y="418322"/>
                  </a:lnTo>
                  <a:cubicBezTo>
                    <a:pt x="781691" y="379947"/>
                    <a:pt x="781691" y="317729"/>
                    <a:pt x="743316" y="279354"/>
                  </a:cubicBezTo>
                  <a:close/>
                </a:path>
              </a:pathLst>
            </a:custGeom>
            <a:solidFill>
              <a:srgbClr val="4E6C7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15">
              <a:extLst>
                <a:ext uri="{FF2B5EF4-FFF2-40B4-BE49-F238E27FC236}">
                  <a16:creationId xmlns:a16="http://schemas.microsoft.com/office/drawing/2014/main" id="{57B252F2-D30F-EDB7-732F-4E03B7AA5FCE}"/>
                </a:ext>
              </a:extLst>
            </p:cNvPr>
            <p:cNvSpPr txBox="1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35" name="TextBox 19">
            <a:extLst>
              <a:ext uri="{FF2B5EF4-FFF2-40B4-BE49-F238E27FC236}">
                <a16:creationId xmlns:a16="http://schemas.microsoft.com/office/drawing/2014/main" id="{70D7FF6C-C9C0-F9E9-AFB8-B12D41BDD188}"/>
              </a:ext>
            </a:extLst>
          </p:cNvPr>
          <p:cNvSpPr txBox="1"/>
          <p:nvPr/>
        </p:nvSpPr>
        <p:spPr>
          <a:xfrm>
            <a:off x="7841995" y="6396987"/>
            <a:ext cx="8577752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ar-EG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كما يشمل تأهيل الرياضيين بعد الإصابة وإعادتهم للملاعب بأمان مع تقليل فرص تكرار الإصابة.</a:t>
            </a: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-926832" y="824378"/>
            <a:ext cx="5581577" cy="558157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77FD6">
                    <a:alpha val="31000"/>
                  </a:srgbClr>
                </a:gs>
                <a:gs pos="100000">
                  <a:srgbClr val="CBE2FF">
                    <a:alpha val="31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78374" y="343445"/>
            <a:ext cx="5581577" cy="558157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77FD6">
                    <a:alpha val="31000"/>
                  </a:srgbClr>
                </a:gs>
                <a:gs pos="100000">
                  <a:srgbClr val="CBE2FF">
                    <a:alpha val="31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053682" y="-1062092"/>
            <a:ext cx="1928382" cy="192838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77FD6">
                    <a:alpha val="31000"/>
                  </a:srgbClr>
                </a:gs>
                <a:gs pos="100000">
                  <a:srgbClr val="CBE2FF">
                    <a:alpha val="31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5467037" y="7052667"/>
            <a:ext cx="3870219" cy="3870219"/>
          </a:xfrm>
          <a:custGeom>
            <a:avLst/>
            <a:gdLst/>
            <a:ahLst/>
            <a:cxnLst/>
            <a:rect l="l" t="t" r="r" b="b"/>
            <a:pathLst>
              <a:path w="3870219" h="3870219">
                <a:moveTo>
                  <a:pt x="0" y="0"/>
                </a:moveTo>
                <a:lnTo>
                  <a:pt x="3870219" y="0"/>
                </a:lnTo>
                <a:lnTo>
                  <a:pt x="3870219" y="3870219"/>
                </a:lnTo>
                <a:lnTo>
                  <a:pt x="0" y="38702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 rot="6425998">
            <a:off x="2639012" y="9328925"/>
            <a:ext cx="1928382" cy="1928382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77FD6">
                    <a:alpha val="31000"/>
                  </a:srgbClr>
                </a:gs>
                <a:gs pos="100000">
                  <a:srgbClr val="CBE2FF">
                    <a:alpha val="31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372835" y="1982293"/>
            <a:ext cx="9957469" cy="984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7371"/>
              </a:lnSpc>
            </a:pPr>
            <a:r>
              <a:rPr lang="ar-EG" sz="7599" b="1" dirty="0">
                <a:solidFill>
                  <a:srgbClr val="4383D1"/>
                </a:solidFill>
                <a:latin typeface="Poppins Bold"/>
                <a:ea typeface="Poppins Bold"/>
                <a:cs typeface="+mj-cs"/>
                <a:sym typeface="Poppins Bold"/>
              </a:rPr>
              <a:t>الإصابة المزمنة </a:t>
            </a:r>
            <a:endParaRPr lang="en-US" sz="7599" b="1" dirty="0">
              <a:solidFill>
                <a:srgbClr val="4383D1"/>
              </a:solidFill>
              <a:latin typeface="Poppins Bold"/>
              <a:ea typeface="Poppins Bold"/>
              <a:cs typeface="+mj-cs"/>
              <a:sym typeface="Poppins Bold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7941633" y="3406278"/>
            <a:ext cx="9621318" cy="3871270"/>
            <a:chOff x="0" y="0"/>
            <a:chExt cx="12828425" cy="5161694"/>
          </a:xfrm>
        </p:grpSpPr>
        <p:grpSp>
          <p:nvGrpSpPr>
            <p:cNvPr id="22" name="Group 22"/>
            <p:cNvGrpSpPr/>
            <p:nvPr/>
          </p:nvGrpSpPr>
          <p:grpSpPr>
            <a:xfrm>
              <a:off x="272017" y="289682"/>
              <a:ext cx="12556407" cy="4872012"/>
              <a:chOff x="0" y="0"/>
              <a:chExt cx="1937717" cy="75185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937717" cy="751854"/>
              </a:xfrm>
              <a:custGeom>
                <a:avLst/>
                <a:gdLst/>
                <a:ahLst/>
                <a:cxnLst/>
                <a:rect l="l" t="t" r="r" b="b"/>
                <a:pathLst>
                  <a:path w="1937717" h="751854">
                    <a:moveTo>
                      <a:pt x="16057" y="0"/>
                    </a:moveTo>
                    <a:lnTo>
                      <a:pt x="1921661" y="0"/>
                    </a:lnTo>
                    <a:cubicBezTo>
                      <a:pt x="1925919" y="0"/>
                      <a:pt x="1930003" y="1692"/>
                      <a:pt x="1933014" y="4703"/>
                    </a:cubicBezTo>
                    <a:cubicBezTo>
                      <a:pt x="1936025" y="7714"/>
                      <a:pt x="1937717" y="11798"/>
                      <a:pt x="1937717" y="16057"/>
                    </a:cubicBezTo>
                    <a:lnTo>
                      <a:pt x="1937717" y="735797"/>
                    </a:lnTo>
                    <a:cubicBezTo>
                      <a:pt x="1937717" y="740056"/>
                      <a:pt x="1936025" y="744140"/>
                      <a:pt x="1933014" y="747151"/>
                    </a:cubicBezTo>
                    <a:cubicBezTo>
                      <a:pt x="1930003" y="750162"/>
                      <a:pt x="1925919" y="751854"/>
                      <a:pt x="1921661" y="751854"/>
                    </a:cubicBezTo>
                    <a:lnTo>
                      <a:pt x="16057" y="751854"/>
                    </a:lnTo>
                    <a:cubicBezTo>
                      <a:pt x="11798" y="751854"/>
                      <a:pt x="7714" y="750162"/>
                      <a:pt x="4703" y="747151"/>
                    </a:cubicBezTo>
                    <a:cubicBezTo>
                      <a:pt x="1692" y="744140"/>
                      <a:pt x="0" y="740056"/>
                      <a:pt x="0" y="735797"/>
                    </a:cubicBezTo>
                    <a:lnTo>
                      <a:pt x="0" y="16057"/>
                    </a:lnTo>
                    <a:cubicBezTo>
                      <a:pt x="0" y="11798"/>
                      <a:pt x="1692" y="7714"/>
                      <a:pt x="4703" y="4703"/>
                    </a:cubicBezTo>
                    <a:cubicBezTo>
                      <a:pt x="7714" y="1692"/>
                      <a:pt x="11798" y="0"/>
                      <a:pt x="16057" y="0"/>
                    </a:cubicBezTo>
                    <a:close/>
                  </a:path>
                </a:pathLst>
              </a:custGeom>
              <a:solidFill>
                <a:srgbClr val="4E6C7E"/>
              </a:solidFill>
              <a:ln w="19050" cap="rnd">
                <a:solidFill>
                  <a:srgbClr val="4383D1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28575"/>
                <a:ext cx="1937717" cy="78042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0" y="0"/>
              <a:ext cx="12556407" cy="4872012"/>
              <a:chOff x="0" y="0"/>
              <a:chExt cx="1937717" cy="751854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937717" cy="751854"/>
              </a:xfrm>
              <a:custGeom>
                <a:avLst/>
                <a:gdLst/>
                <a:ahLst/>
                <a:cxnLst/>
                <a:rect l="l" t="t" r="r" b="b"/>
                <a:pathLst>
                  <a:path w="1937717" h="751854">
                    <a:moveTo>
                      <a:pt x="16057" y="0"/>
                    </a:moveTo>
                    <a:lnTo>
                      <a:pt x="1921661" y="0"/>
                    </a:lnTo>
                    <a:cubicBezTo>
                      <a:pt x="1925919" y="0"/>
                      <a:pt x="1930003" y="1692"/>
                      <a:pt x="1933014" y="4703"/>
                    </a:cubicBezTo>
                    <a:cubicBezTo>
                      <a:pt x="1936025" y="7714"/>
                      <a:pt x="1937717" y="11798"/>
                      <a:pt x="1937717" y="16057"/>
                    </a:cubicBezTo>
                    <a:lnTo>
                      <a:pt x="1937717" y="735797"/>
                    </a:lnTo>
                    <a:cubicBezTo>
                      <a:pt x="1937717" y="740056"/>
                      <a:pt x="1936025" y="744140"/>
                      <a:pt x="1933014" y="747151"/>
                    </a:cubicBezTo>
                    <a:cubicBezTo>
                      <a:pt x="1930003" y="750162"/>
                      <a:pt x="1925919" y="751854"/>
                      <a:pt x="1921661" y="751854"/>
                    </a:cubicBezTo>
                    <a:lnTo>
                      <a:pt x="16057" y="751854"/>
                    </a:lnTo>
                    <a:cubicBezTo>
                      <a:pt x="11798" y="751854"/>
                      <a:pt x="7714" y="750162"/>
                      <a:pt x="4703" y="747151"/>
                    </a:cubicBezTo>
                    <a:cubicBezTo>
                      <a:pt x="1692" y="744140"/>
                      <a:pt x="0" y="740056"/>
                      <a:pt x="0" y="735797"/>
                    </a:cubicBezTo>
                    <a:lnTo>
                      <a:pt x="0" y="16057"/>
                    </a:lnTo>
                    <a:cubicBezTo>
                      <a:pt x="0" y="11798"/>
                      <a:pt x="1692" y="7714"/>
                      <a:pt x="4703" y="4703"/>
                    </a:cubicBezTo>
                    <a:cubicBezTo>
                      <a:pt x="7714" y="1692"/>
                      <a:pt x="11798" y="0"/>
                      <a:pt x="1605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4383D1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28575"/>
                <a:ext cx="1937717" cy="78042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</p:grpSp>
      <p:sp>
        <p:nvSpPr>
          <p:cNvPr id="28" name="TextBox 28"/>
          <p:cNvSpPr txBox="1"/>
          <p:nvPr/>
        </p:nvSpPr>
        <p:spPr>
          <a:xfrm>
            <a:off x="8150124" y="4026889"/>
            <a:ext cx="8626581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ar-EG" sz="4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هي إصابة تستمر لفترة طويلة وتتجاوز الزمن الطبيعي للشفاء.</a:t>
            </a:r>
          </a:p>
          <a:p>
            <a:pPr algn="r" rtl="1"/>
            <a:r>
              <a:rPr lang="ar-EG" sz="4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وغالبًا تنتج عن إجهاد متكرر أو علاج غير مكتمل، مما يؤدي لألم مستمر وضعف في الأداء.</a:t>
            </a:r>
            <a:endParaRPr lang="en-US" sz="44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6FE95B6-901D-A856-B74B-9BA9A5CB76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64" y="2023063"/>
            <a:ext cx="7294395" cy="7294395"/>
          </a:xfrm>
          <a:prstGeom prst="flowChartConnector">
            <a:avLst/>
          </a:prstGeom>
        </p:spPr>
      </p:pic>
      <p:grpSp>
        <p:nvGrpSpPr>
          <p:cNvPr id="32" name="Group 13">
            <a:extLst>
              <a:ext uri="{FF2B5EF4-FFF2-40B4-BE49-F238E27FC236}">
                <a16:creationId xmlns:a16="http://schemas.microsoft.com/office/drawing/2014/main" id="{16B9E96D-8CBC-C4BA-96EA-6778BB6C2D4B}"/>
              </a:ext>
            </a:extLst>
          </p:cNvPr>
          <p:cNvGrpSpPr/>
          <p:nvPr/>
        </p:nvGrpSpPr>
        <p:grpSpPr>
          <a:xfrm flipH="1">
            <a:off x="16871421" y="4203494"/>
            <a:ext cx="393928" cy="393928"/>
            <a:chOff x="0" y="0"/>
            <a:chExt cx="812800" cy="812800"/>
          </a:xfrm>
        </p:grpSpPr>
        <p:sp>
          <p:nvSpPr>
            <p:cNvPr id="33" name="Freeform 14">
              <a:extLst>
                <a:ext uri="{FF2B5EF4-FFF2-40B4-BE49-F238E27FC236}">
                  <a16:creationId xmlns:a16="http://schemas.microsoft.com/office/drawing/2014/main" id="{45640B66-E8F4-DD5E-5EBA-A8040AED3D4A}"/>
                </a:ext>
              </a:extLst>
            </p:cNvPr>
            <p:cNvSpPr/>
            <p:nvPr/>
          </p:nvSpPr>
          <p:spPr>
            <a:xfrm>
              <a:off x="0" y="57562"/>
              <a:ext cx="772097" cy="697677"/>
            </a:xfrm>
            <a:custGeom>
              <a:avLst/>
              <a:gdLst/>
              <a:ahLst/>
              <a:cxnLst/>
              <a:rect l="l" t="t" r="r" b="b"/>
              <a:pathLst>
                <a:path w="772097" h="697677">
                  <a:moveTo>
                    <a:pt x="743316" y="279354"/>
                  </a:moveTo>
                  <a:lnTo>
                    <a:pt x="475884" y="11922"/>
                  </a:lnTo>
                  <a:cubicBezTo>
                    <a:pt x="464243" y="281"/>
                    <a:pt x="446736" y="-3201"/>
                    <a:pt x="431527" y="3099"/>
                  </a:cubicBezTo>
                  <a:cubicBezTo>
                    <a:pt x="416317" y="9399"/>
                    <a:pt x="406400" y="24241"/>
                    <a:pt x="406400" y="40704"/>
                  </a:cubicBezTo>
                  <a:lnTo>
                    <a:pt x="406400" y="47372"/>
                  </a:lnTo>
                  <a:cubicBezTo>
                    <a:pt x="406400" y="101643"/>
                    <a:pt x="362405" y="145638"/>
                    <a:pt x="308134" y="145638"/>
                  </a:cubicBezTo>
                  <a:lnTo>
                    <a:pt x="98266" y="145638"/>
                  </a:lnTo>
                  <a:cubicBezTo>
                    <a:pt x="43995" y="145638"/>
                    <a:pt x="0" y="189633"/>
                    <a:pt x="0" y="243904"/>
                  </a:cubicBezTo>
                  <a:lnTo>
                    <a:pt x="0" y="453772"/>
                  </a:lnTo>
                  <a:cubicBezTo>
                    <a:pt x="0" y="508043"/>
                    <a:pt x="43995" y="552038"/>
                    <a:pt x="98266" y="552038"/>
                  </a:cubicBezTo>
                  <a:lnTo>
                    <a:pt x="308134" y="552038"/>
                  </a:lnTo>
                  <a:cubicBezTo>
                    <a:pt x="362405" y="552038"/>
                    <a:pt x="406400" y="596033"/>
                    <a:pt x="406400" y="650304"/>
                  </a:cubicBezTo>
                  <a:lnTo>
                    <a:pt x="406400" y="656972"/>
                  </a:lnTo>
                  <a:cubicBezTo>
                    <a:pt x="406400" y="673435"/>
                    <a:pt x="416317" y="688277"/>
                    <a:pt x="431527" y="694577"/>
                  </a:cubicBezTo>
                  <a:cubicBezTo>
                    <a:pt x="446736" y="700877"/>
                    <a:pt x="464243" y="697395"/>
                    <a:pt x="475884" y="685754"/>
                  </a:cubicBezTo>
                  <a:lnTo>
                    <a:pt x="743316" y="418322"/>
                  </a:lnTo>
                  <a:cubicBezTo>
                    <a:pt x="781691" y="379947"/>
                    <a:pt x="781691" y="317729"/>
                    <a:pt x="743316" y="279354"/>
                  </a:cubicBezTo>
                  <a:close/>
                </a:path>
              </a:pathLst>
            </a:custGeom>
            <a:solidFill>
              <a:srgbClr val="4E6C7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15">
              <a:extLst>
                <a:ext uri="{FF2B5EF4-FFF2-40B4-BE49-F238E27FC236}">
                  <a16:creationId xmlns:a16="http://schemas.microsoft.com/office/drawing/2014/main" id="{7E8C68FD-5474-4043-1662-78985290EAD2}"/>
                </a:ext>
              </a:extLst>
            </p:cNvPr>
            <p:cNvSpPr txBox="1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 dirty="0"/>
            </a:p>
          </p:txBody>
        </p:sp>
      </p:grpSp>
      <p:grpSp>
        <p:nvGrpSpPr>
          <p:cNvPr id="35" name="Group 13">
            <a:extLst>
              <a:ext uri="{FF2B5EF4-FFF2-40B4-BE49-F238E27FC236}">
                <a16:creationId xmlns:a16="http://schemas.microsoft.com/office/drawing/2014/main" id="{2E255069-BDB3-119E-E47C-34790CC10430}"/>
              </a:ext>
            </a:extLst>
          </p:cNvPr>
          <p:cNvGrpSpPr/>
          <p:nvPr/>
        </p:nvGrpSpPr>
        <p:grpSpPr>
          <a:xfrm flipH="1">
            <a:off x="16906051" y="5543406"/>
            <a:ext cx="393928" cy="393928"/>
            <a:chOff x="0" y="0"/>
            <a:chExt cx="812800" cy="812800"/>
          </a:xfrm>
        </p:grpSpPr>
        <p:sp>
          <p:nvSpPr>
            <p:cNvPr id="36" name="Freeform 14">
              <a:extLst>
                <a:ext uri="{FF2B5EF4-FFF2-40B4-BE49-F238E27FC236}">
                  <a16:creationId xmlns:a16="http://schemas.microsoft.com/office/drawing/2014/main" id="{AEFD2700-C68C-8CB3-FEB1-71368B03CC75}"/>
                </a:ext>
              </a:extLst>
            </p:cNvPr>
            <p:cNvSpPr/>
            <p:nvPr/>
          </p:nvSpPr>
          <p:spPr>
            <a:xfrm>
              <a:off x="0" y="57562"/>
              <a:ext cx="772097" cy="697677"/>
            </a:xfrm>
            <a:custGeom>
              <a:avLst/>
              <a:gdLst/>
              <a:ahLst/>
              <a:cxnLst/>
              <a:rect l="l" t="t" r="r" b="b"/>
              <a:pathLst>
                <a:path w="772097" h="697677">
                  <a:moveTo>
                    <a:pt x="743316" y="279354"/>
                  </a:moveTo>
                  <a:lnTo>
                    <a:pt x="475884" y="11922"/>
                  </a:lnTo>
                  <a:cubicBezTo>
                    <a:pt x="464243" y="281"/>
                    <a:pt x="446736" y="-3201"/>
                    <a:pt x="431527" y="3099"/>
                  </a:cubicBezTo>
                  <a:cubicBezTo>
                    <a:pt x="416317" y="9399"/>
                    <a:pt x="406400" y="24241"/>
                    <a:pt x="406400" y="40704"/>
                  </a:cubicBezTo>
                  <a:lnTo>
                    <a:pt x="406400" y="47372"/>
                  </a:lnTo>
                  <a:cubicBezTo>
                    <a:pt x="406400" y="101643"/>
                    <a:pt x="362405" y="145638"/>
                    <a:pt x="308134" y="145638"/>
                  </a:cubicBezTo>
                  <a:lnTo>
                    <a:pt x="98266" y="145638"/>
                  </a:lnTo>
                  <a:cubicBezTo>
                    <a:pt x="43995" y="145638"/>
                    <a:pt x="0" y="189633"/>
                    <a:pt x="0" y="243904"/>
                  </a:cubicBezTo>
                  <a:lnTo>
                    <a:pt x="0" y="453772"/>
                  </a:lnTo>
                  <a:cubicBezTo>
                    <a:pt x="0" y="508043"/>
                    <a:pt x="43995" y="552038"/>
                    <a:pt x="98266" y="552038"/>
                  </a:cubicBezTo>
                  <a:lnTo>
                    <a:pt x="308134" y="552038"/>
                  </a:lnTo>
                  <a:cubicBezTo>
                    <a:pt x="362405" y="552038"/>
                    <a:pt x="406400" y="596033"/>
                    <a:pt x="406400" y="650304"/>
                  </a:cubicBezTo>
                  <a:lnTo>
                    <a:pt x="406400" y="656972"/>
                  </a:lnTo>
                  <a:cubicBezTo>
                    <a:pt x="406400" y="673435"/>
                    <a:pt x="416317" y="688277"/>
                    <a:pt x="431527" y="694577"/>
                  </a:cubicBezTo>
                  <a:cubicBezTo>
                    <a:pt x="446736" y="700877"/>
                    <a:pt x="464243" y="697395"/>
                    <a:pt x="475884" y="685754"/>
                  </a:cubicBezTo>
                  <a:lnTo>
                    <a:pt x="743316" y="418322"/>
                  </a:lnTo>
                  <a:cubicBezTo>
                    <a:pt x="781691" y="379947"/>
                    <a:pt x="781691" y="317729"/>
                    <a:pt x="743316" y="279354"/>
                  </a:cubicBezTo>
                  <a:close/>
                </a:path>
              </a:pathLst>
            </a:custGeom>
            <a:solidFill>
              <a:srgbClr val="4E6C7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15">
              <a:extLst>
                <a:ext uri="{FF2B5EF4-FFF2-40B4-BE49-F238E27FC236}">
                  <a16:creationId xmlns:a16="http://schemas.microsoft.com/office/drawing/2014/main" id="{6E0C75D7-6F10-8DC5-2413-3A3C9306DCAD}"/>
                </a:ext>
              </a:extLst>
            </p:cNvPr>
            <p:cNvSpPr txBox="1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1710C-746D-C4E9-50E4-2E948472C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23B08C0-3191-F7CB-AA9F-20DD3153E7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289" y="1783871"/>
            <a:ext cx="14751844" cy="8503129"/>
          </a:xfrm>
          <a:prstGeom prst="rect">
            <a:avLst/>
          </a:prstGeom>
        </p:spPr>
      </p:pic>
      <p:grpSp>
        <p:nvGrpSpPr>
          <p:cNvPr id="3" name="Group 3">
            <a:extLst>
              <a:ext uri="{FF2B5EF4-FFF2-40B4-BE49-F238E27FC236}">
                <a16:creationId xmlns:a16="http://schemas.microsoft.com/office/drawing/2014/main" id="{7C338026-7297-4118-7E4C-73E4CD5FED14}"/>
              </a:ext>
            </a:extLst>
          </p:cNvPr>
          <p:cNvGrpSpPr/>
          <p:nvPr/>
        </p:nvGrpSpPr>
        <p:grpSpPr>
          <a:xfrm>
            <a:off x="-4652515" y="-647700"/>
            <a:ext cx="5581577" cy="5581577"/>
            <a:chOff x="0" y="0"/>
            <a:chExt cx="812800" cy="8128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E86CFE2-DD77-01D7-BD18-D91E9D45677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77FD6">
                    <a:alpha val="31000"/>
                  </a:srgbClr>
                </a:gs>
                <a:gs pos="100000">
                  <a:srgbClr val="CBE2FF">
                    <a:alpha val="31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A392C0A-0D5B-EBAE-EF1B-BAE8268CF99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7E68A817-FEEE-4F95-D26A-3CF4181180B3}"/>
              </a:ext>
            </a:extLst>
          </p:cNvPr>
          <p:cNvGrpSpPr/>
          <p:nvPr/>
        </p:nvGrpSpPr>
        <p:grpSpPr>
          <a:xfrm>
            <a:off x="17265349" y="5381106"/>
            <a:ext cx="5581577" cy="5581577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D0F8510-DBB0-352A-1EE8-F6F0D2D84EB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77FD6">
                    <a:alpha val="31000"/>
                  </a:srgbClr>
                </a:gs>
                <a:gs pos="100000">
                  <a:srgbClr val="CBE2FF">
                    <a:alpha val="31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8700D02-C4A2-0579-8EDC-4049B67C412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B133FCC0-6AD9-B7B2-F737-35AA0DEDFFB4}"/>
              </a:ext>
            </a:extLst>
          </p:cNvPr>
          <p:cNvSpPr txBox="1"/>
          <p:nvPr/>
        </p:nvSpPr>
        <p:spPr>
          <a:xfrm>
            <a:off x="3872919" y="435739"/>
            <a:ext cx="10377305" cy="974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7371"/>
              </a:lnSpc>
            </a:pPr>
            <a:r>
              <a:rPr lang="ar-EG" sz="7599" b="1" dirty="0">
                <a:solidFill>
                  <a:srgbClr val="4383D1"/>
                </a:solidFill>
                <a:latin typeface="Poppins Bold"/>
                <a:ea typeface="Poppins Bold"/>
                <a:cs typeface="+mj-cs"/>
                <a:sym typeface="Poppins Bold"/>
              </a:rPr>
              <a:t>تصنيف الإصابات من حيث الزمن</a:t>
            </a:r>
            <a:endParaRPr lang="en-US" sz="7599" b="1" dirty="0">
              <a:solidFill>
                <a:srgbClr val="4383D1"/>
              </a:solidFill>
              <a:latin typeface="Poppins Bold"/>
              <a:ea typeface="Poppins Bold"/>
              <a:cs typeface="+mj-cs"/>
              <a:sym typeface="Poppins Bold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6A299586-3C96-D644-278B-71CF7D4AD058}"/>
              </a:ext>
            </a:extLst>
          </p:cNvPr>
          <p:cNvSpPr txBox="1"/>
          <p:nvPr/>
        </p:nvSpPr>
        <p:spPr>
          <a:xfrm>
            <a:off x="6392510" y="3554791"/>
            <a:ext cx="8626581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ar-EG" sz="6000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إصابات مزمنة</a:t>
            </a:r>
            <a:endParaRPr lang="en-US" sz="6000" b="1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34" name="TextBox 15">
            <a:extLst>
              <a:ext uri="{FF2B5EF4-FFF2-40B4-BE49-F238E27FC236}">
                <a16:creationId xmlns:a16="http://schemas.microsoft.com/office/drawing/2014/main" id="{95A5022D-219C-13FF-8E32-86AE39124285}"/>
              </a:ext>
            </a:extLst>
          </p:cNvPr>
          <p:cNvSpPr txBox="1"/>
          <p:nvPr/>
        </p:nvSpPr>
        <p:spPr>
          <a:xfrm flipH="1">
            <a:off x="16534852" y="6321019"/>
            <a:ext cx="344687" cy="2108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520"/>
              </a:lnSpc>
            </a:pPr>
            <a:endParaRPr dirty="0"/>
          </a:p>
        </p:txBody>
      </p:sp>
      <p:grpSp>
        <p:nvGrpSpPr>
          <p:cNvPr id="38" name="Group 21">
            <a:extLst>
              <a:ext uri="{FF2B5EF4-FFF2-40B4-BE49-F238E27FC236}">
                <a16:creationId xmlns:a16="http://schemas.microsoft.com/office/drawing/2014/main" id="{4B71F60F-58FF-02A4-273E-A717F5B22F9B}"/>
              </a:ext>
            </a:extLst>
          </p:cNvPr>
          <p:cNvGrpSpPr/>
          <p:nvPr/>
        </p:nvGrpSpPr>
        <p:grpSpPr>
          <a:xfrm>
            <a:off x="7003524" y="7172370"/>
            <a:ext cx="8626580" cy="1938600"/>
            <a:chOff x="0" y="-185166"/>
            <a:chExt cx="12828424" cy="5346860"/>
          </a:xfrm>
        </p:grpSpPr>
        <p:sp>
          <p:nvSpPr>
            <p:cNvPr id="44" name="TextBox 24">
              <a:extLst>
                <a:ext uri="{FF2B5EF4-FFF2-40B4-BE49-F238E27FC236}">
                  <a16:creationId xmlns:a16="http://schemas.microsoft.com/office/drawing/2014/main" id="{2EC14C04-7CE8-00FF-4D4B-FEE64A55DEB6}"/>
                </a:ext>
              </a:extLst>
            </p:cNvPr>
            <p:cNvSpPr txBox="1"/>
            <p:nvPr/>
          </p:nvSpPr>
          <p:spPr>
            <a:xfrm>
              <a:off x="272017" y="104518"/>
              <a:ext cx="12556407" cy="50571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  <p:sp>
          <p:nvSpPr>
            <p:cNvPr id="42" name="TextBox 27">
              <a:extLst>
                <a:ext uri="{FF2B5EF4-FFF2-40B4-BE49-F238E27FC236}">
                  <a16:creationId xmlns:a16="http://schemas.microsoft.com/office/drawing/2014/main" id="{B8E61B09-1BA7-4D41-20B3-90D0314184B6}"/>
                </a:ext>
              </a:extLst>
            </p:cNvPr>
            <p:cNvSpPr txBox="1"/>
            <p:nvPr/>
          </p:nvSpPr>
          <p:spPr>
            <a:xfrm>
              <a:off x="0" y="-185166"/>
              <a:ext cx="12556407" cy="50571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46" name="TextBox 28">
            <a:extLst>
              <a:ext uri="{FF2B5EF4-FFF2-40B4-BE49-F238E27FC236}">
                <a16:creationId xmlns:a16="http://schemas.microsoft.com/office/drawing/2014/main" id="{E1966620-4D76-DF8D-1062-3B7505FD5408}"/>
              </a:ext>
            </a:extLst>
          </p:cNvPr>
          <p:cNvSpPr txBox="1"/>
          <p:nvPr/>
        </p:nvSpPr>
        <p:spPr>
          <a:xfrm>
            <a:off x="2203937" y="2929371"/>
            <a:ext cx="4188573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/>
            <a:r>
              <a:rPr lang="ar-EG" sz="6000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إصابات حادة قد تتحول إلى إصابة مزمنة</a:t>
            </a:r>
            <a:endParaRPr lang="en-US" sz="6000" b="1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  <p:extLst>
      <p:ext uri="{BB962C8B-B14F-4D97-AF65-F5344CB8AC3E}">
        <p14:creationId xmlns:p14="http://schemas.microsoft.com/office/powerpoint/2010/main" val="3631612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626326DC-8375-B911-5168-F728206B70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36"/>
          <a:stretch>
            <a:fillRect/>
          </a:stretch>
        </p:blipFill>
        <p:spPr>
          <a:xfrm>
            <a:off x="11556812" y="783414"/>
            <a:ext cx="7043007" cy="9563275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12580156" y="-579648"/>
            <a:ext cx="1928382" cy="192838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77FD6">
                    <a:alpha val="31000"/>
                  </a:srgbClr>
                </a:gs>
                <a:gs pos="100000">
                  <a:srgbClr val="CBE2FF">
                    <a:alpha val="31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9588973" y="939449"/>
            <a:ext cx="2900790" cy="2900790"/>
          </a:xfrm>
          <a:custGeom>
            <a:avLst/>
            <a:gdLst/>
            <a:ahLst/>
            <a:cxnLst/>
            <a:rect l="l" t="t" r="r" b="b"/>
            <a:pathLst>
              <a:path w="2900790" h="2900790">
                <a:moveTo>
                  <a:pt x="0" y="0"/>
                </a:moveTo>
                <a:lnTo>
                  <a:pt x="2900790" y="0"/>
                </a:lnTo>
                <a:lnTo>
                  <a:pt x="2900790" y="2900790"/>
                </a:lnTo>
                <a:lnTo>
                  <a:pt x="0" y="29007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260974" y="2738715"/>
            <a:ext cx="6754815" cy="984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7371"/>
              </a:lnSpc>
            </a:pPr>
            <a:r>
              <a:rPr lang="ar-EG" sz="7599" b="1" dirty="0">
                <a:solidFill>
                  <a:srgbClr val="4383D1"/>
                </a:solidFill>
                <a:latin typeface="Poppins Bold"/>
                <a:ea typeface="Poppins Bold"/>
                <a:cs typeface="+mj-cs"/>
                <a:sym typeface="Poppins Bold"/>
              </a:rPr>
              <a:t>التأهيل الحركي </a:t>
            </a:r>
            <a:endParaRPr lang="en-US" sz="7599" b="1" dirty="0">
              <a:solidFill>
                <a:srgbClr val="4383D1"/>
              </a:solidFill>
              <a:latin typeface="Poppins Bold"/>
              <a:ea typeface="Poppins Bold"/>
              <a:cs typeface="+mj-cs"/>
              <a:sym typeface="Poppins Bold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-238526" y="5521806"/>
            <a:ext cx="12818682" cy="3366315"/>
            <a:chOff x="0" y="0"/>
            <a:chExt cx="1937717" cy="69265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937717" cy="692657"/>
            </a:xfrm>
            <a:custGeom>
              <a:avLst/>
              <a:gdLst/>
              <a:ahLst/>
              <a:cxnLst/>
              <a:rect l="l" t="t" r="r" b="b"/>
              <a:pathLst>
                <a:path w="1937717" h="692657">
                  <a:moveTo>
                    <a:pt x="16057" y="0"/>
                  </a:moveTo>
                  <a:lnTo>
                    <a:pt x="1921661" y="0"/>
                  </a:lnTo>
                  <a:cubicBezTo>
                    <a:pt x="1925919" y="0"/>
                    <a:pt x="1930003" y="1692"/>
                    <a:pt x="1933014" y="4703"/>
                  </a:cubicBezTo>
                  <a:cubicBezTo>
                    <a:pt x="1936025" y="7714"/>
                    <a:pt x="1937717" y="11798"/>
                    <a:pt x="1937717" y="16057"/>
                  </a:cubicBezTo>
                  <a:lnTo>
                    <a:pt x="1937717" y="676601"/>
                  </a:lnTo>
                  <a:cubicBezTo>
                    <a:pt x="1937717" y="680859"/>
                    <a:pt x="1936025" y="684943"/>
                    <a:pt x="1933014" y="687954"/>
                  </a:cubicBezTo>
                  <a:cubicBezTo>
                    <a:pt x="1930003" y="690966"/>
                    <a:pt x="1925919" y="692657"/>
                    <a:pt x="1921661" y="692657"/>
                  </a:cubicBezTo>
                  <a:lnTo>
                    <a:pt x="16057" y="692657"/>
                  </a:lnTo>
                  <a:cubicBezTo>
                    <a:pt x="11798" y="692657"/>
                    <a:pt x="7714" y="690966"/>
                    <a:pt x="4703" y="687954"/>
                  </a:cubicBezTo>
                  <a:cubicBezTo>
                    <a:pt x="1692" y="684943"/>
                    <a:pt x="0" y="680859"/>
                    <a:pt x="0" y="676601"/>
                  </a:cubicBezTo>
                  <a:lnTo>
                    <a:pt x="0" y="16057"/>
                  </a:lnTo>
                  <a:cubicBezTo>
                    <a:pt x="0" y="11798"/>
                    <a:pt x="1692" y="7714"/>
                    <a:pt x="4703" y="4703"/>
                  </a:cubicBezTo>
                  <a:cubicBezTo>
                    <a:pt x="7714" y="1692"/>
                    <a:pt x="11798" y="0"/>
                    <a:pt x="16057" y="0"/>
                  </a:cubicBezTo>
                  <a:close/>
                </a:path>
              </a:pathLst>
            </a:custGeom>
            <a:solidFill>
              <a:srgbClr val="4E6C7E"/>
            </a:solidFill>
            <a:ln w="19050" cap="rnd">
              <a:solidFill>
                <a:srgbClr val="4383D1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1937717" cy="721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457201" y="5205821"/>
            <a:ext cx="12725401" cy="3366315"/>
            <a:chOff x="0" y="0"/>
            <a:chExt cx="1937717" cy="69265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937717" cy="692657"/>
            </a:xfrm>
            <a:custGeom>
              <a:avLst/>
              <a:gdLst/>
              <a:ahLst/>
              <a:cxnLst/>
              <a:rect l="l" t="t" r="r" b="b"/>
              <a:pathLst>
                <a:path w="1937717" h="692657">
                  <a:moveTo>
                    <a:pt x="16057" y="0"/>
                  </a:moveTo>
                  <a:lnTo>
                    <a:pt x="1921661" y="0"/>
                  </a:lnTo>
                  <a:cubicBezTo>
                    <a:pt x="1925919" y="0"/>
                    <a:pt x="1930003" y="1692"/>
                    <a:pt x="1933014" y="4703"/>
                  </a:cubicBezTo>
                  <a:cubicBezTo>
                    <a:pt x="1936025" y="7714"/>
                    <a:pt x="1937717" y="11798"/>
                    <a:pt x="1937717" y="16057"/>
                  </a:cubicBezTo>
                  <a:lnTo>
                    <a:pt x="1937717" y="676601"/>
                  </a:lnTo>
                  <a:cubicBezTo>
                    <a:pt x="1937717" y="680859"/>
                    <a:pt x="1936025" y="684943"/>
                    <a:pt x="1933014" y="687954"/>
                  </a:cubicBezTo>
                  <a:cubicBezTo>
                    <a:pt x="1930003" y="690966"/>
                    <a:pt x="1925919" y="692657"/>
                    <a:pt x="1921661" y="692657"/>
                  </a:cubicBezTo>
                  <a:lnTo>
                    <a:pt x="16057" y="692657"/>
                  </a:lnTo>
                  <a:cubicBezTo>
                    <a:pt x="11798" y="692657"/>
                    <a:pt x="7714" y="690966"/>
                    <a:pt x="4703" y="687954"/>
                  </a:cubicBezTo>
                  <a:cubicBezTo>
                    <a:pt x="1692" y="684943"/>
                    <a:pt x="0" y="680859"/>
                    <a:pt x="0" y="676601"/>
                  </a:cubicBezTo>
                  <a:lnTo>
                    <a:pt x="0" y="16057"/>
                  </a:lnTo>
                  <a:cubicBezTo>
                    <a:pt x="0" y="11798"/>
                    <a:pt x="1692" y="7714"/>
                    <a:pt x="4703" y="4703"/>
                  </a:cubicBezTo>
                  <a:cubicBezTo>
                    <a:pt x="7714" y="1692"/>
                    <a:pt x="11798" y="0"/>
                    <a:pt x="1605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4383D1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1937717" cy="721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0" y="5488972"/>
            <a:ext cx="11216640" cy="3077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ar-EG" sz="4000" dirty="0">
                <a:solidFill>
                  <a:srgbClr val="000000"/>
                </a:solidFill>
                <a:latin typeface="Canva Sans"/>
                <a:ea typeface="Canva Sans"/>
                <a:cs typeface="+mj-cs"/>
                <a:sym typeface="Canva Sans"/>
              </a:rPr>
              <a:t>هو عملية علاجية تهدف إلى استعادة كفاءة الحركة والوظائف البدنية بعد الإصابة.</a:t>
            </a:r>
            <a:endParaRPr lang="en-US" sz="4000" dirty="0">
              <a:solidFill>
                <a:srgbClr val="000000"/>
              </a:solidFill>
              <a:latin typeface="Canva Sans"/>
              <a:ea typeface="Canva Sans"/>
              <a:cs typeface="+mj-cs"/>
              <a:sym typeface="Canva Sans"/>
            </a:endParaRPr>
          </a:p>
          <a:p>
            <a:pPr algn="r" rtl="1"/>
            <a:r>
              <a:rPr lang="ar-EG" sz="4000" dirty="0">
                <a:solidFill>
                  <a:srgbClr val="000000"/>
                </a:solidFill>
                <a:latin typeface="Canva Sans"/>
                <a:ea typeface="Canva Sans"/>
                <a:cs typeface="+mj-cs"/>
                <a:sym typeface="Canva Sans"/>
              </a:rPr>
              <a:t>يعتمد على تمارين وبرامج متخصصة لتحسين القوة والمرونة والتوازن.</a:t>
            </a:r>
            <a:endParaRPr lang="en-US" sz="4000" dirty="0">
              <a:solidFill>
                <a:srgbClr val="000000"/>
              </a:solidFill>
              <a:latin typeface="Canva Sans"/>
              <a:ea typeface="Canva Sans"/>
              <a:cs typeface="+mj-cs"/>
              <a:sym typeface="Canva Sans"/>
            </a:endParaRPr>
          </a:p>
          <a:p>
            <a:pPr algn="r" rtl="1"/>
            <a:r>
              <a:rPr lang="ar-EG" sz="4000" dirty="0">
                <a:solidFill>
                  <a:srgbClr val="000000"/>
                </a:solidFill>
                <a:latin typeface="Canva Sans"/>
                <a:ea typeface="Canva Sans"/>
                <a:cs typeface="+mj-cs"/>
                <a:sym typeface="Canva Sans"/>
              </a:rPr>
              <a:t>ويساعد على عودة اللاعب لنشاطه الطبيعي بأمان وتقليل فرص تكرار الإصابة.</a:t>
            </a:r>
            <a:endParaRPr lang="en-US" sz="4000" dirty="0">
              <a:solidFill>
                <a:srgbClr val="000000"/>
              </a:solidFill>
              <a:latin typeface="Canva Sans"/>
              <a:ea typeface="Canva Sans"/>
              <a:cs typeface="+mj-cs"/>
              <a:sym typeface="Canva Sans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1561626" y="3813673"/>
            <a:ext cx="613357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30" name="Group 30"/>
          <p:cNvGrpSpPr/>
          <p:nvPr/>
        </p:nvGrpSpPr>
        <p:grpSpPr>
          <a:xfrm rot="-5400000">
            <a:off x="-366756" y="9382499"/>
            <a:ext cx="1928382" cy="1928382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77FD6">
                    <a:alpha val="31000"/>
                  </a:srgbClr>
                </a:gs>
                <a:gs pos="100000">
                  <a:srgbClr val="CBE2FF">
                    <a:alpha val="31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5" name="Group 13">
            <a:extLst>
              <a:ext uri="{FF2B5EF4-FFF2-40B4-BE49-F238E27FC236}">
                <a16:creationId xmlns:a16="http://schemas.microsoft.com/office/drawing/2014/main" id="{59055C6D-4E88-E722-9266-CC8106065B72}"/>
              </a:ext>
            </a:extLst>
          </p:cNvPr>
          <p:cNvGrpSpPr/>
          <p:nvPr/>
        </p:nvGrpSpPr>
        <p:grpSpPr>
          <a:xfrm flipH="1">
            <a:off x="11656009" y="6878078"/>
            <a:ext cx="393928" cy="393928"/>
            <a:chOff x="0" y="0"/>
            <a:chExt cx="812800" cy="812800"/>
          </a:xfrm>
        </p:grpSpPr>
        <p:sp>
          <p:nvSpPr>
            <p:cNvPr id="36" name="Freeform 14">
              <a:extLst>
                <a:ext uri="{FF2B5EF4-FFF2-40B4-BE49-F238E27FC236}">
                  <a16:creationId xmlns:a16="http://schemas.microsoft.com/office/drawing/2014/main" id="{577F6B1B-400E-D63E-4817-8A409103F7EF}"/>
                </a:ext>
              </a:extLst>
            </p:cNvPr>
            <p:cNvSpPr/>
            <p:nvPr/>
          </p:nvSpPr>
          <p:spPr>
            <a:xfrm>
              <a:off x="0" y="57562"/>
              <a:ext cx="772097" cy="697677"/>
            </a:xfrm>
            <a:custGeom>
              <a:avLst/>
              <a:gdLst/>
              <a:ahLst/>
              <a:cxnLst/>
              <a:rect l="l" t="t" r="r" b="b"/>
              <a:pathLst>
                <a:path w="772097" h="697677">
                  <a:moveTo>
                    <a:pt x="743316" y="279354"/>
                  </a:moveTo>
                  <a:lnTo>
                    <a:pt x="475884" y="11922"/>
                  </a:lnTo>
                  <a:cubicBezTo>
                    <a:pt x="464243" y="281"/>
                    <a:pt x="446736" y="-3201"/>
                    <a:pt x="431527" y="3099"/>
                  </a:cubicBezTo>
                  <a:cubicBezTo>
                    <a:pt x="416317" y="9399"/>
                    <a:pt x="406400" y="24241"/>
                    <a:pt x="406400" y="40704"/>
                  </a:cubicBezTo>
                  <a:lnTo>
                    <a:pt x="406400" y="47372"/>
                  </a:lnTo>
                  <a:cubicBezTo>
                    <a:pt x="406400" y="101643"/>
                    <a:pt x="362405" y="145638"/>
                    <a:pt x="308134" y="145638"/>
                  </a:cubicBezTo>
                  <a:lnTo>
                    <a:pt x="98266" y="145638"/>
                  </a:lnTo>
                  <a:cubicBezTo>
                    <a:pt x="43995" y="145638"/>
                    <a:pt x="0" y="189633"/>
                    <a:pt x="0" y="243904"/>
                  </a:cubicBezTo>
                  <a:lnTo>
                    <a:pt x="0" y="453772"/>
                  </a:lnTo>
                  <a:cubicBezTo>
                    <a:pt x="0" y="508043"/>
                    <a:pt x="43995" y="552038"/>
                    <a:pt x="98266" y="552038"/>
                  </a:cubicBezTo>
                  <a:lnTo>
                    <a:pt x="308134" y="552038"/>
                  </a:lnTo>
                  <a:cubicBezTo>
                    <a:pt x="362405" y="552038"/>
                    <a:pt x="406400" y="596033"/>
                    <a:pt x="406400" y="650304"/>
                  </a:cubicBezTo>
                  <a:lnTo>
                    <a:pt x="406400" y="656972"/>
                  </a:lnTo>
                  <a:cubicBezTo>
                    <a:pt x="406400" y="673435"/>
                    <a:pt x="416317" y="688277"/>
                    <a:pt x="431527" y="694577"/>
                  </a:cubicBezTo>
                  <a:cubicBezTo>
                    <a:pt x="446736" y="700877"/>
                    <a:pt x="464243" y="697395"/>
                    <a:pt x="475884" y="685754"/>
                  </a:cubicBezTo>
                  <a:lnTo>
                    <a:pt x="743316" y="418322"/>
                  </a:lnTo>
                  <a:cubicBezTo>
                    <a:pt x="781691" y="379947"/>
                    <a:pt x="781691" y="317729"/>
                    <a:pt x="743316" y="279354"/>
                  </a:cubicBezTo>
                  <a:close/>
                </a:path>
              </a:pathLst>
            </a:custGeom>
            <a:solidFill>
              <a:srgbClr val="4E6C7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15">
              <a:extLst>
                <a:ext uri="{FF2B5EF4-FFF2-40B4-BE49-F238E27FC236}">
                  <a16:creationId xmlns:a16="http://schemas.microsoft.com/office/drawing/2014/main" id="{94DAD9A3-2DB4-988E-C50F-E1B28CE3B38E}"/>
                </a:ext>
              </a:extLst>
            </p:cNvPr>
            <p:cNvSpPr txBox="1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8" name="Group 13">
            <a:extLst>
              <a:ext uri="{FF2B5EF4-FFF2-40B4-BE49-F238E27FC236}">
                <a16:creationId xmlns:a16="http://schemas.microsoft.com/office/drawing/2014/main" id="{267CC3F3-0796-8FA9-EC94-00FF613765BF}"/>
              </a:ext>
            </a:extLst>
          </p:cNvPr>
          <p:cNvGrpSpPr/>
          <p:nvPr/>
        </p:nvGrpSpPr>
        <p:grpSpPr>
          <a:xfrm flipH="1">
            <a:off x="11590904" y="5565792"/>
            <a:ext cx="393928" cy="393928"/>
            <a:chOff x="0" y="0"/>
            <a:chExt cx="812800" cy="812800"/>
          </a:xfrm>
        </p:grpSpPr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E7B4212A-657A-2EEA-3229-D1952CE9D21F}"/>
                </a:ext>
              </a:extLst>
            </p:cNvPr>
            <p:cNvSpPr/>
            <p:nvPr/>
          </p:nvSpPr>
          <p:spPr>
            <a:xfrm>
              <a:off x="0" y="57562"/>
              <a:ext cx="772097" cy="697677"/>
            </a:xfrm>
            <a:custGeom>
              <a:avLst/>
              <a:gdLst/>
              <a:ahLst/>
              <a:cxnLst/>
              <a:rect l="l" t="t" r="r" b="b"/>
              <a:pathLst>
                <a:path w="772097" h="697677">
                  <a:moveTo>
                    <a:pt x="743316" y="279354"/>
                  </a:moveTo>
                  <a:lnTo>
                    <a:pt x="475884" y="11922"/>
                  </a:lnTo>
                  <a:cubicBezTo>
                    <a:pt x="464243" y="281"/>
                    <a:pt x="446736" y="-3201"/>
                    <a:pt x="431527" y="3099"/>
                  </a:cubicBezTo>
                  <a:cubicBezTo>
                    <a:pt x="416317" y="9399"/>
                    <a:pt x="406400" y="24241"/>
                    <a:pt x="406400" y="40704"/>
                  </a:cubicBezTo>
                  <a:lnTo>
                    <a:pt x="406400" y="47372"/>
                  </a:lnTo>
                  <a:cubicBezTo>
                    <a:pt x="406400" y="101643"/>
                    <a:pt x="362405" y="145638"/>
                    <a:pt x="308134" y="145638"/>
                  </a:cubicBezTo>
                  <a:lnTo>
                    <a:pt x="98266" y="145638"/>
                  </a:lnTo>
                  <a:cubicBezTo>
                    <a:pt x="43995" y="145638"/>
                    <a:pt x="0" y="189633"/>
                    <a:pt x="0" y="243904"/>
                  </a:cubicBezTo>
                  <a:lnTo>
                    <a:pt x="0" y="453772"/>
                  </a:lnTo>
                  <a:cubicBezTo>
                    <a:pt x="0" y="508043"/>
                    <a:pt x="43995" y="552038"/>
                    <a:pt x="98266" y="552038"/>
                  </a:cubicBezTo>
                  <a:lnTo>
                    <a:pt x="308134" y="552038"/>
                  </a:lnTo>
                  <a:cubicBezTo>
                    <a:pt x="362405" y="552038"/>
                    <a:pt x="406400" y="596033"/>
                    <a:pt x="406400" y="650304"/>
                  </a:cubicBezTo>
                  <a:lnTo>
                    <a:pt x="406400" y="656972"/>
                  </a:lnTo>
                  <a:cubicBezTo>
                    <a:pt x="406400" y="673435"/>
                    <a:pt x="416317" y="688277"/>
                    <a:pt x="431527" y="694577"/>
                  </a:cubicBezTo>
                  <a:cubicBezTo>
                    <a:pt x="446736" y="700877"/>
                    <a:pt x="464243" y="697395"/>
                    <a:pt x="475884" y="685754"/>
                  </a:cubicBezTo>
                  <a:lnTo>
                    <a:pt x="743316" y="418322"/>
                  </a:lnTo>
                  <a:cubicBezTo>
                    <a:pt x="781691" y="379947"/>
                    <a:pt x="781691" y="317729"/>
                    <a:pt x="743316" y="279354"/>
                  </a:cubicBezTo>
                  <a:close/>
                </a:path>
              </a:pathLst>
            </a:custGeom>
            <a:solidFill>
              <a:srgbClr val="4E6C7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15">
              <a:extLst>
                <a:ext uri="{FF2B5EF4-FFF2-40B4-BE49-F238E27FC236}">
                  <a16:creationId xmlns:a16="http://schemas.microsoft.com/office/drawing/2014/main" id="{E96D41A4-43E0-8087-B313-EA1A66D5FB00}"/>
                </a:ext>
              </a:extLst>
            </p:cNvPr>
            <p:cNvSpPr txBox="1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41" name="Group 13">
            <a:extLst>
              <a:ext uri="{FF2B5EF4-FFF2-40B4-BE49-F238E27FC236}">
                <a16:creationId xmlns:a16="http://schemas.microsoft.com/office/drawing/2014/main" id="{33A6EEB6-3297-4BA6-9166-CD4AF3B65957}"/>
              </a:ext>
            </a:extLst>
          </p:cNvPr>
          <p:cNvGrpSpPr/>
          <p:nvPr/>
        </p:nvGrpSpPr>
        <p:grpSpPr>
          <a:xfrm flipH="1">
            <a:off x="11635526" y="7508880"/>
            <a:ext cx="393928" cy="393928"/>
            <a:chOff x="0" y="0"/>
            <a:chExt cx="812800" cy="812800"/>
          </a:xfrm>
        </p:grpSpPr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DB88E00E-5750-3E95-ADFD-DF1AC3F9D6FF}"/>
                </a:ext>
              </a:extLst>
            </p:cNvPr>
            <p:cNvSpPr/>
            <p:nvPr/>
          </p:nvSpPr>
          <p:spPr>
            <a:xfrm>
              <a:off x="0" y="57562"/>
              <a:ext cx="772097" cy="697677"/>
            </a:xfrm>
            <a:custGeom>
              <a:avLst/>
              <a:gdLst/>
              <a:ahLst/>
              <a:cxnLst/>
              <a:rect l="l" t="t" r="r" b="b"/>
              <a:pathLst>
                <a:path w="772097" h="697677">
                  <a:moveTo>
                    <a:pt x="743316" y="279354"/>
                  </a:moveTo>
                  <a:lnTo>
                    <a:pt x="475884" y="11922"/>
                  </a:lnTo>
                  <a:cubicBezTo>
                    <a:pt x="464243" y="281"/>
                    <a:pt x="446736" y="-3201"/>
                    <a:pt x="431527" y="3099"/>
                  </a:cubicBezTo>
                  <a:cubicBezTo>
                    <a:pt x="416317" y="9399"/>
                    <a:pt x="406400" y="24241"/>
                    <a:pt x="406400" y="40704"/>
                  </a:cubicBezTo>
                  <a:lnTo>
                    <a:pt x="406400" y="47372"/>
                  </a:lnTo>
                  <a:cubicBezTo>
                    <a:pt x="406400" y="101643"/>
                    <a:pt x="362405" y="145638"/>
                    <a:pt x="308134" y="145638"/>
                  </a:cubicBezTo>
                  <a:lnTo>
                    <a:pt x="98266" y="145638"/>
                  </a:lnTo>
                  <a:cubicBezTo>
                    <a:pt x="43995" y="145638"/>
                    <a:pt x="0" y="189633"/>
                    <a:pt x="0" y="243904"/>
                  </a:cubicBezTo>
                  <a:lnTo>
                    <a:pt x="0" y="453772"/>
                  </a:lnTo>
                  <a:cubicBezTo>
                    <a:pt x="0" y="508043"/>
                    <a:pt x="43995" y="552038"/>
                    <a:pt x="98266" y="552038"/>
                  </a:cubicBezTo>
                  <a:lnTo>
                    <a:pt x="308134" y="552038"/>
                  </a:lnTo>
                  <a:cubicBezTo>
                    <a:pt x="362405" y="552038"/>
                    <a:pt x="406400" y="596033"/>
                    <a:pt x="406400" y="650304"/>
                  </a:cubicBezTo>
                  <a:lnTo>
                    <a:pt x="406400" y="656972"/>
                  </a:lnTo>
                  <a:cubicBezTo>
                    <a:pt x="406400" y="673435"/>
                    <a:pt x="416317" y="688277"/>
                    <a:pt x="431527" y="694577"/>
                  </a:cubicBezTo>
                  <a:cubicBezTo>
                    <a:pt x="446736" y="700877"/>
                    <a:pt x="464243" y="697395"/>
                    <a:pt x="475884" y="685754"/>
                  </a:cubicBezTo>
                  <a:lnTo>
                    <a:pt x="743316" y="418322"/>
                  </a:lnTo>
                  <a:cubicBezTo>
                    <a:pt x="781691" y="379947"/>
                    <a:pt x="781691" y="317729"/>
                    <a:pt x="743316" y="279354"/>
                  </a:cubicBezTo>
                  <a:close/>
                </a:path>
              </a:pathLst>
            </a:custGeom>
            <a:solidFill>
              <a:srgbClr val="4E6C7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15">
              <a:extLst>
                <a:ext uri="{FF2B5EF4-FFF2-40B4-BE49-F238E27FC236}">
                  <a16:creationId xmlns:a16="http://schemas.microsoft.com/office/drawing/2014/main" id="{FCA4BF05-F85B-67C4-5D60-23F862D02DFD}"/>
                </a:ext>
              </a:extLst>
            </p:cNvPr>
            <p:cNvSpPr txBox="1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28808B-24C5-D6BB-D271-7C0B22829C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66"/>
          <a:stretch>
            <a:fillRect/>
          </a:stretch>
        </p:blipFill>
        <p:spPr>
          <a:xfrm>
            <a:off x="2590800" y="-539194"/>
            <a:ext cx="12496800" cy="108033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1D41B32-58C0-1CE9-9ED2-E1C684AB499C}"/>
              </a:ext>
            </a:extLst>
          </p:cNvPr>
          <p:cNvSpPr txBox="1"/>
          <p:nvPr/>
        </p:nvSpPr>
        <p:spPr>
          <a:xfrm>
            <a:off x="8077200" y="1181100"/>
            <a:ext cx="4495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4800" b="1" dirty="0"/>
              <a:t>كيف يمكن </a:t>
            </a:r>
            <a:r>
              <a:rPr lang="ar-EG" sz="4800" b="1" dirty="0" err="1"/>
              <a:t>الإستفادة</a:t>
            </a:r>
            <a:r>
              <a:rPr lang="ar-EG" sz="4800" b="1" dirty="0"/>
              <a:t> من التأهيل بعد الإصابة ؟؟؟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702467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8A540F-14FA-C75D-0E5D-92B8A9D283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81"/>
          <a:stretch>
            <a:fillRect/>
          </a:stretch>
        </p:blipFill>
        <p:spPr>
          <a:xfrm>
            <a:off x="0" y="-723900"/>
            <a:ext cx="18288000" cy="126293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A0C4E0-4459-500E-6758-2BD31AECB114}"/>
              </a:ext>
            </a:extLst>
          </p:cNvPr>
          <p:cNvSpPr txBox="1"/>
          <p:nvPr/>
        </p:nvSpPr>
        <p:spPr>
          <a:xfrm>
            <a:off x="14325600" y="4381500"/>
            <a:ext cx="2971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6000" dirty="0"/>
              <a:t>تقليل الألم الناتج عن الإصابة</a:t>
            </a:r>
            <a:r>
              <a:rPr lang="en-US" sz="60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C983AA-8418-8DE9-2683-4EE42CBCE989}"/>
              </a:ext>
            </a:extLst>
          </p:cNvPr>
          <p:cNvSpPr txBox="1"/>
          <p:nvPr/>
        </p:nvSpPr>
        <p:spPr>
          <a:xfrm>
            <a:off x="4876800" y="4381500"/>
            <a:ext cx="2971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6000" dirty="0"/>
              <a:t>الشفاء الكامل من الاصابة. </a:t>
            </a:r>
            <a:endParaRPr lang="en-US" sz="6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172CED-6F2C-230D-87B0-96B75254EE57}"/>
              </a:ext>
            </a:extLst>
          </p:cNvPr>
          <p:cNvSpPr txBox="1"/>
          <p:nvPr/>
        </p:nvSpPr>
        <p:spPr>
          <a:xfrm>
            <a:off x="9144000" y="5143500"/>
            <a:ext cx="4034971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5100" dirty="0"/>
              <a:t>التخلص من الإعاقة الحركية المؤقتة. </a:t>
            </a:r>
            <a:endParaRPr lang="en-US" sz="5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A8FC37-A925-2C25-27B0-3CC9A95D1577}"/>
              </a:ext>
            </a:extLst>
          </p:cNvPr>
          <p:cNvSpPr txBox="1"/>
          <p:nvPr/>
        </p:nvSpPr>
        <p:spPr>
          <a:xfrm>
            <a:off x="914400" y="4627595"/>
            <a:ext cx="2971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6000" dirty="0"/>
              <a:t>استعادة قدرة العضلة. 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204703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D62635-545C-28A3-54EA-C928821AEB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1000" y="-647700"/>
            <a:ext cx="18669000" cy="11213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588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8398C1-D47F-2565-C7C3-DB3FA4298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6A5B22-23E5-77C2-6318-67848A6AE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81"/>
          <a:stretch>
            <a:fillRect/>
          </a:stretch>
        </p:blipFill>
        <p:spPr>
          <a:xfrm>
            <a:off x="0" y="-723900"/>
            <a:ext cx="18288000" cy="126293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C4AA5F-1006-0633-320C-282D406A5126}"/>
              </a:ext>
            </a:extLst>
          </p:cNvPr>
          <p:cNvSpPr txBox="1"/>
          <p:nvPr/>
        </p:nvSpPr>
        <p:spPr>
          <a:xfrm>
            <a:off x="14286593" y="4436608"/>
            <a:ext cx="31822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4800" dirty="0"/>
              <a:t>استعادة قدرة الجزء المصاب على الأداء. </a:t>
            </a:r>
            <a:endParaRPr lang="en-US" sz="4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26688C-5561-480C-17E3-FC5CE156587B}"/>
              </a:ext>
            </a:extLst>
          </p:cNvPr>
          <p:cNvSpPr txBox="1"/>
          <p:nvPr/>
        </p:nvSpPr>
        <p:spPr>
          <a:xfrm>
            <a:off x="4894943" y="4185616"/>
            <a:ext cx="29718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4000" dirty="0"/>
              <a:t>تقليل التأثيرات الناتجة من قلة الحركة مثل ضعف العضلة او تيبس المفصل</a:t>
            </a:r>
            <a:r>
              <a:rPr lang="en-US" sz="400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1DAB49-1AA1-3EFB-E143-F9255E862BB2}"/>
              </a:ext>
            </a:extLst>
          </p:cNvPr>
          <p:cNvSpPr txBox="1"/>
          <p:nvPr/>
        </p:nvSpPr>
        <p:spPr>
          <a:xfrm>
            <a:off x="9277350" y="5143500"/>
            <a:ext cx="36195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4400" dirty="0"/>
              <a:t>التئام الأنسجة المتضررة التي تعرضت للإصابة</a:t>
            </a:r>
            <a:r>
              <a:rPr lang="en-US" sz="440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6FD3F6-2197-0B68-BDA9-9676A176F032}"/>
              </a:ext>
            </a:extLst>
          </p:cNvPr>
          <p:cNvSpPr txBox="1"/>
          <p:nvPr/>
        </p:nvSpPr>
        <p:spPr>
          <a:xfrm>
            <a:off x="914400" y="4627595"/>
            <a:ext cx="29718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4400" dirty="0"/>
              <a:t>مساعدة اللاعب في فهم مسببات الإصابة وتجنب تكرار الإصابة</a:t>
            </a:r>
            <a:r>
              <a:rPr lang="en-US" sz="4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3990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80B29-1F72-5770-5E55-58CB0202D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77">
            <a:extLst>
              <a:ext uri="{FF2B5EF4-FFF2-40B4-BE49-F238E27FC236}">
                <a16:creationId xmlns:a16="http://schemas.microsoft.com/office/drawing/2014/main" id="{D8666597-EAC5-BF7E-029E-B39EC5363C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57400" y="-224583"/>
            <a:ext cx="9334952" cy="10501820"/>
          </a:xfrm>
          <a:prstGeom prst="rect">
            <a:avLst/>
          </a:prstGeom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EFA495C6-9BC6-2F89-17EF-A86BDE217A13}"/>
              </a:ext>
            </a:extLst>
          </p:cNvPr>
          <p:cNvGrpSpPr/>
          <p:nvPr/>
        </p:nvGrpSpPr>
        <p:grpSpPr>
          <a:xfrm>
            <a:off x="1399193" y="7486448"/>
            <a:ext cx="5581577" cy="5581577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44065AB-7B6C-1503-7173-63F637C1CF2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77FD6">
                    <a:alpha val="8000"/>
                  </a:srgbClr>
                </a:gs>
                <a:gs pos="100000">
                  <a:srgbClr val="CBE2FF">
                    <a:alpha val="8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F6F47AC-5068-9822-FC11-C2541A9D5C6E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83C910EA-7E2A-E927-EBBF-1CE7BF1ED4EE}"/>
              </a:ext>
            </a:extLst>
          </p:cNvPr>
          <p:cNvSpPr txBox="1"/>
          <p:nvPr/>
        </p:nvSpPr>
        <p:spPr>
          <a:xfrm>
            <a:off x="9140019" y="812911"/>
            <a:ext cx="8323294" cy="1699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83"/>
              </a:lnSpc>
            </a:pPr>
            <a:r>
              <a:rPr lang="ar-EG" sz="7599" b="1" dirty="0">
                <a:solidFill>
                  <a:srgbClr val="4383D1"/>
                </a:solidFill>
                <a:latin typeface="Poppins Bold"/>
                <a:ea typeface="Poppins Bold"/>
                <a:cs typeface="+mj-cs"/>
                <a:sym typeface="Poppins Bold"/>
              </a:rPr>
              <a:t>نقاط تساعد في نجاح التأهيل الحركي</a:t>
            </a:r>
            <a:endParaRPr lang="en-US" sz="7599" b="1" dirty="0">
              <a:solidFill>
                <a:srgbClr val="4383D1"/>
              </a:solidFill>
              <a:latin typeface="Poppins Bold"/>
              <a:ea typeface="Poppins Bold"/>
              <a:cs typeface="+mj-cs"/>
              <a:sym typeface="Poppins Bold"/>
            </a:endParaRPr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032A17A6-780B-4CF7-5613-FD9B93613651}"/>
              </a:ext>
            </a:extLst>
          </p:cNvPr>
          <p:cNvSpPr/>
          <p:nvPr/>
        </p:nvSpPr>
        <p:spPr>
          <a:xfrm>
            <a:off x="9576387" y="2762377"/>
            <a:ext cx="745055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573278CD-A991-29CF-CD63-EC39E3392504}"/>
              </a:ext>
            </a:extLst>
          </p:cNvPr>
          <p:cNvGrpSpPr/>
          <p:nvPr/>
        </p:nvGrpSpPr>
        <p:grpSpPr>
          <a:xfrm>
            <a:off x="16803283" y="-1088609"/>
            <a:ext cx="1928382" cy="1928382"/>
            <a:chOff x="0" y="0"/>
            <a:chExt cx="812800" cy="812800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EC0A9297-2A41-259B-D002-7A0493E7F9F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77FD6">
                    <a:alpha val="31000"/>
                  </a:srgbClr>
                </a:gs>
                <a:gs pos="100000">
                  <a:srgbClr val="CBE2FF">
                    <a:alpha val="31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E5B68561-40CC-C84C-6710-C97F32CC7188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8" name="Freeform 28">
            <a:extLst>
              <a:ext uri="{FF2B5EF4-FFF2-40B4-BE49-F238E27FC236}">
                <a16:creationId xmlns:a16="http://schemas.microsoft.com/office/drawing/2014/main" id="{EB5B1592-568D-4436-476C-91A41BE3FFF1}"/>
              </a:ext>
            </a:extLst>
          </p:cNvPr>
          <p:cNvSpPr/>
          <p:nvPr/>
        </p:nvSpPr>
        <p:spPr>
          <a:xfrm>
            <a:off x="8366205" y="839773"/>
            <a:ext cx="393381" cy="393381"/>
          </a:xfrm>
          <a:custGeom>
            <a:avLst/>
            <a:gdLst/>
            <a:ahLst/>
            <a:cxnLst/>
            <a:rect l="l" t="t" r="r" b="b"/>
            <a:pathLst>
              <a:path w="393381" h="393381">
                <a:moveTo>
                  <a:pt x="0" y="0"/>
                </a:moveTo>
                <a:lnTo>
                  <a:pt x="393381" y="0"/>
                </a:lnTo>
                <a:lnTo>
                  <a:pt x="393381" y="393381"/>
                </a:lnTo>
                <a:lnTo>
                  <a:pt x="0" y="3933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9" name="Group 29">
            <a:extLst>
              <a:ext uri="{FF2B5EF4-FFF2-40B4-BE49-F238E27FC236}">
                <a16:creationId xmlns:a16="http://schemas.microsoft.com/office/drawing/2014/main" id="{741EC26C-0080-8ABE-ACD9-C3C6FAEE539A}"/>
              </a:ext>
            </a:extLst>
          </p:cNvPr>
          <p:cNvGrpSpPr/>
          <p:nvPr/>
        </p:nvGrpSpPr>
        <p:grpSpPr>
          <a:xfrm>
            <a:off x="2663696" y="8336052"/>
            <a:ext cx="5581577" cy="5581577"/>
            <a:chOff x="0" y="0"/>
            <a:chExt cx="812800" cy="812800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863921F7-3608-994A-4049-A1131B215C3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77FD6">
                    <a:alpha val="8000"/>
                  </a:srgbClr>
                </a:gs>
                <a:gs pos="100000">
                  <a:srgbClr val="CBE2FF">
                    <a:alpha val="8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041BDD57-439C-4718-95BB-9E91562F7DC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75" name="TextBox 19">
            <a:extLst>
              <a:ext uri="{FF2B5EF4-FFF2-40B4-BE49-F238E27FC236}">
                <a16:creationId xmlns:a16="http://schemas.microsoft.com/office/drawing/2014/main" id="{CBC62E90-2D13-8734-8C0C-A081AB824865}"/>
              </a:ext>
            </a:extLst>
          </p:cNvPr>
          <p:cNvSpPr txBox="1"/>
          <p:nvPr/>
        </p:nvSpPr>
        <p:spPr>
          <a:xfrm>
            <a:off x="10692331" y="6582905"/>
            <a:ext cx="2430689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ar-EG" sz="4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الحالة المعنوية</a:t>
            </a:r>
            <a:endParaRPr lang="en-US" sz="40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A082551-4CAD-DA4D-E56C-034581998336}"/>
              </a:ext>
            </a:extLst>
          </p:cNvPr>
          <p:cNvGrpSpPr/>
          <p:nvPr/>
        </p:nvGrpSpPr>
        <p:grpSpPr>
          <a:xfrm>
            <a:off x="5491323" y="3436914"/>
            <a:ext cx="12341247" cy="6722550"/>
            <a:chOff x="5491323" y="3436914"/>
            <a:chExt cx="12341247" cy="672255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38FC012-900F-7244-52C4-8069DD8F9DD6}"/>
                </a:ext>
              </a:extLst>
            </p:cNvPr>
            <p:cNvGrpSpPr/>
            <p:nvPr/>
          </p:nvGrpSpPr>
          <p:grpSpPr>
            <a:xfrm>
              <a:off x="14020162" y="3436914"/>
              <a:ext cx="3747312" cy="2368805"/>
              <a:chOff x="7841995" y="3436913"/>
              <a:chExt cx="9621318" cy="5165437"/>
            </a:xfrm>
          </p:grpSpPr>
          <p:grpSp>
            <p:nvGrpSpPr>
              <p:cNvPr id="7" name="Group 7">
                <a:extLst>
                  <a:ext uri="{FF2B5EF4-FFF2-40B4-BE49-F238E27FC236}">
                    <a16:creationId xmlns:a16="http://schemas.microsoft.com/office/drawing/2014/main" id="{3C975D20-3163-232A-FB9A-4524A022E8B8}"/>
                  </a:ext>
                </a:extLst>
              </p:cNvPr>
              <p:cNvGrpSpPr/>
              <p:nvPr/>
            </p:nvGrpSpPr>
            <p:grpSpPr>
              <a:xfrm>
                <a:off x="8046008" y="3726804"/>
                <a:ext cx="9417305" cy="4875546"/>
                <a:chOff x="0" y="0"/>
                <a:chExt cx="1937717" cy="1003199"/>
              </a:xfrm>
            </p:grpSpPr>
            <p:sp>
              <p:nvSpPr>
                <p:cNvPr id="8" name="Freeform 8">
                  <a:extLst>
                    <a:ext uri="{FF2B5EF4-FFF2-40B4-BE49-F238E27FC236}">
                      <a16:creationId xmlns:a16="http://schemas.microsoft.com/office/drawing/2014/main" id="{30851606-9D85-DB42-B4AD-C25D8787081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937717" cy="10031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717" h="1003199">
                      <a:moveTo>
                        <a:pt x="16057" y="0"/>
                      </a:moveTo>
                      <a:lnTo>
                        <a:pt x="1921661" y="0"/>
                      </a:lnTo>
                      <a:cubicBezTo>
                        <a:pt x="1925919" y="0"/>
                        <a:pt x="1930003" y="1692"/>
                        <a:pt x="1933014" y="4703"/>
                      </a:cubicBezTo>
                      <a:cubicBezTo>
                        <a:pt x="1936025" y="7714"/>
                        <a:pt x="1937717" y="11798"/>
                        <a:pt x="1937717" y="16057"/>
                      </a:cubicBezTo>
                      <a:lnTo>
                        <a:pt x="1937717" y="987142"/>
                      </a:lnTo>
                      <a:cubicBezTo>
                        <a:pt x="1937717" y="991401"/>
                        <a:pt x="1936025" y="995485"/>
                        <a:pt x="1933014" y="998496"/>
                      </a:cubicBezTo>
                      <a:cubicBezTo>
                        <a:pt x="1930003" y="1001507"/>
                        <a:pt x="1925919" y="1003199"/>
                        <a:pt x="1921661" y="1003199"/>
                      </a:cubicBezTo>
                      <a:lnTo>
                        <a:pt x="16057" y="1003199"/>
                      </a:lnTo>
                      <a:cubicBezTo>
                        <a:pt x="11798" y="1003199"/>
                        <a:pt x="7714" y="1001507"/>
                        <a:pt x="4703" y="998496"/>
                      </a:cubicBezTo>
                      <a:cubicBezTo>
                        <a:pt x="1692" y="995485"/>
                        <a:pt x="0" y="991401"/>
                        <a:pt x="0" y="987142"/>
                      </a:cubicBezTo>
                      <a:lnTo>
                        <a:pt x="0" y="16057"/>
                      </a:lnTo>
                      <a:cubicBezTo>
                        <a:pt x="0" y="11798"/>
                        <a:pt x="1692" y="7714"/>
                        <a:pt x="4703" y="4703"/>
                      </a:cubicBezTo>
                      <a:cubicBezTo>
                        <a:pt x="7714" y="1692"/>
                        <a:pt x="11798" y="0"/>
                        <a:pt x="16057" y="0"/>
                      </a:cubicBezTo>
                      <a:close/>
                    </a:path>
                  </a:pathLst>
                </a:custGeom>
                <a:solidFill>
                  <a:srgbClr val="4E6C7E"/>
                </a:solidFill>
                <a:ln w="19050" cap="rnd">
                  <a:solidFill>
                    <a:srgbClr val="4383D1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" name="TextBox 9">
                  <a:extLst>
                    <a:ext uri="{FF2B5EF4-FFF2-40B4-BE49-F238E27FC236}">
                      <a16:creationId xmlns:a16="http://schemas.microsoft.com/office/drawing/2014/main" id="{F5662E71-8580-5094-152E-E405E07B4FF8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1937717" cy="1031774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520"/>
                    </a:lnSpc>
                  </a:pPr>
                  <a:endParaRPr/>
                </a:p>
              </p:txBody>
            </p:sp>
          </p:grpSp>
          <p:grpSp>
            <p:nvGrpSpPr>
              <p:cNvPr id="10" name="Group 10">
                <a:extLst>
                  <a:ext uri="{FF2B5EF4-FFF2-40B4-BE49-F238E27FC236}">
                    <a16:creationId xmlns:a16="http://schemas.microsoft.com/office/drawing/2014/main" id="{397C6E4B-04EA-D6DD-3F88-83A3A570FCC3}"/>
                  </a:ext>
                </a:extLst>
              </p:cNvPr>
              <p:cNvGrpSpPr/>
              <p:nvPr/>
            </p:nvGrpSpPr>
            <p:grpSpPr>
              <a:xfrm>
                <a:off x="7841995" y="3436913"/>
                <a:ext cx="9417305" cy="4875546"/>
                <a:chOff x="0" y="0"/>
                <a:chExt cx="1937717" cy="1003199"/>
              </a:xfrm>
            </p:grpSpPr>
            <p:sp>
              <p:nvSpPr>
                <p:cNvPr id="11" name="Freeform 11">
                  <a:extLst>
                    <a:ext uri="{FF2B5EF4-FFF2-40B4-BE49-F238E27FC236}">
                      <a16:creationId xmlns:a16="http://schemas.microsoft.com/office/drawing/2014/main" id="{A1B4CE20-8C34-2131-F6C5-48389226AC5E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937717" cy="10031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717" h="1003199">
                      <a:moveTo>
                        <a:pt x="16057" y="0"/>
                      </a:moveTo>
                      <a:lnTo>
                        <a:pt x="1921661" y="0"/>
                      </a:lnTo>
                      <a:cubicBezTo>
                        <a:pt x="1925919" y="0"/>
                        <a:pt x="1930003" y="1692"/>
                        <a:pt x="1933014" y="4703"/>
                      </a:cubicBezTo>
                      <a:cubicBezTo>
                        <a:pt x="1936025" y="7714"/>
                        <a:pt x="1937717" y="11798"/>
                        <a:pt x="1937717" y="16057"/>
                      </a:cubicBezTo>
                      <a:lnTo>
                        <a:pt x="1937717" y="987142"/>
                      </a:lnTo>
                      <a:cubicBezTo>
                        <a:pt x="1937717" y="991401"/>
                        <a:pt x="1936025" y="995485"/>
                        <a:pt x="1933014" y="998496"/>
                      </a:cubicBezTo>
                      <a:cubicBezTo>
                        <a:pt x="1930003" y="1001507"/>
                        <a:pt x="1925919" y="1003199"/>
                        <a:pt x="1921661" y="1003199"/>
                      </a:cubicBezTo>
                      <a:lnTo>
                        <a:pt x="16057" y="1003199"/>
                      </a:lnTo>
                      <a:cubicBezTo>
                        <a:pt x="11798" y="1003199"/>
                        <a:pt x="7714" y="1001507"/>
                        <a:pt x="4703" y="998496"/>
                      </a:cubicBezTo>
                      <a:cubicBezTo>
                        <a:pt x="1692" y="995485"/>
                        <a:pt x="0" y="991401"/>
                        <a:pt x="0" y="987142"/>
                      </a:cubicBezTo>
                      <a:lnTo>
                        <a:pt x="0" y="16057"/>
                      </a:lnTo>
                      <a:cubicBezTo>
                        <a:pt x="0" y="11798"/>
                        <a:pt x="1692" y="7714"/>
                        <a:pt x="4703" y="4703"/>
                      </a:cubicBezTo>
                      <a:cubicBezTo>
                        <a:pt x="7714" y="1692"/>
                        <a:pt x="11798" y="0"/>
                        <a:pt x="1605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9050" cap="rnd">
                  <a:solidFill>
                    <a:srgbClr val="4383D1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" name="TextBox 12">
                  <a:extLst>
                    <a:ext uri="{FF2B5EF4-FFF2-40B4-BE49-F238E27FC236}">
                      <a16:creationId xmlns:a16="http://schemas.microsoft.com/office/drawing/2014/main" id="{87CDD49F-FA6B-BD03-09DF-00571A88F4E6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1937717" cy="1031774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520"/>
                    </a:lnSpc>
                  </a:pPr>
                  <a:endParaRPr/>
                </a:p>
              </p:txBody>
            </p:sp>
          </p:grpSp>
        </p:grp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BBF64253-A4B3-F052-7C3D-2A5692182898}"/>
                </a:ext>
              </a:extLst>
            </p:cNvPr>
            <p:cNvGrpSpPr/>
            <p:nvPr/>
          </p:nvGrpSpPr>
          <p:grpSpPr>
            <a:xfrm flipH="1">
              <a:off x="17373546" y="4413550"/>
              <a:ext cx="393928" cy="393928"/>
              <a:chOff x="0" y="0"/>
              <a:chExt cx="812800" cy="81280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6D76024F-6DC8-3E3A-A72D-34988A7BCD77}"/>
                  </a:ext>
                </a:extLst>
              </p:cNvPr>
              <p:cNvSpPr/>
              <p:nvPr/>
            </p:nvSpPr>
            <p:spPr>
              <a:xfrm>
                <a:off x="0" y="57562"/>
                <a:ext cx="772097" cy="697677"/>
              </a:xfrm>
              <a:custGeom>
                <a:avLst/>
                <a:gdLst/>
                <a:ahLst/>
                <a:cxnLst/>
                <a:rect l="l" t="t" r="r" b="b"/>
                <a:pathLst>
                  <a:path w="772097" h="697677">
                    <a:moveTo>
                      <a:pt x="743316" y="279354"/>
                    </a:moveTo>
                    <a:lnTo>
                      <a:pt x="475884" y="11922"/>
                    </a:lnTo>
                    <a:cubicBezTo>
                      <a:pt x="464243" y="281"/>
                      <a:pt x="446736" y="-3201"/>
                      <a:pt x="431527" y="3099"/>
                    </a:cubicBezTo>
                    <a:cubicBezTo>
                      <a:pt x="416317" y="9399"/>
                      <a:pt x="406400" y="24241"/>
                      <a:pt x="406400" y="40704"/>
                    </a:cubicBezTo>
                    <a:lnTo>
                      <a:pt x="406400" y="47372"/>
                    </a:lnTo>
                    <a:cubicBezTo>
                      <a:pt x="406400" y="101643"/>
                      <a:pt x="362405" y="145638"/>
                      <a:pt x="308134" y="145638"/>
                    </a:cubicBezTo>
                    <a:lnTo>
                      <a:pt x="98266" y="145638"/>
                    </a:lnTo>
                    <a:cubicBezTo>
                      <a:pt x="43995" y="145638"/>
                      <a:pt x="0" y="189633"/>
                      <a:pt x="0" y="243904"/>
                    </a:cubicBezTo>
                    <a:lnTo>
                      <a:pt x="0" y="453772"/>
                    </a:lnTo>
                    <a:cubicBezTo>
                      <a:pt x="0" y="508043"/>
                      <a:pt x="43995" y="552038"/>
                      <a:pt x="98266" y="552038"/>
                    </a:cubicBezTo>
                    <a:lnTo>
                      <a:pt x="308134" y="552038"/>
                    </a:lnTo>
                    <a:cubicBezTo>
                      <a:pt x="362405" y="552038"/>
                      <a:pt x="406400" y="596033"/>
                      <a:pt x="406400" y="650304"/>
                    </a:cubicBezTo>
                    <a:lnTo>
                      <a:pt x="406400" y="656972"/>
                    </a:lnTo>
                    <a:cubicBezTo>
                      <a:pt x="406400" y="673435"/>
                      <a:pt x="416317" y="688277"/>
                      <a:pt x="431527" y="694577"/>
                    </a:cubicBezTo>
                    <a:cubicBezTo>
                      <a:pt x="446736" y="700877"/>
                      <a:pt x="464243" y="697395"/>
                      <a:pt x="475884" y="685754"/>
                    </a:cubicBezTo>
                    <a:lnTo>
                      <a:pt x="743316" y="418322"/>
                    </a:lnTo>
                    <a:cubicBezTo>
                      <a:pt x="781691" y="379947"/>
                      <a:pt x="781691" y="317729"/>
                      <a:pt x="743316" y="279354"/>
                    </a:cubicBezTo>
                    <a:close/>
                  </a:path>
                </a:pathLst>
              </a:custGeom>
              <a:solidFill>
                <a:srgbClr val="4E6C7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09183801-A9DD-AF9D-0C9C-B3922A513105}"/>
                  </a:ext>
                </a:extLst>
              </p:cNvPr>
              <p:cNvSpPr txBox="1"/>
              <p:nvPr/>
            </p:nvSpPr>
            <p:spPr>
              <a:xfrm>
                <a:off x="0" y="174625"/>
                <a:ext cx="711200" cy="434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251CE3F-704B-4A00-C8F2-6795C5777A50}"/>
                </a:ext>
              </a:extLst>
            </p:cNvPr>
            <p:cNvSpPr txBox="1"/>
            <p:nvPr/>
          </p:nvSpPr>
          <p:spPr>
            <a:xfrm>
              <a:off x="14638743" y="4271961"/>
              <a:ext cx="2430689" cy="6155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 rtl="1"/>
              <a:r>
                <a:rPr lang="ar-EG" sz="400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معرفة الإصابة</a:t>
              </a:r>
              <a:endParaRPr lang="en-US" sz="4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A99EC85-383B-90EB-44C0-7CC55839DC3D}"/>
                </a:ext>
              </a:extLst>
            </p:cNvPr>
            <p:cNvGrpSpPr/>
            <p:nvPr/>
          </p:nvGrpSpPr>
          <p:grpSpPr>
            <a:xfrm>
              <a:off x="6096000" y="7790659"/>
              <a:ext cx="4053409" cy="2368805"/>
              <a:chOff x="7841995" y="3436913"/>
              <a:chExt cx="9621318" cy="5165437"/>
            </a:xfrm>
          </p:grpSpPr>
          <p:grpSp>
            <p:nvGrpSpPr>
              <p:cNvPr id="21" name="Group 7">
                <a:extLst>
                  <a:ext uri="{FF2B5EF4-FFF2-40B4-BE49-F238E27FC236}">
                    <a16:creationId xmlns:a16="http://schemas.microsoft.com/office/drawing/2014/main" id="{8469395F-F330-128C-C6AF-241EA979FC9C}"/>
                  </a:ext>
                </a:extLst>
              </p:cNvPr>
              <p:cNvGrpSpPr/>
              <p:nvPr/>
            </p:nvGrpSpPr>
            <p:grpSpPr>
              <a:xfrm>
                <a:off x="8046008" y="3726804"/>
                <a:ext cx="9417305" cy="4875546"/>
                <a:chOff x="0" y="0"/>
                <a:chExt cx="1937717" cy="1003199"/>
              </a:xfrm>
            </p:grpSpPr>
            <p:sp>
              <p:nvSpPr>
                <p:cNvPr id="38" name="Freeform 8">
                  <a:extLst>
                    <a:ext uri="{FF2B5EF4-FFF2-40B4-BE49-F238E27FC236}">
                      <a16:creationId xmlns:a16="http://schemas.microsoft.com/office/drawing/2014/main" id="{D8F97527-F4F9-BDA7-38C1-8E37ED6C8063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937717" cy="10031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717" h="1003199">
                      <a:moveTo>
                        <a:pt x="16057" y="0"/>
                      </a:moveTo>
                      <a:lnTo>
                        <a:pt x="1921661" y="0"/>
                      </a:lnTo>
                      <a:cubicBezTo>
                        <a:pt x="1925919" y="0"/>
                        <a:pt x="1930003" y="1692"/>
                        <a:pt x="1933014" y="4703"/>
                      </a:cubicBezTo>
                      <a:cubicBezTo>
                        <a:pt x="1936025" y="7714"/>
                        <a:pt x="1937717" y="11798"/>
                        <a:pt x="1937717" y="16057"/>
                      </a:cubicBezTo>
                      <a:lnTo>
                        <a:pt x="1937717" y="987142"/>
                      </a:lnTo>
                      <a:cubicBezTo>
                        <a:pt x="1937717" y="991401"/>
                        <a:pt x="1936025" y="995485"/>
                        <a:pt x="1933014" y="998496"/>
                      </a:cubicBezTo>
                      <a:cubicBezTo>
                        <a:pt x="1930003" y="1001507"/>
                        <a:pt x="1925919" y="1003199"/>
                        <a:pt x="1921661" y="1003199"/>
                      </a:cubicBezTo>
                      <a:lnTo>
                        <a:pt x="16057" y="1003199"/>
                      </a:lnTo>
                      <a:cubicBezTo>
                        <a:pt x="11798" y="1003199"/>
                        <a:pt x="7714" y="1001507"/>
                        <a:pt x="4703" y="998496"/>
                      </a:cubicBezTo>
                      <a:cubicBezTo>
                        <a:pt x="1692" y="995485"/>
                        <a:pt x="0" y="991401"/>
                        <a:pt x="0" y="987142"/>
                      </a:cubicBezTo>
                      <a:lnTo>
                        <a:pt x="0" y="16057"/>
                      </a:lnTo>
                      <a:cubicBezTo>
                        <a:pt x="0" y="11798"/>
                        <a:pt x="1692" y="7714"/>
                        <a:pt x="4703" y="4703"/>
                      </a:cubicBezTo>
                      <a:cubicBezTo>
                        <a:pt x="7714" y="1692"/>
                        <a:pt x="11798" y="0"/>
                        <a:pt x="16057" y="0"/>
                      </a:cubicBezTo>
                      <a:close/>
                    </a:path>
                  </a:pathLst>
                </a:custGeom>
                <a:solidFill>
                  <a:srgbClr val="4E6C7E"/>
                </a:solidFill>
                <a:ln w="19050" cap="rnd">
                  <a:solidFill>
                    <a:srgbClr val="4383D1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" name="TextBox 9">
                  <a:extLst>
                    <a:ext uri="{FF2B5EF4-FFF2-40B4-BE49-F238E27FC236}">
                      <a16:creationId xmlns:a16="http://schemas.microsoft.com/office/drawing/2014/main" id="{53333C5D-8AA9-8B1C-7B1D-BE8697C8AFA5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1937717" cy="1031774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520"/>
                    </a:lnSpc>
                  </a:pPr>
                  <a:endParaRPr/>
                </a:p>
              </p:txBody>
            </p:sp>
          </p:grpSp>
          <p:grpSp>
            <p:nvGrpSpPr>
              <p:cNvPr id="22" name="Group 10">
                <a:extLst>
                  <a:ext uri="{FF2B5EF4-FFF2-40B4-BE49-F238E27FC236}">
                    <a16:creationId xmlns:a16="http://schemas.microsoft.com/office/drawing/2014/main" id="{BFB88787-25C0-ACFB-651C-161BBFD23644}"/>
                  </a:ext>
                </a:extLst>
              </p:cNvPr>
              <p:cNvGrpSpPr/>
              <p:nvPr/>
            </p:nvGrpSpPr>
            <p:grpSpPr>
              <a:xfrm>
                <a:off x="7841995" y="3436913"/>
                <a:ext cx="9417305" cy="4875546"/>
                <a:chOff x="0" y="0"/>
                <a:chExt cx="1937717" cy="1003199"/>
              </a:xfrm>
            </p:grpSpPr>
            <p:sp>
              <p:nvSpPr>
                <p:cNvPr id="23" name="Freeform 11">
                  <a:extLst>
                    <a:ext uri="{FF2B5EF4-FFF2-40B4-BE49-F238E27FC236}">
                      <a16:creationId xmlns:a16="http://schemas.microsoft.com/office/drawing/2014/main" id="{9670680A-6241-EFDB-42D6-D8AEE5C7E29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937717" cy="10031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717" h="1003199">
                      <a:moveTo>
                        <a:pt x="16057" y="0"/>
                      </a:moveTo>
                      <a:lnTo>
                        <a:pt x="1921661" y="0"/>
                      </a:lnTo>
                      <a:cubicBezTo>
                        <a:pt x="1925919" y="0"/>
                        <a:pt x="1930003" y="1692"/>
                        <a:pt x="1933014" y="4703"/>
                      </a:cubicBezTo>
                      <a:cubicBezTo>
                        <a:pt x="1936025" y="7714"/>
                        <a:pt x="1937717" y="11798"/>
                        <a:pt x="1937717" y="16057"/>
                      </a:cubicBezTo>
                      <a:lnTo>
                        <a:pt x="1937717" y="987142"/>
                      </a:lnTo>
                      <a:cubicBezTo>
                        <a:pt x="1937717" y="991401"/>
                        <a:pt x="1936025" y="995485"/>
                        <a:pt x="1933014" y="998496"/>
                      </a:cubicBezTo>
                      <a:cubicBezTo>
                        <a:pt x="1930003" y="1001507"/>
                        <a:pt x="1925919" y="1003199"/>
                        <a:pt x="1921661" y="1003199"/>
                      </a:cubicBezTo>
                      <a:lnTo>
                        <a:pt x="16057" y="1003199"/>
                      </a:lnTo>
                      <a:cubicBezTo>
                        <a:pt x="11798" y="1003199"/>
                        <a:pt x="7714" y="1001507"/>
                        <a:pt x="4703" y="998496"/>
                      </a:cubicBezTo>
                      <a:cubicBezTo>
                        <a:pt x="1692" y="995485"/>
                        <a:pt x="0" y="991401"/>
                        <a:pt x="0" y="987142"/>
                      </a:cubicBezTo>
                      <a:lnTo>
                        <a:pt x="0" y="16057"/>
                      </a:lnTo>
                      <a:cubicBezTo>
                        <a:pt x="0" y="11798"/>
                        <a:pt x="1692" y="7714"/>
                        <a:pt x="4703" y="4703"/>
                      </a:cubicBezTo>
                      <a:cubicBezTo>
                        <a:pt x="7714" y="1692"/>
                        <a:pt x="11798" y="0"/>
                        <a:pt x="1605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9050" cap="rnd">
                  <a:solidFill>
                    <a:srgbClr val="4383D1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" name="TextBox 12">
                  <a:extLst>
                    <a:ext uri="{FF2B5EF4-FFF2-40B4-BE49-F238E27FC236}">
                      <a16:creationId xmlns:a16="http://schemas.microsoft.com/office/drawing/2014/main" id="{79AA6B18-4695-0965-B9CD-F674FCBDF47C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1937717" cy="1031774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520"/>
                    </a:lnSpc>
                  </a:pPr>
                  <a:endParaRPr/>
                </a:p>
              </p:txBody>
            </p:sp>
          </p:grp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D5C3C181-1641-7D5D-22ED-FBFBD30AE49D}"/>
                </a:ext>
              </a:extLst>
            </p:cNvPr>
            <p:cNvGrpSpPr/>
            <p:nvPr/>
          </p:nvGrpSpPr>
          <p:grpSpPr>
            <a:xfrm>
              <a:off x="14085258" y="7748547"/>
              <a:ext cx="3747312" cy="2368805"/>
              <a:chOff x="7841995" y="3436913"/>
              <a:chExt cx="9621318" cy="5165437"/>
            </a:xfrm>
          </p:grpSpPr>
          <p:grpSp>
            <p:nvGrpSpPr>
              <p:cNvPr id="41" name="Group 7">
                <a:extLst>
                  <a:ext uri="{FF2B5EF4-FFF2-40B4-BE49-F238E27FC236}">
                    <a16:creationId xmlns:a16="http://schemas.microsoft.com/office/drawing/2014/main" id="{025B9B95-1A00-AEB2-B501-4DA93ADB6E44}"/>
                  </a:ext>
                </a:extLst>
              </p:cNvPr>
              <p:cNvGrpSpPr/>
              <p:nvPr/>
            </p:nvGrpSpPr>
            <p:grpSpPr>
              <a:xfrm>
                <a:off x="8046008" y="3726804"/>
                <a:ext cx="9417305" cy="4875546"/>
                <a:chOff x="0" y="0"/>
                <a:chExt cx="1937717" cy="1003199"/>
              </a:xfrm>
            </p:grpSpPr>
            <p:sp>
              <p:nvSpPr>
                <p:cNvPr id="45" name="Freeform 8">
                  <a:extLst>
                    <a:ext uri="{FF2B5EF4-FFF2-40B4-BE49-F238E27FC236}">
                      <a16:creationId xmlns:a16="http://schemas.microsoft.com/office/drawing/2014/main" id="{2B7BFE89-45CB-B4B3-62BA-0F92E5F215D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937717" cy="10031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717" h="1003199">
                      <a:moveTo>
                        <a:pt x="16057" y="0"/>
                      </a:moveTo>
                      <a:lnTo>
                        <a:pt x="1921661" y="0"/>
                      </a:lnTo>
                      <a:cubicBezTo>
                        <a:pt x="1925919" y="0"/>
                        <a:pt x="1930003" y="1692"/>
                        <a:pt x="1933014" y="4703"/>
                      </a:cubicBezTo>
                      <a:cubicBezTo>
                        <a:pt x="1936025" y="7714"/>
                        <a:pt x="1937717" y="11798"/>
                        <a:pt x="1937717" y="16057"/>
                      </a:cubicBezTo>
                      <a:lnTo>
                        <a:pt x="1937717" y="987142"/>
                      </a:lnTo>
                      <a:cubicBezTo>
                        <a:pt x="1937717" y="991401"/>
                        <a:pt x="1936025" y="995485"/>
                        <a:pt x="1933014" y="998496"/>
                      </a:cubicBezTo>
                      <a:cubicBezTo>
                        <a:pt x="1930003" y="1001507"/>
                        <a:pt x="1925919" y="1003199"/>
                        <a:pt x="1921661" y="1003199"/>
                      </a:cubicBezTo>
                      <a:lnTo>
                        <a:pt x="16057" y="1003199"/>
                      </a:lnTo>
                      <a:cubicBezTo>
                        <a:pt x="11798" y="1003199"/>
                        <a:pt x="7714" y="1001507"/>
                        <a:pt x="4703" y="998496"/>
                      </a:cubicBezTo>
                      <a:cubicBezTo>
                        <a:pt x="1692" y="995485"/>
                        <a:pt x="0" y="991401"/>
                        <a:pt x="0" y="987142"/>
                      </a:cubicBezTo>
                      <a:lnTo>
                        <a:pt x="0" y="16057"/>
                      </a:lnTo>
                      <a:cubicBezTo>
                        <a:pt x="0" y="11798"/>
                        <a:pt x="1692" y="7714"/>
                        <a:pt x="4703" y="4703"/>
                      </a:cubicBezTo>
                      <a:cubicBezTo>
                        <a:pt x="7714" y="1692"/>
                        <a:pt x="11798" y="0"/>
                        <a:pt x="16057" y="0"/>
                      </a:cubicBezTo>
                      <a:close/>
                    </a:path>
                  </a:pathLst>
                </a:custGeom>
                <a:solidFill>
                  <a:srgbClr val="4E6C7E"/>
                </a:solidFill>
                <a:ln w="19050" cap="rnd">
                  <a:solidFill>
                    <a:srgbClr val="4383D1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" name="TextBox 9">
                  <a:extLst>
                    <a:ext uri="{FF2B5EF4-FFF2-40B4-BE49-F238E27FC236}">
                      <a16:creationId xmlns:a16="http://schemas.microsoft.com/office/drawing/2014/main" id="{6BB9ECA3-A4C6-4EF5-5993-72F995E6F1EC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1937717" cy="1031774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520"/>
                    </a:lnSpc>
                  </a:pPr>
                  <a:endParaRPr/>
                </a:p>
              </p:txBody>
            </p:sp>
          </p:grpSp>
          <p:grpSp>
            <p:nvGrpSpPr>
              <p:cNvPr id="42" name="Group 10">
                <a:extLst>
                  <a:ext uri="{FF2B5EF4-FFF2-40B4-BE49-F238E27FC236}">
                    <a16:creationId xmlns:a16="http://schemas.microsoft.com/office/drawing/2014/main" id="{30817906-6732-DC68-9094-913060F01412}"/>
                  </a:ext>
                </a:extLst>
              </p:cNvPr>
              <p:cNvGrpSpPr/>
              <p:nvPr/>
            </p:nvGrpSpPr>
            <p:grpSpPr>
              <a:xfrm>
                <a:off x="7841995" y="3436913"/>
                <a:ext cx="9417305" cy="4875546"/>
                <a:chOff x="0" y="0"/>
                <a:chExt cx="1937717" cy="1003199"/>
              </a:xfrm>
            </p:grpSpPr>
            <p:sp>
              <p:nvSpPr>
                <p:cNvPr id="43" name="Freeform 11">
                  <a:extLst>
                    <a:ext uri="{FF2B5EF4-FFF2-40B4-BE49-F238E27FC236}">
                      <a16:creationId xmlns:a16="http://schemas.microsoft.com/office/drawing/2014/main" id="{1415566B-7662-A5F5-5B2A-DED849C38A42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937717" cy="10031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717" h="1003199">
                      <a:moveTo>
                        <a:pt x="16057" y="0"/>
                      </a:moveTo>
                      <a:lnTo>
                        <a:pt x="1921661" y="0"/>
                      </a:lnTo>
                      <a:cubicBezTo>
                        <a:pt x="1925919" y="0"/>
                        <a:pt x="1930003" y="1692"/>
                        <a:pt x="1933014" y="4703"/>
                      </a:cubicBezTo>
                      <a:cubicBezTo>
                        <a:pt x="1936025" y="7714"/>
                        <a:pt x="1937717" y="11798"/>
                        <a:pt x="1937717" y="16057"/>
                      </a:cubicBezTo>
                      <a:lnTo>
                        <a:pt x="1937717" y="987142"/>
                      </a:lnTo>
                      <a:cubicBezTo>
                        <a:pt x="1937717" y="991401"/>
                        <a:pt x="1936025" y="995485"/>
                        <a:pt x="1933014" y="998496"/>
                      </a:cubicBezTo>
                      <a:cubicBezTo>
                        <a:pt x="1930003" y="1001507"/>
                        <a:pt x="1925919" y="1003199"/>
                        <a:pt x="1921661" y="1003199"/>
                      </a:cubicBezTo>
                      <a:lnTo>
                        <a:pt x="16057" y="1003199"/>
                      </a:lnTo>
                      <a:cubicBezTo>
                        <a:pt x="11798" y="1003199"/>
                        <a:pt x="7714" y="1001507"/>
                        <a:pt x="4703" y="998496"/>
                      </a:cubicBezTo>
                      <a:cubicBezTo>
                        <a:pt x="1692" y="995485"/>
                        <a:pt x="0" y="991401"/>
                        <a:pt x="0" y="987142"/>
                      </a:cubicBezTo>
                      <a:lnTo>
                        <a:pt x="0" y="16057"/>
                      </a:lnTo>
                      <a:cubicBezTo>
                        <a:pt x="0" y="11798"/>
                        <a:pt x="1692" y="7714"/>
                        <a:pt x="4703" y="4703"/>
                      </a:cubicBezTo>
                      <a:cubicBezTo>
                        <a:pt x="7714" y="1692"/>
                        <a:pt x="11798" y="0"/>
                        <a:pt x="1605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9050" cap="rnd">
                  <a:solidFill>
                    <a:srgbClr val="4383D1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" name="TextBox 12">
                  <a:extLst>
                    <a:ext uri="{FF2B5EF4-FFF2-40B4-BE49-F238E27FC236}">
                      <a16:creationId xmlns:a16="http://schemas.microsoft.com/office/drawing/2014/main" id="{BE1E34B9-2F1E-EF7D-B1A9-AEE19330B8B9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1937717" cy="1031774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520"/>
                    </a:lnSpc>
                  </a:pPr>
                  <a:endParaRPr/>
                </a:p>
              </p:txBody>
            </p:sp>
          </p:grp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D2617D77-69B6-0506-A968-838C8C93038C}"/>
                </a:ext>
              </a:extLst>
            </p:cNvPr>
            <p:cNvGrpSpPr/>
            <p:nvPr/>
          </p:nvGrpSpPr>
          <p:grpSpPr>
            <a:xfrm>
              <a:off x="6096000" y="3493649"/>
              <a:ext cx="4026726" cy="2368805"/>
              <a:chOff x="7841995" y="3436913"/>
              <a:chExt cx="9621318" cy="5165437"/>
            </a:xfrm>
          </p:grpSpPr>
          <p:grpSp>
            <p:nvGrpSpPr>
              <p:cNvPr id="48" name="Group 7">
                <a:extLst>
                  <a:ext uri="{FF2B5EF4-FFF2-40B4-BE49-F238E27FC236}">
                    <a16:creationId xmlns:a16="http://schemas.microsoft.com/office/drawing/2014/main" id="{FC364736-6E4A-57CA-44C5-F469DB8E7D1D}"/>
                  </a:ext>
                </a:extLst>
              </p:cNvPr>
              <p:cNvGrpSpPr/>
              <p:nvPr/>
            </p:nvGrpSpPr>
            <p:grpSpPr>
              <a:xfrm>
                <a:off x="8046008" y="3726804"/>
                <a:ext cx="9417305" cy="4875546"/>
                <a:chOff x="0" y="0"/>
                <a:chExt cx="1937717" cy="1003199"/>
              </a:xfrm>
            </p:grpSpPr>
            <p:sp>
              <p:nvSpPr>
                <p:cNvPr id="52" name="Freeform 8">
                  <a:extLst>
                    <a:ext uri="{FF2B5EF4-FFF2-40B4-BE49-F238E27FC236}">
                      <a16:creationId xmlns:a16="http://schemas.microsoft.com/office/drawing/2014/main" id="{CD97ADA0-27BC-70D9-CE51-1E998C4228B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937717" cy="10031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717" h="1003199">
                      <a:moveTo>
                        <a:pt x="16057" y="0"/>
                      </a:moveTo>
                      <a:lnTo>
                        <a:pt x="1921661" y="0"/>
                      </a:lnTo>
                      <a:cubicBezTo>
                        <a:pt x="1925919" y="0"/>
                        <a:pt x="1930003" y="1692"/>
                        <a:pt x="1933014" y="4703"/>
                      </a:cubicBezTo>
                      <a:cubicBezTo>
                        <a:pt x="1936025" y="7714"/>
                        <a:pt x="1937717" y="11798"/>
                        <a:pt x="1937717" y="16057"/>
                      </a:cubicBezTo>
                      <a:lnTo>
                        <a:pt x="1937717" y="987142"/>
                      </a:lnTo>
                      <a:cubicBezTo>
                        <a:pt x="1937717" y="991401"/>
                        <a:pt x="1936025" y="995485"/>
                        <a:pt x="1933014" y="998496"/>
                      </a:cubicBezTo>
                      <a:cubicBezTo>
                        <a:pt x="1930003" y="1001507"/>
                        <a:pt x="1925919" y="1003199"/>
                        <a:pt x="1921661" y="1003199"/>
                      </a:cubicBezTo>
                      <a:lnTo>
                        <a:pt x="16057" y="1003199"/>
                      </a:lnTo>
                      <a:cubicBezTo>
                        <a:pt x="11798" y="1003199"/>
                        <a:pt x="7714" y="1001507"/>
                        <a:pt x="4703" y="998496"/>
                      </a:cubicBezTo>
                      <a:cubicBezTo>
                        <a:pt x="1692" y="995485"/>
                        <a:pt x="0" y="991401"/>
                        <a:pt x="0" y="987142"/>
                      </a:cubicBezTo>
                      <a:lnTo>
                        <a:pt x="0" y="16057"/>
                      </a:lnTo>
                      <a:cubicBezTo>
                        <a:pt x="0" y="11798"/>
                        <a:pt x="1692" y="7714"/>
                        <a:pt x="4703" y="4703"/>
                      </a:cubicBezTo>
                      <a:cubicBezTo>
                        <a:pt x="7714" y="1692"/>
                        <a:pt x="11798" y="0"/>
                        <a:pt x="16057" y="0"/>
                      </a:cubicBezTo>
                      <a:close/>
                    </a:path>
                  </a:pathLst>
                </a:custGeom>
                <a:solidFill>
                  <a:srgbClr val="4E6C7E"/>
                </a:solidFill>
                <a:ln w="19050" cap="rnd">
                  <a:solidFill>
                    <a:srgbClr val="4383D1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" name="TextBox 9">
                  <a:extLst>
                    <a:ext uri="{FF2B5EF4-FFF2-40B4-BE49-F238E27FC236}">
                      <a16:creationId xmlns:a16="http://schemas.microsoft.com/office/drawing/2014/main" id="{C629B642-7EA4-21E6-7328-94A031B0644C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1937717" cy="1031774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520"/>
                    </a:lnSpc>
                  </a:pPr>
                  <a:endParaRPr/>
                </a:p>
              </p:txBody>
            </p:sp>
          </p:grpSp>
          <p:grpSp>
            <p:nvGrpSpPr>
              <p:cNvPr id="49" name="Group 10">
                <a:extLst>
                  <a:ext uri="{FF2B5EF4-FFF2-40B4-BE49-F238E27FC236}">
                    <a16:creationId xmlns:a16="http://schemas.microsoft.com/office/drawing/2014/main" id="{282974F8-80E3-D827-662C-0409B66D19DC}"/>
                  </a:ext>
                </a:extLst>
              </p:cNvPr>
              <p:cNvGrpSpPr/>
              <p:nvPr/>
            </p:nvGrpSpPr>
            <p:grpSpPr>
              <a:xfrm>
                <a:off x="7841995" y="3436913"/>
                <a:ext cx="9417305" cy="4875546"/>
                <a:chOff x="0" y="0"/>
                <a:chExt cx="1937717" cy="1003199"/>
              </a:xfrm>
            </p:grpSpPr>
            <p:sp>
              <p:nvSpPr>
                <p:cNvPr id="50" name="Freeform 11">
                  <a:extLst>
                    <a:ext uri="{FF2B5EF4-FFF2-40B4-BE49-F238E27FC236}">
                      <a16:creationId xmlns:a16="http://schemas.microsoft.com/office/drawing/2014/main" id="{08A718BB-2282-A601-8D7D-9B0742A9963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937717" cy="10031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717" h="1003199">
                      <a:moveTo>
                        <a:pt x="16057" y="0"/>
                      </a:moveTo>
                      <a:lnTo>
                        <a:pt x="1921661" y="0"/>
                      </a:lnTo>
                      <a:cubicBezTo>
                        <a:pt x="1925919" y="0"/>
                        <a:pt x="1930003" y="1692"/>
                        <a:pt x="1933014" y="4703"/>
                      </a:cubicBezTo>
                      <a:cubicBezTo>
                        <a:pt x="1936025" y="7714"/>
                        <a:pt x="1937717" y="11798"/>
                        <a:pt x="1937717" y="16057"/>
                      </a:cubicBezTo>
                      <a:lnTo>
                        <a:pt x="1937717" y="987142"/>
                      </a:lnTo>
                      <a:cubicBezTo>
                        <a:pt x="1937717" y="991401"/>
                        <a:pt x="1936025" y="995485"/>
                        <a:pt x="1933014" y="998496"/>
                      </a:cubicBezTo>
                      <a:cubicBezTo>
                        <a:pt x="1930003" y="1001507"/>
                        <a:pt x="1925919" y="1003199"/>
                        <a:pt x="1921661" y="1003199"/>
                      </a:cubicBezTo>
                      <a:lnTo>
                        <a:pt x="16057" y="1003199"/>
                      </a:lnTo>
                      <a:cubicBezTo>
                        <a:pt x="11798" y="1003199"/>
                        <a:pt x="7714" y="1001507"/>
                        <a:pt x="4703" y="998496"/>
                      </a:cubicBezTo>
                      <a:cubicBezTo>
                        <a:pt x="1692" y="995485"/>
                        <a:pt x="0" y="991401"/>
                        <a:pt x="0" y="987142"/>
                      </a:cubicBezTo>
                      <a:lnTo>
                        <a:pt x="0" y="16057"/>
                      </a:lnTo>
                      <a:cubicBezTo>
                        <a:pt x="0" y="11798"/>
                        <a:pt x="1692" y="7714"/>
                        <a:pt x="4703" y="4703"/>
                      </a:cubicBezTo>
                      <a:cubicBezTo>
                        <a:pt x="7714" y="1692"/>
                        <a:pt x="11798" y="0"/>
                        <a:pt x="1605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9050" cap="rnd">
                  <a:solidFill>
                    <a:srgbClr val="4383D1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" name="TextBox 12">
                  <a:extLst>
                    <a:ext uri="{FF2B5EF4-FFF2-40B4-BE49-F238E27FC236}">
                      <a16:creationId xmlns:a16="http://schemas.microsoft.com/office/drawing/2014/main" id="{D0260B23-67E1-9782-8052-45697D5C99BA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1937717" cy="1031774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520"/>
                    </a:lnSpc>
                  </a:pPr>
                  <a:endParaRPr/>
                </a:p>
              </p:txBody>
            </p:sp>
          </p:grp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A9C0397F-CCAA-CF23-884A-1476F0FC30F8}"/>
                </a:ext>
              </a:extLst>
            </p:cNvPr>
            <p:cNvGrpSpPr/>
            <p:nvPr/>
          </p:nvGrpSpPr>
          <p:grpSpPr>
            <a:xfrm>
              <a:off x="10203948" y="5772750"/>
              <a:ext cx="3747312" cy="2368805"/>
              <a:chOff x="7841995" y="3436913"/>
              <a:chExt cx="9621318" cy="5165437"/>
            </a:xfrm>
          </p:grpSpPr>
          <p:grpSp>
            <p:nvGrpSpPr>
              <p:cNvPr id="55" name="Group 7">
                <a:extLst>
                  <a:ext uri="{FF2B5EF4-FFF2-40B4-BE49-F238E27FC236}">
                    <a16:creationId xmlns:a16="http://schemas.microsoft.com/office/drawing/2014/main" id="{A4F9A6A6-4024-1750-7991-29E1CB28B58C}"/>
                  </a:ext>
                </a:extLst>
              </p:cNvPr>
              <p:cNvGrpSpPr/>
              <p:nvPr/>
            </p:nvGrpSpPr>
            <p:grpSpPr>
              <a:xfrm>
                <a:off x="8046008" y="3726804"/>
                <a:ext cx="9417305" cy="4875546"/>
                <a:chOff x="0" y="0"/>
                <a:chExt cx="1937717" cy="1003199"/>
              </a:xfrm>
            </p:grpSpPr>
            <p:sp>
              <p:nvSpPr>
                <p:cNvPr id="59" name="Freeform 8">
                  <a:extLst>
                    <a:ext uri="{FF2B5EF4-FFF2-40B4-BE49-F238E27FC236}">
                      <a16:creationId xmlns:a16="http://schemas.microsoft.com/office/drawing/2014/main" id="{F1B497D0-4F79-A6A5-0FE1-6A777F2B41D3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937717" cy="10031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717" h="1003199">
                      <a:moveTo>
                        <a:pt x="16057" y="0"/>
                      </a:moveTo>
                      <a:lnTo>
                        <a:pt x="1921661" y="0"/>
                      </a:lnTo>
                      <a:cubicBezTo>
                        <a:pt x="1925919" y="0"/>
                        <a:pt x="1930003" y="1692"/>
                        <a:pt x="1933014" y="4703"/>
                      </a:cubicBezTo>
                      <a:cubicBezTo>
                        <a:pt x="1936025" y="7714"/>
                        <a:pt x="1937717" y="11798"/>
                        <a:pt x="1937717" y="16057"/>
                      </a:cubicBezTo>
                      <a:lnTo>
                        <a:pt x="1937717" y="987142"/>
                      </a:lnTo>
                      <a:cubicBezTo>
                        <a:pt x="1937717" y="991401"/>
                        <a:pt x="1936025" y="995485"/>
                        <a:pt x="1933014" y="998496"/>
                      </a:cubicBezTo>
                      <a:cubicBezTo>
                        <a:pt x="1930003" y="1001507"/>
                        <a:pt x="1925919" y="1003199"/>
                        <a:pt x="1921661" y="1003199"/>
                      </a:cubicBezTo>
                      <a:lnTo>
                        <a:pt x="16057" y="1003199"/>
                      </a:lnTo>
                      <a:cubicBezTo>
                        <a:pt x="11798" y="1003199"/>
                        <a:pt x="7714" y="1001507"/>
                        <a:pt x="4703" y="998496"/>
                      </a:cubicBezTo>
                      <a:cubicBezTo>
                        <a:pt x="1692" y="995485"/>
                        <a:pt x="0" y="991401"/>
                        <a:pt x="0" y="987142"/>
                      </a:cubicBezTo>
                      <a:lnTo>
                        <a:pt x="0" y="16057"/>
                      </a:lnTo>
                      <a:cubicBezTo>
                        <a:pt x="0" y="11798"/>
                        <a:pt x="1692" y="7714"/>
                        <a:pt x="4703" y="4703"/>
                      </a:cubicBezTo>
                      <a:cubicBezTo>
                        <a:pt x="7714" y="1692"/>
                        <a:pt x="11798" y="0"/>
                        <a:pt x="16057" y="0"/>
                      </a:cubicBezTo>
                      <a:close/>
                    </a:path>
                  </a:pathLst>
                </a:custGeom>
                <a:solidFill>
                  <a:srgbClr val="4E6C7E"/>
                </a:solidFill>
                <a:ln w="19050" cap="rnd">
                  <a:solidFill>
                    <a:srgbClr val="4383D1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" name="TextBox 9">
                  <a:extLst>
                    <a:ext uri="{FF2B5EF4-FFF2-40B4-BE49-F238E27FC236}">
                      <a16:creationId xmlns:a16="http://schemas.microsoft.com/office/drawing/2014/main" id="{286D38BA-7EE0-7FC5-F91C-FA7FCC1D593A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1937717" cy="1031774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520"/>
                    </a:lnSpc>
                  </a:pPr>
                  <a:endParaRPr/>
                </a:p>
              </p:txBody>
            </p:sp>
          </p:grpSp>
          <p:grpSp>
            <p:nvGrpSpPr>
              <p:cNvPr id="56" name="Group 10">
                <a:extLst>
                  <a:ext uri="{FF2B5EF4-FFF2-40B4-BE49-F238E27FC236}">
                    <a16:creationId xmlns:a16="http://schemas.microsoft.com/office/drawing/2014/main" id="{7D14AD0A-562B-F357-2417-BFAC5B46FD5B}"/>
                  </a:ext>
                </a:extLst>
              </p:cNvPr>
              <p:cNvGrpSpPr/>
              <p:nvPr/>
            </p:nvGrpSpPr>
            <p:grpSpPr>
              <a:xfrm>
                <a:off x="7841995" y="3436913"/>
                <a:ext cx="9417305" cy="4875546"/>
                <a:chOff x="0" y="0"/>
                <a:chExt cx="1937717" cy="1003199"/>
              </a:xfrm>
            </p:grpSpPr>
            <p:sp>
              <p:nvSpPr>
                <p:cNvPr id="57" name="Freeform 11">
                  <a:extLst>
                    <a:ext uri="{FF2B5EF4-FFF2-40B4-BE49-F238E27FC236}">
                      <a16:creationId xmlns:a16="http://schemas.microsoft.com/office/drawing/2014/main" id="{CC6ADD7C-2A62-7E33-C3D3-A39E5E6C42A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937717" cy="10031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717" h="1003199">
                      <a:moveTo>
                        <a:pt x="16057" y="0"/>
                      </a:moveTo>
                      <a:lnTo>
                        <a:pt x="1921661" y="0"/>
                      </a:lnTo>
                      <a:cubicBezTo>
                        <a:pt x="1925919" y="0"/>
                        <a:pt x="1930003" y="1692"/>
                        <a:pt x="1933014" y="4703"/>
                      </a:cubicBezTo>
                      <a:cubicBezTo>
                        <a:pt x="1936025" y="7714"/>
                        <a:pt x="1937717" y="11798"/>
                        <a:pt x="1937717" y="16057"/>
                      </a:cubicBezTo>
                      <a:lnTo>
                        <a:pt x="1937717" y="987142"/>
                      </a:lnTo>
                      <a:cubicBezTo>
                        <a:pt x="1937717" y="991401"/>
                        <a:pt x="1936025" y="995485"/>
                        <a:pt x="1933014" y="998496"/>
                      </a:cubicBezTo>
                      <a:cubicBezTo>
                        <a:pt x="1930003" y="1001507"/>
                        <a:pt x="1925919" y="1003199"/>
                        <a:pt x="1921661" y="1003199"/>
                      </a:cubicBezTo>
                      <a:lnTo>
                        <a:pt x="16057" y="1003199"/>
                      </a:lnTo>
                      <a:cubicBezTo>
                        <a:pt x="11798" y="1003199"/>
                        <a:pt x="7714" y="1001507"/>
                        <a:pt x="4703" y="998496"/>
                      </a:cubicBezTo>
                      <a:cubicBezTo>
                        <a:pt x="1692" y="995485"/>
                        <a:pt x="0" y="991401"/>
                        <a:pt x="0" y="987142"/>
                      </a:cubicBezTo>
                      <a:lnTo>
                        <a:pt x="0" y="16057"/>
                      </a:lnTo>
                      <a:cubicBezTo>
                        <a:pt x="0" y="11798"/>
                        <a:pt x="1692" y="7714"/>
                        <a:pt x="4703" y="4703"/>
                      </a:cubicBezTo>
                      <a:cubicBezTo>
                        <a:pt x="7714" y="1692"/>
                        <a:pt x="11798" y="0"/>
                        <a:pt x="1605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9050" cap="rnd">
                  <a:solidFill>
                    <a:srgbClr val="4383D1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8" name="TextBox 12">
                  <a:extLst>
                    <a:ext uri="{FF2B5EF4-FFF2-40B4-BE49-F238E27FC236}">
                      <a16:creationId xmlns:a16="http://schemas.microsoft.com/office/drawing/2014/main" id="{EB2E3E46-782B-BA19-B417-22998E9AFD7B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1937717" cy="1031774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520"/>
                    </a:lnSpc>
                  </a:pPr>
                  <a:endParaRPr/>
                </a:p>
              </p:txBody>
            </p:sp>
          </p:grpSp>
        </p:grpSp>
        <p:grpSp>
          <p:nvGrpSpPr>
            <p:cNvPr id="61" name="Group 13">
              <a:extLst>
                <a:ext uri="{FF2B5EF4-FFF2-40B4-BE49-F238E27FC236}">
                  <a16:creationId xmlns:a16="http://schemas.microsoft.com/office/drawing/2014/main" id="{D6BD50FB-3E0E-A6E6-923F-A433DFA05556}"/>
                </a:ext>
              </a:extLst>
            </p:cNvPr>
            <p:cNvGrpSpPr/>
            <p:nvPr/>
          </p:nvGrpSpPr>
          <p:grpSpPr>
            <a:xfrm flipH="1">
              <a:off x="9714850" y="4410672"/>
              <a:ext cx="393928" cy="393928"/>
              <a:chOff x="0" y="0"/>
              <a:chExt cx="812800" cy="812800"/>
            </a:xfrm>
          </p:grpSpPr>
          <p:sp>
            <p:nvSpPr>
              <p:cNvPr id="62" name="Freeform 14">
                <a:extLst>
                  <a:ext uri="{FF2B5EF4-FFF2-40B4-BE49-F238E27FC236}">
                    <a16:creationId xmlns:a16="http://schemas.microsoft.com/office/drawing/2014/main" id="{9B3893C7-CE33-9932-6393-11231316B6C4}"/>
                  </a:ext>
                </a:extLst>
              </p:cNvPr>
              <p:cNvSpPr/>
              <p:nvPr/>
            </p:nvSpPr>
            <p:spPr>
              <a:xfrm>
                <a:off x="0" y="57562"/>
                <a:ext cx="772097" cy="697677"/>
              </a:xfrm>
              <a:custGeom>
                <a:avLst/>
                <a:gdLst/>
                <a:ahLst/>
                <a:cxnLst/>
                <a:rect l="l" t="t" r="r" b="b"/>
                <a:pathLst>
                  <a:path w="772097" h="697677">
                    <a:moveTo>
                      <a:pt x="743316" y="279354"/>
                    </a:moveTo>
                    <a:lnTo>
                      <a:pt x="475884" y="11922"/>
                    </a:lnTo>
                    <a:cubicBezTo>
                      <a:pt x="464243" y="281"/>
                      <a:pt x="446736" y="-3201"/>
                      <a:pt x="431527" y="3099"/>
                    </a:cubicBezTo>
                    <a:cubicBezTo>
                      <a:pt x="416317" y="9399"/>
                      <a:pt x="406400" y="24241"/>
                      <a:pt x="406400" y="40704"/>
                    </a:cubicBezTo>
                    <a:lnTo>
                      <a:pt x="406400" y="47372"/>
                    </a:lnTo>
                    <a:cubicBezTo>
                      <a:pt x="406400" y="101643"/>
                      <a:pt x="362405" y="145638"/>
                      <a:pt x="308134" y="145638"/>
                    </a:cubicBezTo>
                    <a:lnTo>
                      <a:pt x="98266" y="145638"/>
                    </a:lnTo>
                    <a:cubicBezTo>
                      <a:pt x="43995" y="145638"/>
                      <a:pt x="0" y="189633"/>
                      <a:pt x="0" y="243904"/>
                    </a:cubicBezTo>
                    <a:lnTo>
                      <a:pt x="0" y="453772"/>
                    </a:lnTo>
                    <a:cubicBezTo>
                      <a:pt x="0" y="508043"/>
                      <a:pt x="43995" y="552038"/>
                      <a:pt x="98266" y="552038"/>
                    </a:cubicBezTo>
                    <a:lnTo>
                      <a:pt x="308134" y="552038"/>
                    </a:lnTo>
                    <a:cubicBezTo>
                      <a:pt x="362405" y="552038"/>
                      <a:pt x="406400" y="596033"/>
                      <a:pt x="406400" y="650304"/>
                    </a:cubicBezTo>
                    <a:lnTo>
                      <a:pt x="406400" y="656972"/>
                    </a:lnTo>
                    <a:cubicBezTo>
                      <a:pt x="406400" y="673435"/>
                      <a:pt x="416317" y="688277"/>
                      <a:pt x="431527" y="694577"/>
                    </a:cubicBezTo>
                    <a:cubicBezTo>
                      <a:pt x="446736" y="700877"/>
                      <a:pt x="464243" y="697395"/>
                      <a:pt x="475884" y="685754"/>
                    </a:cubicBezTo>
                    <a:lnTo>
                      <a:pt x="743316" y="418322"/>
                    </a:lnTo>
                    <a:cubicBezTo>
                      <a:pt x="781691" y="379947"/>
                      <a:pt x="781691" y="317729"/>
                      <a:pt x="743316" y="279354"/>
                    </a:cubicBezTo>
                    <a:close/>
                  </a:path>
                </a:pathLst>
              </a:custGeom>
              <a:solidFill>
                <a:srgbClr val="4E6C7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TextBox 15">
                <a:extLst>
                  <a:ext uri="{FF2B5EF4-FFF2-40B4-BE49-F238E27FC236}">
                    <a16:creationId xmlns:a16="http://schemas.microsoft.com/office/drawing/2014/main" id="{BAB93D97-68CC-0A85-23ED-6A557EC3A3F9}"/>
                  </a:ext>
                </a:extLst>
              </p:cNvPr>
              <p:cNvSpPr txBox="1"/>
              <p:nvPr/>
            </p:nvSpPr>
            <p:spPr>
              <a:xfrm>
                <a:off x="0" y="174625"/>
                <a:ext cx="711200" cy="434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grpSp>
          <p:nvGrpSpPr>
            <p:cNvPr id="64" name="Group 13">
              <a:extLst>
                <a:ext uri="{FF2B5EF4-FFF2-40B4-BE49-F238E27FC236}">
                  <a16:creationId xmlns:a16="http://schemas.microsoft.com/office/drawing/2014/main" id="{513D1BA9-CF46-55C8-3F77-2B9C9ECB2573}"/>
                </a:ext>
              </a:extLst>
            </p:cNvPr>
            <p:cNvGrpSpPr/>
            <p:nvPr/>
          </p:nvGrpSpPr>
          <p:grpSpPr>
            <a:xfrm flipH="1">
              <a:off x="13531944" y="6693717"/>
              <a:ext cx="393928" cy="393928"/>
              <a:chOff x="0" y="0"/>
              <a:chExt cx="812800" cy="812800"/>
            </a:xfrm>
          </p:grpSpPr>
          <p:sp>
            <p:nvSpPr>
              <p:cNvPr id="65" name="Freeform 14">
                <a:extLst>
                  <a:ext uri="{FF2B5EF4-FFF2-40B4-BE49-F238E27FC236}">
                    <a16:creationId xmlns:a16="http://schemas.microsoft.com/office/drawing/2014/main" id="{12B9A022-85F0-83C8-AFC8-3B7BEF8B03FF}"/>
                  </a:ext>
                </a:extLst>
              </p:cNvPr>
              <p:cNvSpPr/>
              <p:nvPr/>
            </p:nvSpPr>
            <p:spPr>
              <a:xfrm>
                <a:off x="0" y="57562"/>
                <a:ext cx="772097" cy="697677"/>
              </a:xfrm>
              <a:custGeom>
                <a:avLst/>
                <a:gdLst/>
                <a:ahLst/>
                <a:cxnLst/>
                <a:rect l="l" t="t" r="r" b="b"/>
                <a:pathLst>
                  <a:path w="772097" h="697677">
                    <a:moveTo>
                      <a:pt x="743316" y="279354"/>
                    </a:moveTo>
                    <a:lnTo>
                      <a:pt x="475884" y="11922"/>
                    </a:lnTo>
                    <a:cubicBezTo>
                      <a:pt x="464243" y="281"/>
                      <a:pt x="446736" y="-3201"/>
                      <a:pt x="431527" y="3099"/>
                    </a:cubicBezTo>
                    <a:cubicBezTo>
                      <a:pt x="416317" y="9399"/>
                      <a:pt x="406400" y="24241"/>
                      <a:pt x="406400" y="40704"/>
                    </a:cubicBezTo>
                    <a:lnTo>
                      <a:pt x="406400" y="47372"/>
                    </a:lnTo>
                    <a:cubicBezTo>
                      <a:pt x="406400" y="101643"/>
                      <a:pt x="362405" y="145638"/>
                      <a:pt x="308134" y="145638"/>
                    </a:cubicBezTo>
                    <a:lnTo>
                      <a:pt x="98266" y="145638"/>
                    </a:lnTo>
                    <a:cubicBezTo>
                      <a:pt x="43995" y="145638"/>
                      <a:pt x="0" y="189633"/>
                      <a:pt x="0" y="243904"/>
                    </a:cubicBezTo>
                    <a:lnTo>
                      <a:pt x="0" y="453772"/>
                    </a:lnTo>
                    <a:cubicBezTo>
                      <a:pt x="0" y="508043"/>
                      <a:pt x="43995" y="552038"/>
                      <a:pt x="98266" y="552038"/>
                    </a:cubicBezTo>
                    <a:lnTo>
                      <a:pt x="308134" y="552038"/>
                    </a:lnTo>
                    <a:cubicBezTo>
                      <a:pt x="362405" y="552038"/>
                      <a:pt x="406400" y="596033"/>
                      <a:pt x="406400" y="650304"/>
                    </a:cubicBezTo>
                    <a:lnTo>
                      <a:pt x="406400" y="656972"/>
                    </a:lnTo>
                    <a:cubicBezTo>
                      <a:pt x="406400" y="673435"/>
                      <a:pt x="416317" y="688277"/>
                      <a:pt x="431527" y="694577"/>
                    </a:cubicBezTo>
                    <a:cubicBezTo>
                      <a:pt x="446736" y="700877"/>
                      <a:pt x="464243" y="697395"/>
                      <a:pt x="475884" y="685754"/>
                    </a:cubicBezTo>
                    <a:lnTo>
                      <a:pt x="743316" y="418322"/>
                    </a:lnTo>
                    <a:cubicBezTo>
                      <a:pt x="781691" y="379947"/>
                      <a:pt x="781691" y="317729"/>
                      <a:pt x="743316" y="279354"/>
                    </a:cubicBezTo>
                    <a:close/>
                  </a:path>
                </a:pathLst>
              </a:custGeom>
              <a:solidFill>
                <a:srgbClr val="4E6C7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TextBox 15">
                <a:extLst>
                  <a:ext uri="{FF2B5EF4-FFF2-40B4-BE49-F238E27FC236}">
                    <a16:creationId xmlns:a16="http://schemas.microsoft.com/office/drawing/2014/main" id="{CD659C6B-86FB-226E-9D5F-5F7606A06265}"/>
                  </a:ext>
                </a:extLst>
              </p:cNvPr>
              <p:cNvSpPr txBox="1"/>
              <p:nvPr/>
            </p:nvSpPr>
            <p:spPr>
              <a:xfrm>
                <a:off x="0" y="174625"/>
                <a:ext cx="711200" cy="434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grpSp>
          <p:nvGrpSpPr>
            <p:cNvPr id="67" name="Group 13">
              <a:extLst>
                <a:ext uri="{FF2B5EF4-FFF2-40B4-BE49-F238E27FC236}">
                  <a16:creationId xmlns:a16="http://schemas.microsoft.com/office/drawing/2014/main" id="{C9645F1C-143D-0E2D-5124-DFB982C9676C}"/>
                </a:ext>
              </a:extLst>
            </p:cNvPr>
            <p:cNvGrpSpPr/>
            <p:nvPr/>
          </p:nvGrpSpPr>
          <p:grpSpPr>
            <a:xfrm flipH="1">
              <a:off x="17390744" y="8679784"/>
              <a:ext cx="393928" cy="393928"/>
              <a:chOff x="0" y="0"/>
              <a:chExt cx="812800" cy="812800"/>
            </a:xfrm>
          </p:grpSpPr>
          <p:sp>
            <p:nvSpPr>
              <p:cNvPr id="68" name="Freeform 14">
                <a:extLst>
                  <a:ext uri="{FF2B5EF4-FFF2-40B4-BE49-F238E27FC236}">
                    <a16:creationId xmlns:a16="http://schemas.microsoft.com/office/drawing/2014/main" id="{9F97C762-EEF3-DFBB-E5E6-7202164A03D0}"/>
                  </a:ext>
                </a:extLst>
              </p:cNvPr>
              <p:cNvSpPr/>
              <p:nvPr/>
            </p:nvSpPr>
            <p:spPr>
              <a:xfrm>
                <a:off x="0" y="57562"/>
                <a:ext cx="772097" cy="697677"/>
              </a:xfrm>
              <a:custGeom>
                <a:avLst/>
                <a:gdLst/>
                <a:ahLst/>
                <a:cxnLst/>
                <a:rect l="l" t="t" r="r" b="b"/>
                <a:pathLst>
                  <a:path w="772097" h="697677">
                    <a:moveTo>
                      <a:pt x="743316" y="279354"/>
                    </a:moveTo>
                    <a:lnTo>
                      <a:pt x="475884" y="11922"/>
                    </a:lnTo>
                    <a:cubicBezTo>
                      <a:pt x="464243" y="281"/>
                      <a:pt x="446736" y="-3201"/>
                      <a:pt x="431527" y="3099"/>
                    </a:cubicBezTo>
                    <a:cubicBezTo>
                      <a:pt x="416317" y="9399"/>
                      <a:pt x="406400" y="24241"/>
                      <a:pt x="406400" y="40704"/>
                    </a:cubicBezTo>
                    <a:lnTo>
                      <a:pt x="406400" y="47372"/>
                    </a:lnTo>
                    <a:cubicBezTo>
                      <a:pt x="406400" y="101643"/>
                      <a:pt x="362405" y="145638"/>
                      <a:pt x="308134" y="145638"/>
                    </a:cubicBezTo>
                    <a:lnTo>
                      <a:pt x="98266" y="145638"/>
                    </a:lnTo>
                    <a:cubicBezTo>
                      <a:pt x="43995" y="145638"/>
                      <a:pt x="0" y="189633"/>
                      <a:pt x="0" y="243904"/>
                    </a:cubicBezTo>
                    <a:lnTo>
                      <a:pt x="0" y="453772"/>
                    </a:lnTo>
                    <a:cubicBezTo>
                      <a:pt x="0" y="508043"/>
                      <a:pt x="43995" y="552038"/>
                      <a:pt x="98266" y="552038"/>
                    </a:cubicBezTo>
                    <a:lnTo>
                      <a:pt x="308134" y="552038"/>
                    </a:lnTo>
                    <a:cubicBezTo>
                      <a:pt x="362405" y="552038"/>
                      <a:pt x="406400" y="596033"/>
                      <a:pt x="406400" y="650304"/>
                    </a:cubicBezTo>
                    <a:lnTo>
                      <a:pt x="406400" y="656972"/>
                    </a:lnTo>
                    <a:cubicBezTo>
                      <a:pt x="406400" y="673435"/>
                      <a:pt x="416317" y="688277"/>
                      <a:pt x="431527" y="694577"/>
                    </a:cubicBezTo>
                    <a:cubicBezTo>
                      <a:pt x="446736" y="700877"/>
                      <a:pt x="464243" y="697395"/>
                      <a:pt x="475884" y="685754"/>
                    </a:cubicBezTo>
                    <a:lnTo>
                      <a:pt x="743316" y="418322"/>
                    </a:lnTo>
                    <a:cubicBezTo>
                      <a:pt x="781691" y="379947"/>
                      <a:pt x="781691" y="317729"/>
                      <a:pt x="743316" y="279354"/>
                    </a:cubicBezTo>
                    <a:close/>
                  </a:path>
                </a:pathLst>
              </a:custGeom>
              <a:solidFill>
                <a:srgbClr val="4E6C7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TextBox 15">
                <a:extLst>
                  <a:ext uri="{FF2B5EF4-FFF2-40B4-BE49-F238E27FC236}">
                    <a16:creationId xmlns:a16="http://schemas.microsoft.com/office/drawing/2014/main" id="{CEF368D2-719A-1D27-3357-076DDB3493A2}"/>
                  </a:ext>
                </a:extLst>
              </p:cNvPr>
              <p:cNvSpPr txBox="1"/>
              <p:nvPr/>
            </p:nvSpPr>
            <p:spPr>
              <a:xfrm>
                <a:off x="0" y="174625"/>
                <a:ext cx="711200" cy="434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grpSp>
          <p:nvGrpSpPr>
            <p:cNvPr id="70" name="Group 13">
              <a:extLst>
                <a:ext uri="{FF2B5EF4-FFF2-40B4-BE49-F238E27FC236}">
                  <a16:creationId xmlns:a16="http://schemas.microsoft.com/office/drawing/2014/main" id="{91795C98-2D2B-22E4-319B-88D3AA8F9227}"/>
                </a:ext>
              </a:extLst>
            </p:cNvPr>
            <p:cNvGrpSpPr/>
            <p:nvPr/>
          </p:nvGrpSpPr>
          <p:grpSpPr>
            <a:xfrm flipH="1">
              <a:off x="9728798" y="8722427"/>
              <a:ext cx="393928" cy="393928"/>
              <a:chOff x="0" y="0"/>
              <a:chExt cx="812800" cy="812800"/>
            </a:xfrm>
          </p:grpSpPr>
          <p:sp>
            <p:nvSpPr>
              <p:cNvPr id="71" name="Freeform 14">
                <a:extLst>
                  <a:ext uri="{FF2B5EF4-FFF2-40B4-BE49-F238E27FC236}">
                    <a16:creationId xmlns:a16="http://schemas.microsoft.com/office/drawing/2014/main" id="{CEAA6F7E-D50D-A65C-D709-EC0E47E01804}"/>
                  </a:ext>
                </a:extLst>
              </p:cNvPr>
              <p:cNvSpPr/>
              <p:nvPr/>
            </p:nvSpPr>
            <p:spPr>
              <a:xfrm>
                <a:off x="0" y="57562"/>
                <a:ext cx="772097" cy="697677"/>
              </a:xfrm>
              <a:custGeom>
                <a:avLst/>
                <a:gdLst/>
                <a:ahLst/>
                <a:cxnLst/>
                <a:rect l="l" t="t" r="r" b="b"/>
                <a:pathLst>
                  <a:path w="772097" h="697677">
                    <a:moveTo>
                      <a:pt x="743316" y="279354"/>
                    </a:moveTo>
                    <a:lnTo>
                      <a:pt x="475884" y="11922"/>
                    </a:lnTo>
                    <a:cubicBezTo>
                      <a:pt x="464243" y="281"/>
                      <a:pt x="446736" y="-3201"/>
                      <a:pt x="431527" y="3099"/>
                    </a:cubicBezTo>
                    <a:cubicBezTo>
                      <a:pt x="416317" y="9399"/>
                      <a:pt x="406400" y="24241"/>
                      <a:pt x="406400" y="40704"/>
                    </a:cubicBezTo>
                    <a:lnTo>
                      <a:pt x="406400" y="47372"/>
                    </a:lnTo>
                    <a:cubicBezTo>
                      <a:pt x="406400" y="101643"/>
                      <a:pt x="362405" y="145638"/>
                      <a:pt x="308134" y="145638"/>
                    </a:cubicBezTo>
                    <a:lnTo>
                      <a:pt x="98266" y="145638"/>
                    </a:lnTo>
                    <a:cubicBezTo>
                      <a:pt x="43995" y="145638"/>
                      <a:pt x="0" y="189633"/>
                      <a:pt x="0" y="243904"/>
                    </a:cubicBezTo>
                    <a:lnTo>
                      <a:pt x="0" y="453772"/>
                    </a:lnTo>
                    <a:cubicBezTo>
                      <a:pt x="0" y="508043"/>
                      <a:pt x="43995" y="552038"/>
                      <a:pt x="98266" y="552038"/>
                    </a:cubicBezTo>
                    <a:lnTo>
                      <a:pt x="308134" y="552038"/>
                    </a:lnTo>
                    <a:cubicBezTo>
                      <a:pt x="362405" y="552038"/>
                      <a:pt x="406400" y="596033"/>
                      <a:pt x="406400" y="650304"/>
                    </a:cubicBezTo>
                    <a:lnTo>
                      <a:pt x="406400" y="656972"/>
                    </a:lnTo>
                    <a:cubicBezTo>
                      <a:pt x="406400" y="673435"/>
                      <a:pt x="416317" y="688277"/>
                      <a:pt x="431527" y="694577"/>
                    </a:cubicBezTo>
                    <a:cubicBezTo>
                      <a:pt x="446736" y="700877"/>
                      <a:pt x="464243" y="697395"/>
                      <a:pt x="475884" y="685754"/>
                    </a:cubicBezTo>
                    <a:lnTo>
                      <a:pt x="743316" y="418322"/>
                    </a:lnTo>
                    <a:cubicBezTo>
                      <a:pt x="781691" y="379947"/>
                      <a:pt x="781691" y="317729"/>
                      <a:pt x="743316" y="279354"/>
                    </a:cubicBezTo>
                    <a:close/>
                  </a:path>
                </a:pathLst>
              </a:custGeom>
              <a:solidFill>
                <a:srgbClr val="4E6C7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TextBox 15">
                <a:extLst>
                  <a:ext uri="{FF2B5EF4-FFF2-40B4-BE49-F238E27FC236}">
                    <a16:creationId xmlns:a16="http://schemas.microsoft.com/office/drawing/2014/main" id="{8AA8E363-EECE-31E6-31D2-9281307EB1B1}"/>
                  </a:ext>
                </a:extLst>
              </p:cNvPr>
              <p:cNvSpPr txBox="1"/>
              <p:nvPr/>
            </p:nvSpPr>
            <p:spPr>
              <a:xfrm>
                <a:off x="0" y="174625"/>
                <a:ext cx="711200" cy="434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sp>
          <p:nvSpPr>
            <p:cNvPr id="73" name="TextBox 19">
              <a:extLst>
                <a:ext uri="{FF2B5EF4-FFF2-40B4-BE49-F238E27FC236}">
                  <a16:creationId xmlns:a16="http://schemas.microsoft.com/office/drawing/2014/main" id="{300E3575-F50B-EA05-A97F-BEE83B15981C}"/>
                </a:ext>
              </a:extLst>
            </p:cNvPr>
            <p:cNvSpPr txBox="1"/>
            <p:nvPr/>
          </p:nvSpPr>
          <p:spPr>
            <a:xfrm>
              <a:off x="6116662" y="8667453"/>
              <a:ext cx="3505648" cy="6155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 rtl="1"/>
              <a:r>
                <a:rPr lang="ar-EG" sz="400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أدوات وأجهزة التأهيل</a:t>
              </a:r>
              <a:endParaRPr lang="en-US" sz="4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sp>
          <p:nvSpPr>
            <p:cNvPr id="74" name="TextBox 19">
              <a:extLst>
                <a:ext uri="{FF2B5EF4-FFF2-40B4-BE49-F238E27FC236}">
                  <a16:creationId xmlns:a16="http://schemas.microsoft.com/office/drawing/2014/main" id="{C679EBF1-967B-C19E-B7F8-8752453C1DFC}"/>
                </a:ext>
              </a:extLst>
            </p:cNvPr>
            <p:cNvSpPr txBox="1"/>
            <p:nvPr/>
          </p:nvSpPr>
          <p:spPr>
            <a:xfrm>
              <a:off x="14549581" y="8568971"/>
              <a:ext cx="2430689" cy="6155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 rtl="1"/>
              <a:r>
                <a:rPr lang="ar-EG" sz="400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سرعة التأهيل</a:t>
              </a:r>
              <a:endParaRPr lang="en-US" sz="4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sp>
          <p:nvSpPr>
            <p:cNvPr id="76" name="TextBox 19">
              <a:extLst>
                <a:ext uri="{FF2B5EF4-FFF2-40B4-BE49-F238E27FC236}">
                  <a16:creationId xmlns:a16="http://schemas.microsoft.com/office/drawing/2014/main" id="{5C0A5B3F-3DF8-C9AA-7A78-BCFAC590A9BA}"/>
                </a:ext>
              </a:extLst>
            </p:cNvPr>
            <p:cNvSpPr txBox="1"/>
            <p:nvPr/>
          </p:nvSpPr>
          <p:spPr>
            <a:xfrm>
              <a:off x="5491323" y="4263661"/>
              <a:ext cx="4177743" cy="5539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 rtl="1"/>
              <a:r>
                <a:rPr lang="ar-EG" sz="360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خبرة وتأهيل الأخصائي</a:t>
              </a:r>
              <a:endParaRPr lang="en-US" sz="36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sp>
          <p:nvSpPr>
            <p:cNvPr id="6" name="TextBox 19">
              <a:extLst>
                <a:ext uri="{FF2B5EF4-FFF2-40B4-BE49-F238E27FC236}">
                  <a16:creationId xmlns:a16="http://schemas.microsoft.com/office/drawing/2014/main" id="{582C2B75-2F28-FE11-CFC2-01A3F9901F2D}"/>
                </a:ext>
              </a:extLst>
            </p:cNvPr>
            <p:cNvSpPr txBox="1"/>
            <p:nvPr/>
          </p:nvSpPr>
          <p:spPr>
            <a:xfrm>
              <a:off x="10721845" y="6551062"/>
              <a:ext cx="2430689" cy="6155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 rtl="1"/>
              <a:r>
                <a:rPr lang="ar-EG" sz="400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الحالة المعنوية</a:t>
              </a:r>
              <a:endParaRPr lang="en-US" sz="4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7658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C9031C76-05BC-2B67-6124-9A908B947A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720544" y="2962699"/>
            <a:ext cx="9797743" cy="7537671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8423578">
            <a:off x="16011010" y="4993566"/>
            <a:ext cx="5581577" cy="558157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77FD6">
                    <a:alpha val="31000"/>
                  </a:srgbClr>
                </a:gs>
                <a:gs pos="100000">
                  <a:srgbClr val="CBE2FF">
                    <a:alpha val="31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8423578">
            <a:off x="14791027" y="6734765"/>
            <a:ext cx="5581577" cy="558157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77FD6">
                    <a:alpha val="31000"/>
                  </a:srgbClr>
                </a:gs>
                <a:gs pos="100000">
                  <a:srgbClr val="CBE2FF">
                    <a:alpha val="31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343400" y="558690"/>
            <a:ext cx="13070629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6383"/>
              </a:lnSpc>
            </a:pPr>
            <a:r>
              <a:rPr lang="ar-EG" sz="5400" b="1" dirty="0">
                <a:solidFill>
                  <a:srgbClr val="4383D1"/>
                </a:solidFill>
                <a:latin typeface="Poppins Bold"/>
                <a:ea typeface="Poppins Bold"/>
                <a:cs typeface="+mj-cs"/>
                <a:sym typeface="Poppins Bold"/>
              </a:rPr>
              <a:t>العلاقة التكاملية بين العلاج الطبيعي والتأهيل الحركي</a:t>
            </a:r>
            <a:endParaRPr lang="en-US" sz="5400" b="1" dirty="0">
              <a:solidFill>
                <a:srgbClr val="4383D1"/>
              </a:solidFill>
              <a:latin typeface="Poppins Bold"/>
              <a:ea typeface="Poppins Bold"/>
              <a:cs typeface="+mj-cs"/>
              <a:sym typeface="Poppins Bold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5166166" y="2279812"/>
            <a:ext cx="13772598" cy="5789693"/>
            <a:chOff x="0" y="0"/>
            <a:chExt cx="1937717" cy="100319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37717" cy="1003199"/>
            </a:xfrm>
            <a:custGeom>
              <a:avLst/>
              <a:gdLst/>
              <a:ahLst/>
              <a:cxnLst/>
              <a:rect l="l" t="t" r="r" b="b"/>
              <a:pathLst>
                <a:path w="1937717" h="1003199">
                  <a:moveTo>
                    <a:pt x="16057" y="0"/>
                  </a:moveTo>
                  <a:lnTo>
                    <a:pt x="1921661" y="0"/>
                  </a:lnTo>
                  <a:cubicBezTo>
                    <a:pt x="1925919" y="0"/>
                    <a:pt x="1930003" y="1692"/>
                    <a:pt x="1933014" y="4703"/>
                  </a:cubicBezTo>
                  <a:cubicBezTo>
                    <a:pt x="1936025" y="7714"/>
                    <a:pt x="1937717" y="11798"/>
                    <a:pt x="1937717" y="16057"/>
                  </a:cubicBezTo>
                  <a:lnTo>
                    <a:pt x="1937717" y="987142"/>
                  </a:lnTo>
                  <a:cubicBezTo>
                    <a:pt x="1937717" y="991401"/>
                    <a:pt x="1936025" y="995485"/>
                    <a:pt x="1933014" y="998496"/>
                  </a:cubicBezTo>
                  <a:cubicBezTo>
                    <a:pt x="1930003" y="1001507"/>
                    <a:pt x="1925919" y="1003199"/>
                    <a:pt x="1921661" y="1003199"/>
                  </a:cubicBezTo>
                  <a:lnTo>
                    <a:pt x="16057" y="1003199"/>
                  </a:lnTo>
                  <a:cubicBezTo>
                    <a:pt x="11798" y="1003199"/>
                    <a:pt x="7714" y="1001507"/>
                    <a:pt x="4703" y="998496"/>
                  </a:cubicBezTo>
                  <a:cubicBezTo>
                    <a:pt x="1692" y="995485"/>
                    <a:pt x="0" y="991401"/>
                    <a:pt x="0" y="987142"/>
                  </a:cubicBezTo>
                  <a:lnTo>
                    <a:pt x="0" y="16057"/>
                  </a:lnTo>
                  <a:cubicBezTo>
                    <a:pt x="0" y="11798"/>
                    <a:pt x="1692" y="7714"/>
                    <a:pt x="4703" y="4703"/>
                  </a:cubicBezTo>
                  <a:cubicBezTo>
                    <a:pt x="7714" y="1692"/>
                    <a:pt x="11798" y="0"/>
                    <a:pt x="16057" y="0"/>
                  </a:cubicBezTo>
                  <a:close/>
                </a:path>
              </a:pathLst>
            </a:custGeom>
            <a:solidFill>
              <a:srgbClr val="4E6C7E"/>
            </a:solidFill>
            <a:ln w="19050" cap="rnd">
              <a:solidFill>
                <a:srgbClr val="4383D1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1937717" cy="10317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350655" y="2100817"/>
            <a:ext cx="13070629" cy="5709683"/>
            <a:chOff x="0" y="0"/>
            <a:chExt cx="1937717" cy="100319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37717" cy="1003199"/>
            </a:xfrm>
            <a:custGeom>
              <a:avLst/>
              <a:gdLst/>
              <a:ahLst/>
              <a:cxnLst/>
              <a:rect l="l" t="t" r="r" b="b"/>
              <a:pathLst>
                <a:path w="1937717" h="1003199">
                  <a:moveTo>
                    <a:pt x="16057" y="0"/>
                  </a:moveTo>
                  <a:lnTo>
                    <a:pt x="1921661" y="0"/>
                  </a:lnTo>
                  <a:cubicBezTo>
                    <a:pt x="1925919" y="0"/>
                    <a:pt x="1930003" y="1692"/>
                    <a:pt x="1933014" y="4703"/>
                  </a:cubicBezTo>
                  <a:cubicBezTo>
                    <a:pt x="1936025" y="7714"/>
                    <a:pt x="1937717" y="11798"/>
                    <a:pt x="1937717" y="16057"/>
                  </a:cubicBezTo>
                  <a:lnTo>
                    <a:pt x="1937717" y="987142"/>
                  </a:lnTo>
                  <a:cubicBezTo>
                    <a:pt x="1937717" y="991401"/>
                    <a:pt x="1936025" y="995485"/>
                    <a:pt x="1933014" y="998496"/>
                  </a:cubicBezTo>
                  <a:cubicBezTo>
                    <a:pt x="1930003" y="1001507"/>
                    <a:pt x="1925919" y="1003199"/>
                    <a:pt x="1921661" y="1003199"/>
                  </a:cubicBezTo>
                  <a:lnTo>
                    <a:pt x="16057" y="1003199"/>
                  </a:lnTo>
                  <a:cubicBezTo>
                    <a:pt x="11798" y="1003199"/>
                    <a:pt x="7714" y="1001507"/>
                    <a:pt x="4703" y="998496"/>
                  </a:cubicBezTo>
                  <a:cubicBezTo>
                    <a:pt x="1692" y="995485"/>
                    <a:pt x="0" y="991401"/>
                    <a:pt x="0" y="987142"/>
                  </a:cubicBezTo>
                  <a:lnTo>
                    <a:pt x="0" y="16057"/>
                  </a:lnTo>
                  <a:cubicBezTo>
                    <a:pt x="0" y="11798"/>
                    <a:pt x="1692" y="7714"/>
                    <a:pt x="4703" y="4703"/>
                  </a:cubicBezTo>
                  <a:cubicBezTo>
                    <a:pt x="7714" y="1692"/>
                    <a:pt x="11798" y="0"/>
                    <a:pt x="1605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4383D1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1937717" cy="10317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flipH="1">
            <a:off x="17827798" y="2954579"/>
            <a:ext cx="593486" cy="338133"/>
            <a:chOff x="0" y="35103"/>
            <a:chExt cx="1224552" cy="697677"/>
          </a:xfrm>
        </p:grpSpPr>
        <p:sp>
          <p:nvSpPr>
            <p:cNvPr id="18" name="Freeform 18"/>
            <p:cNvSpPr/>
            <p:nvPr/>
          </p:nvSpPr>
          <p:spPr>
            <a:xfrm>
              <a:off x="452455" y="35103"/>
              <a:ext cx="772097" cy="697677"/>
            </a:xfrm>
            <a:custGeom>
              <a:avLst/>
              <a:gdLst/>
              <a:ahLst/>
              <a:cxnLst/>
              <a:rect l="l" t="t" r="r" b="b"/>
              <a:pathLst>
                <a:path w="772097" h="697677">
                  <a:moveTo>
                    <a:pt x="743316" y="279354"/>
                  </a:moveTo>
                  <a:lnTo>
                    <a:pt x="475884" y="11922"/>
                  </a:lnTo>
                  <a:cubicBezTo>
                    <a:pt x="464243" y="281"/>
                    <a:pt x="446736" y="-3201"/>
                    <a:pt x="431527" y="3099"/>
                  </a:cubicBezTo>
                  <a:cubicBezTo>
                    <a:pt x="416317" y="9399"/>
                    <a:pt x="406400" y="24241"/>
                    <a:pt x="406400" y="40704"/>
                  </a:cubicBezTo>
                  <a:lnTo>
                    <a:pt x="406400" y="47372"/>
                  </a:lnTo>
                  <a:cubicBezTo>
                    <a:pt x="406400" y="101643"/>
                    <a:pt x="362405" y="145638"/>
                    <a:pt x="308134" y="145638"/>
                  </a:cubicBezTo>
                  <a:lnTo>
                    <a:pt x="98266" y="145638"/>
                  </a:lnTo>
                  <a:cubicBezTo>
                    <a:pt x="43995" y="145638"/>
                    <a:pt x="0" y="189633"/>
                    <a:pt x="0" y="243904"/>
                  </a:cubicBezTo>
                  <a:lnTo>
                    <a:pt x="0" y="453772"/>
                  </a:lnTo>
                  <a:cubicBezTo>
                    <a:pt x="0" y="508043"/>
                    <a:pt x="43995" y="552038"/>
                    <a:pt x="98266" y="552038"/>
                  </a:cubicBezTo>
                  <a:lnTo>
                    <a:pt x="308134" y="552038"/>
                  </a:lnTo>
                  <a:cubicBezTo>
                    <a:pt x="362405" y="552038"/>
                    <a:pt x="406400" y="596033"/>
                    <a:pt x="406400" y="650304"/>
                  </a:cubicBezTo>
                  <a:lnTo>
                    <a:pt x="406400" y="656972"/>
                  </a:lnTo>
                  <a:cubicBezTo>
                    <a:pt x="406400" y="673435"/>
                    <a:pt x="416317" y="688277"/>
                    <a:pt x="431527" y="694577"/>
                  </a:cubicBezTo>
                  <a:cubicBezTo>
                    <a:pt x="446736" y="700877"/>
                    <a:pt x="464243" y="697395"/>
                    <a:pt x="475884" y="685754"/>
                  </a:cubicBezTo>
                  <a:lnTo>
                    <a:pt x="743316" y="418322"/>
                  </a:lnTo>
                  <a:cubicBezTo>
                    <a:pt x="781691" y="379947"/>
                    <a:pt x="781691" y="317729"/>
                    <a:pt x="743316" y="279354"/>
                  </a:cubicBezTo>
                  <a:close/>
                </a:path>
              </a:pathLst>
            </a:custGeom>
            <a:solidFill>
              <a:srgbClr val="4E6C7E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 dirty="0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5653288" y="2856100"/>
            <a:ext cx="12096142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ar-EG" sz="3600" dirty="0"/>
              <a:t>العلاج الطبيعي هو استخدام وسائل طبيعية (مثل: الحرارة والمياه والكهرباء)</a:t>
            </a:r>
          </a:p>
          <a:p>
            <a:pPr algn="r" rtl="1"/>
            <a:r>
              <a:rPr lang="ar-EG" sz="3600" dirty="0"/>
              <a:t> لعلاج الإصابات،</a:t>
            </a:r>
            <a:br>
              <a:rPr lang="ar-EG" sz="3600" dirty="0"/>
            </a:br>
            <a:r>
              <a:rPr lang="ar-EG" sz="3600" dirty="0"/>
              <a:t>أما التأهيل فهو جزء من العلاج الطبيعي للنشاط ويعتمد أساسًا على التمرينات الحركية لإعادة المصاب لحالته الطبيعية والرجوع أو الرياضة.</a:t>
            </a:r>
            <a:endParaRPr lang="en-US" sz="36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34" name="TextBox 21">
            <a:extLst>
              <a:ext uri="{FF2B5EF4-FFF2-40B4-BE49-F238E27FC236}">
                <a16:creationId xmlns:a16="http://schemas.microsoft.com/office/drawing/2014/main" id="{3E9ADD4C-B1ED-31D7-2F4D-8C6264879224}"/>
              </a:ext>
            </a:extLst>
          </p:cNvPr>
          <p:cNvSpPr txBox="1"/>
          <p:nvPr/>
        </p:nvSpPr>
        <p:spPr>
          <a:xfrm>
            <a:off x="5379629" y="5747432"/>
            <a:ext cx="12443943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ar-EG" sz="3600" dirty="0"/>
              <a:t>التأهيل يُعتبر جزء أساسي من العلاج الطبيعي، لأن التمرينات الحركية (التأهيل) هي واحدة من أهم وسائل العلاج الطبيعي، وبالتالي كل تأهيل هو علاج طبيعي، لكن ليس كل علاج طبيعي تأهيل.</a:t>
            </a: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35" name="Group 17">
            <a:extLst>
              <a:ext uri="{FF2B5EF4-FFF2-40B4-BE49-F238E27FC236}">
                <a16:creationId xmlns:a16="http://schemas.microsoft.com/office/drawing/2014/main" id="{CFC65C64-20DB-6A01-C30C-9DC0A557D25E}"/>
              </a:ext>
            </a:extLst>
          </p:cNvPr>
          <p:cNvGrpSpPr/>
          <p:nvPr/>
        </p:nvGrpSpPr>
        <p:grpSpPr>
          <a:xfrm flipH="1">
            <a:off x="17939863" y="5795558"/>
            <a:ext cx="593486" cy="338133"/>
            <a:chOff x="0" y="35103"/>
            <a:chExt cx="1224552" cy="697677"/>
          </a:xfrm>
        </p:grpSpPr>
        <p:sp>
          <p:nvSpPr>
            <p:cNvPr id="36" name="Freeform 18">
              <a:extLst>
                <a:ext uri="{FF2B5EF4-FFF2-40B4-BE49-F238E27FC236}">
                  <a16:creationId xmlns:a16="http://schemas.microsoft.com/office/drawing/2014/main" id="{7D294639-0BCD-F1F2-7E3F-60C438FCBA21}"/>
                </a:ext>
              </a:extLst>
            </p:cNvPr>
            <p:cNvSpPr/>
            <p:nvPr/>
          </p:nvSpPr>
          <p:spPr>
            <a:xfrm>
              <a:off x="452455" y="35103"/>
              <a:ext cx="772097" cy="697677"/>
            </a:xfrm>
            <a:custGeom>
              <a:avLst/>
              <a:gdLst/>
              <a:ahLst/>
              <a:cxnLst/>
              <a:rect l="l" t="t" r="r" b="b"/>
              <a:pathLst>
                <a:path w="772097" h="697677">
                  <a:moveTo>
                    <a:pt x="743316" y="279354"/>
                  </a:moveTo>
                  <a:lnTo>
                    <a:pt x="475884" y="11922"/>
                  </a:lnTo>
                  <a:cubicBezTo>
                    <a:pt x="464243" y="281"/>
                    <a:pt x="446736" y="-3201"/>
                    <a:pt x="431527" y="3099"/>
                  </a:cubicBezTo>
                  <a:cubicBezTo>
                    <a:pt x="416317" y="9399"/>
                    <a:pt x="406400" y="24241"/>
                    <a:pt x="406400" y="40704"/>
                  </a:cubicBezTo>
                  <a:lnTo>
                    <a:pt x="406400" y="47372"/>
                  </a:lnTo>
                  <a:cubicBezTo>
                    <a:pt x="406400" y="101643"/>
                    <a:pt x="362405" y="145638"/>
                    <a:pt x="308134" y="145638"/>
                  </a:cubicBezTo>
                  <a:lnTo>
                    <a:pt x="98266" y="145638"/>
                  </a:lnTo>
                  <a:cubicBezTo>
                    <a:pt x="43995" y="145638"/>
                    <a:pt x="0" y="189633"/>
                    <a:pt x="0" y="243904"/>
                  </a:cubicBezTo>
                  <a:lnTo>
                    <a:pt x="0" y="453772"/>
                  </a:lnTo>
                  <a:cubicBezTo>
                    <a:pt x="0" y="508043"/>
                    <a:pt x="43995" y="552038"/>
                    <a:pt x="98266" y="552038"/>
                  </a:cubicBezTo>
                  <a:lnTo>
                    <a:pt x="308134" y="552038"/>
                  </a:lnTo>
                  <a:cubicBezTo>
                    <a:pt x="362405" y="552038"/>
                    <a:pt x="406400" y="596033"/>
                    <a:pt x="406400" y="650304"/>
                  </a:cubicBezTo>
                  <a:lnTo>
                    <a:pt x="406400" y="656972"/>
                  </a:lnTo>
                  <a:cubicBezTo>
                    <a:pt x="406400" y="673435"/>
                    <a:pt x="416317" y="688277"/>
                    <a:pt x="431527" y="694577"/>
                  </a:cubicBezTo>
                  <a:cubicBezTo>
                    <a:pt x="446736" y="700877"/>
                    <a:pt x="464243" y="697395"/>
                    <a:pt x="475884" y="685754"/>
                  </a:cubicBezTo>
                  <a:lnTo>
                    <a:pt x="743316" y="418322"/>
                  </a:lnTo>
                  <a:cubicBezTo>
                    <a:pt x="781691" y="379947"/>
                    <a:pt x="781691" y="317729"/>
                    <a:pt x="743316" y="279354"/>
                  </a:cubicBezTo>
                  <a:close/>
                </a:path>
              </a:pathLst>
            </a:custGeom>
            <a:solidFill>
              <a:srgbClr val="4E6C7E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" name="TextBox 19">
              <a:extLst>
                <a:ext uri="{FF2B5EF4-FFF2-40B4-BE49-F238E27FC236}">
                  <a16:creationId xmlns:a16="http://schemas.microsoft.com/office/drawing/2014/main" id="{2791289B-F504-3B75-720D-8F2C6E0DF004}"/>
                </a:ext>
              </a:extLst>
            </p:cNvPr>
            <p:cNvSpPr txBox="1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 dirty="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D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B0DF64-8118-2097-AD35-068AB836E3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-17585"/>
            <a:ext cx="10287000" cy="10287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B4215FD-87C3-53BC-3979-89432645CB62}"/>
              </a:ext>
            </a:extLst>
          </p:cNvPr>
          <p:cNvSpPr/>
          <p:nvPr/>
        </p:nvSpPr>
        <p:spPr>
          <a:xfrm>
            <a:off x="5715000" y="0"/>
            <a:ext cx="7105082" cy="5981700"/>
          </a:xfrm>
          <a:prstGeom prst="rect">
            <a:avLst/>
          </a:prstGeom>
          <a:solidFill>
            <a:srgbClr val="B4D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87159B-557B-5B64-536D-205ABA27D774}"/>
              </a:ext>
            </a:extLst>
          </p:cNvPr>
          <p:cNvSpPr/>
          <p:nvPr/>
        </p:nvSpPr>
        <p:spPr>
          <a:xfrm>
            <a:off x="6934200" y="1714500"/>
            <a:ext cx="7105082" cy="5981700"/>
          </a:xfrm>
          <a:prstGeom prst="rect">
            <a:avLst/>
          </a:prstGeom>
          <a:solidFill>
            <a:srgbClr val="B4D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65B6EF8D-2AC8-53AA-B96C-D9DC9A7A47A3}"/>
              </a:ext>
            </a:extLst>
          </p:cNvPr>
          <p:cNvSpPr/>
          <p:nvPr/>
        </p:nvSpPr>
        <p:spPr>
          <a:xfrm rot="833544">
            <a:off x="5343240" y="311482"/>
            <a:ext cx="9601200" cy="6324600"/>
          </a:xfrm>
          <a:prstGeom prst="wedgeEllipseCallout">
            <a:avLst/>
          </a:prstGeom>
          <a:solidFill>
            <a:schemeClr val="bg1"/>
          </a:solidFill>
          <a:effectLst>
            <a:outerShdw blurRad="50800" dist="50800" dir="5400000" algn="ctr" rotWithShape="0">
              <a:srgbClr val="B4DAFF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591D07-9E4D-D3AB-655B-5E2136E6E570}"/>
              </a:ext>
            </a:extLst>
          </p:cNvPr>
          <p:cNvSpPr txBox="1"/>
          <p:nvPr/>
        </p:nvSpPr>
        <p:spPr>
          <a:xfrm>
            <a:off x="6172199" y="2397026"/>
            <a:ext cx="794328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7200" b="1" dirty="0"/>
              <a:t>لماذا تختلف طرق العلاج لنفس الإصابة؟؟</a:t>
            </a:r>
            <a:endParaRPr lang="en-US" sz="7200" b="1" dirty="0"/>
          </a:p>
        </p:txBody>
      </p:sp>
    </p:spTree>
    <p:extLst>
      <p:ext uri="{BB962C8B-B14F-4D97-AF65-F5344CB8AC3E}">
        <p14:creationId xmlns:p14="http://schemas.microsoft.com/office/powerpoint/2010/main" val="1949177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2DB223A-082F-B0E2-8F0C-CEB1461FDBB3}"/>
              </a:ext>
            </a:extLst>
          </p:cNvPr>
          <p:cNvSpPr txBox="1"/>
          <p:nvPr/>
        </p:nvSpPr>
        <p:spPr>
          <a:xfrm>
            <a:off x="1143000" y="5593080"/>
            <a:ext cx="2743200" cy="76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CC8908-5A9C-330E-6106-87764D05D414}"/>
              </a:ext>
            </a:extLst>
          </p:cNvPr>
          <p:cNvSpPr txBox="1"/>
          <p:nvPr/>
        </p:nvSpPr>
        <p:spPr>
          <a:xfrm>
            <a:off x="10896600" y="7315200"/>
            <a:ext cx="2743200" cy="76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801ADB5-1CC8-813F-19E7-17DE8C25969E}"/>
              </a:ext>
            </a:extLst>
          </p:cNvPr>
          <p:cNvGrpSpPr/>
          <p:nvPr/>
        </p:nvGrpSpPr>
        <p:grpSpPr>
          <a:xfrm>
            <a:off x="1020182" y="3101340"/>
            <a:ext cx="16247635" cy="2514600"/>
            <a:chOff x="897365" y="2020100"/>
            <a:chExt cx="16247635" cy="25146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9A1C263-FF85-C6E4-3285-5D305E55E2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35" b="67174"/>
            <a:stretch>
              <a:fillRect/>
            </a:stretch>
          </p:blipFill>
          <p:spPr>
            <a:xfrm>
              <a:off x="897365" y="2020100"/>
              <a:ext cx="4700587" cy="25146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3943385-1443-6E1A-8417-CFA1B89C96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35" b="67174"/>
            <a:stretch>
              <a:fillRect/>
            </a:stretch>
          </p:blipFill>
          <p:spPr>
            <a:xfrm>
              <a:off x="12444413" y="2020100"/>
              <a:ext cx="4700587" cy="25146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A38E6B1-6BFD-4B98-59DE-BC4CA0147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35" b="67174"/>
            <a:stretch>
              <a:fillRect/>
            </a:stretch>
          </p:blipFill>
          <p:spPr>
            <a:xfrm>
              <a:off x="6793704" y="2020100"/>
              <a:ext cx="4700587" cy="25146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99BE362-A1E0-47F0-55C0-0E786FAE2F88}"/>
                </a:ext>
              </a:extLst>
            </p:cNvPr>
            <p:cNvSpPr txBox="1"/>
            <p:nvPr/>
          </p:nvSpPr>
          <p:spPr>
            <a:xfrm>
              <a:off x="14020800" y="2929235"/>
              <a:ext cx="27432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r-EG" sz="5400" b="1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العمر</a:t>
              </a:r>
              <a:endParaRPr lang="en-US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62C8BAF-3005-B090-AD8A-4EC4ED7C63D1}"/>
                </a:ext>
              </a:extLst>
            </p:cNvPr>
            <p:cNvSpPr txBox="1"/>
            <p:nvPr/>
          </p:nvSpPr>
          <p:spPr>
            <a:xfrm>
              <a:off x="7168752" y="2589937"/>
              <a:ext cx="3950493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EG" sz="5400" b="1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نوع الرياضة الممارسة</a:t>
              </a:r>
              <a:endParaRPr lang="en-US" sz="5400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7F61BEB-9E0D-49D8-72C8-0A819B729342}"/>
                </a:ext>
              </a:extLst>
            </p:cNvPr>
            <p:cNvSpPr txBox="1"/>
            <p:nvPr/>
          </p:nvSpPr>
          <p:spPr>
            <a:xfrm>
              <a:off x="1143000" y="2513737"/>
              <a:ext cx="3950493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EG" sz="5400" b="1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قدرات واستجابة اللاعب</a:t>
              </a:r>
              <a:endParaRPr lang="en-US" sz="5400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A2587FA-DE00-57A1-2E1A-B239B2AEDAC1}"/>
              </a:ext>
            </a:extLst>
          </p:cNvPr>
          <p:cNvGrpSpPr/>
          <p:nvPr/>
        </p:nvGrpSpPr>
        <p:grpSpPr>
          <a:xfrm>
            <a:off x="3821906" y="6819900"/>
            <a:ext cx="10644187" cy="2514600"/>
            <a:chOff x="3733800" y="6438900"/>
            <a:chExt cx="10644187" cy="25146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7431464-B383-1CBE-784F-6BAF88B976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35" b="67174"/>
            <a:stretch>
              <a:fillRect/>
            </a:stretch>
          </p:blipFill>
          <p:spPr>
            <a:xfrm>
              <a:off x="3733800" y="6438900"/>
              <a:ext cx="4700587" cy="25146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694EC1D-325E-0DFB-633B-DECD13CC2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35" b="67174"/>
            <a:stretch>
              <a:fillRect/>
            </a:stretch>
          </p:blipFill>
          <p:spPr>
            <a:xfrm>
              <a:off x="9677400" y="6438900"/>
              <a:ext cx="4700587" cy="25146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48F610F-5E63-EC31-AC58-990397579273}"/>
                </a:ext>
              </a:extLst>
            </p:cNvPr>
            <p:cNvSpPr txBox="1"/>
            <p:nvPr/>
          </p:nvSpPr>
          <p:spPr>
            <a:xfrm>
              <a:off x="10039827" y="6819037"/>
              <a:ext cx="3950493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EG" sz="5400" b="1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خبرة اخصائي التأهيل</a:t>
              </a:r>
              <a:endParaRPr lang="en-US" sz="5400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D71C69E-782F-2271-5B53-3DE1FB242BA0}"/>
                </a:ext>
              </a:extLst>
            </p:cNvPr>
            <p:cNvSpPr txBox="1"/>
            <p:nvPr/>
          </p:nvSpPr>
          <p:spPr>
            <a:xfrm>
              <a:off x="3904773" y="6825794"/>
              <a:ext cx="3950493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EG" sz="5400" b="1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طبيعة اصابة اللاعب</a:t>
              </a:r>
              <a:endParaRPr lang="en-US" sz="5400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CAC72410-6382-D596-2CE8-740FAE61C0EB}"/>
              </a:ext>
            </a:extLst>
          </p:cNvPr>
          <p:cNvSpPr txBox="1"/>
          <p:nvPr/>
        </p:nvSpPr>
        <p:spPr>
          <a:xfrm>
            <a:off x="1524897" y="371496"/>
            <a:ext cx="157734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EG" sz="5400" b="1" dirty="0">
                <a:cs typeface="+mj-cs"/>
              </a:rPr>
              <a:t>على الرغم من تشابه الاصابة يختلف اللاعبون في استجاباتهم وقدراتهم وفقاً لعدة عوامل:</a:t>
            </a:r>
            <a:endParaRPr lang="en-US" sz="5400" b="1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21058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2580156" y="1149316"/>
            <a:ext cx="5581577" cy="558157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77FD6">
                    <a:alpha val="31000"/>
                  </a:srgbClr>
                </a:gs>
                <a:gs pos="100000">
                  <a:srgbClr val="CBE2FF">
                    <a:alpha val="31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30120" y="585596"/>
            <a:ext cx="5581577" cy="558157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77FD6">
                    <a:alpha val="31000"/>
                  </a:srgbClr>
                </a:gs>
                <a:gs pos="100000">
                  <a:srgbClr val="CBE2FF">
                    <a:alpha val="31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580156" y="-579648"/>
            <a:ext cx="1928382" cy="192838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77FD6">
                    <a:alpha val="31000"/>
                  </a:srgbClr>
                </a:gs>
                <a:gs pos="100000">
                  <a:srgbClr val="CBE2FF">
                    <a:alpha val="31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0134600" y="7023334"/>
            <a:ext cx="3870219" cy="3870219"/>
          </a:xfrm>
          <a:custGeom>
            <a:avLst/>
            <a:gdLst/>
            <a:ahLst/>
            <a:cxnLst/>
            <a:rect l="l" t="t" r="r" b="b"/>
            <a:pathLst>
              <a:path w="3870219" h="3870219">
                <a:moveTo>
                  <a:pt x="0" y="0"/>
                </a:moveTo>
                <a:lnTo>
                  <a:pt x="3870219" y="0"/>
                </a:lnTo>
                <a:lnTo>
                  <a:pt x="3870219" y="3870219"/>
                </a:lnTo>
                <a:lnTo>
                  <a:pt x="0" y="38702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6" name="TextBox 16"/>
          <p:cNvSpPr txBox="1"/>
          <p:nvPr/>
        </p:nvSpPr>
        <p:spPr>
          <a:xfrm>
            <a:off x="2421843" y="2748379"/>
            <a:ext cx="6936473" cy="9845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7371"/>
              </a:lnSpc>
            </a:pPr>
            <a:r>
              <a:rPr lang="ar-EG" sz="7599" b="1" dirty="0">
                <a:solidFill>
                  <a:srgbClr val="4383D1"/>
                </a:solidFill>
                <a:latin typeface="Poppins Bold"/>
                <a:ea typeface="Poppins Bold"/>
                <a:cs typeface="+mj-cs"/>
                <a:sym typeface="Poppins Bold"/>
              </a:rPr>
              <a:t>برامج التأهيل الحركي</a:t>
            </a:r>
            <a:endParaRPr lang="en-US" sz="7599" b="1" dirty="0">
              <a:solidFill>
                <a:srgbClr val="4383D1"/>
              </a:solidFill>
              <a:latin typeface="Poppins Bold"/>
              <a:ea typeface="Poppins Bold"/>
              <a:cs typeface="+mj-cs"/>
              <a:sym typeface="Poppins Bold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-273305" y="4798765"/>
            <a:ext cx="11855705" cy="4522903"/>
            <a:chOff x="0" y="0"/>
            <a:chExt cx="1937717" cy="69265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37717" cy="692657"/>
            </a:xfrm>
            <a:custGeom>
              <a:avLst/>
              <a:gdLst/>
              <a:ahLst/>
              <a:cxnLst/>
              <a:rect l="l" t="t" r="r" b="b"/>
              <a:pathLst>
                <a:path w="1937717" h="692657">
                  <a:moveTo>
                    <a:pt x="16057" y="0"/>
                  </a:moveTo>
                  <a:lnTo>
                    <a:pt x="1921661" y="0"/>
                  </a:lnTo>
                  <a:cubicBezTo>
                    <a:pt x="1925919" y="0"/>
                    <a:pt x="1930003" y="1692"/>
                    <a:pt x="1933014" y="4703"/>
                  </a:cubicBezTo>
                  <a:cubicBezTo>
                    <a:pt x="1936025" y="7714"/>
                    <a:pt x="1937717" y="11798"/>
                    <a:pt x="1937717" y="16057"/>
                  </a:cubicBezTo>
                  <a:lnTo>
                    <a:pt x="1937717" y="676601"/>
                  </a:lnTo>
                  <a:cubicBezTo>
                    <a:pt x="1937717" y="680859"/>
                    <a:pt x="1936025" y="684943"/>
                    <a:pt x="1933014" y="687954"/>
                  </a:cubicBezTo>
                  <a:cubicBezTo>
                    <a:pt x="1930003" y="690966"/>
                    <a:pt x="1925919" y="692657"/>
                    <a:pt x="1921661" y="692657"/>
                  </a:cubicBezTo>
                  <a:lnTo>
                    <a:pt x="16057" y="692657"/>
                  </a:lnTo>
                  <a:cubicBezTo>
                    <a:pt x="11798" y="692657"/>
                    <a:pt x="7714" y="690966"/>
                    <a:pt x="4703" y="687954"/>
                  </a:cubicBezTo>
                  <a:cubicBezTo>
                    <a:pt x="1692" y="684943"/>
                    <a:pt x="0" y="680859"/>
                    <a:pt x="0" y="676601"/>
                  </a:cubicBezTo>
                  <a:lnTo>
                    <a:pt x="0" y="16057"/>
                  </a:lnTo>
                  <a:cubicBezTo>
                    <a:pt x="0" y="11798"/>
                    <a:pt x="1692" y="7714"/>
                    <a:pt x="4703" y="4703"/>
                  </a:cubicBezTo>
                  <a:cubicBezTo>
                    <a:pt x="7714" y="1692"/>
                    <a:pt x="11798" y="0"/>
                    <a:pt x="16057" y="0"/>
                  </a:cubicBezTo>
                  <a:close/>
                </a:path>
              </a:pathLst>
            </a:custGeom>
            <a:solidFill>
              <a:srgbClr val="4E6C7E"/>
            </a:solidFill>
            <a:ln w="19050" cap="rnd">
              <a:solidFill>
                <a:srgbClr val="4383D1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1937717" cy="721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-477318" y="4331647"/>
            <a:ext cx="11855705" cy="4789865"/>
            <a:chOff x="0" y="0"/>
            <a:chExt cx="1937717" cy="69265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37717" cy="692657"/>
            </a:xfrm>
            <a:custGeom>
              <a:avLst/>
              <a:gdLst/>
              <a:ahLst/>
              <a:cxnLst/>
              <a:rect l="l" t="t" r="r" b="b"/>
              <a:pathLst>
                <a:path w="1937717" h="692657">
                  <a:moveTo>
                    <a:pt x="16057" y="0"/>
                  </a:moveTo>
                  <a:lnTo>
                    <a:pt x="1921661" y="0"/>
                  </a:lnTo>
                  <a:cubicBezTo>
                    <a:pt x="1925919" y="0"/>
                    <a:pt x="1930003" y="1692"/>
                    <a:pt x="1933014" y="4703"/>
                  </a:cubicBezTo>
                  <a:cubicBezTo>
                    <a:pt x="1936025" y="7714"/>
                    <a:pt x="1937717" y="11798"/>
                    <a:pt x="1937717" y="16057"/>
                  </a:cubicBezTo>
                  <a:lnTo>
                    <a:pt x="1937717" y="676601"/>
                  </a:lnTo>
                  <a:cubicBezTo>
                    <a:pt x="1937717" y="680859"/>
                    <a:pt x="1936025" y="684943"/>
                    <a:pt x="1933014" y="687954"/>
                  </a:cubicBezTo>
                  <a:cubicBezTo>
                    <a:pt x="1930003" y="690966"/>
                    <a:pt x="1925919" y="692657"/>
                    <a:pt x="1921661" y="692657"/>
                  </a:cubicBezTo>
                  <a:lnTo>
                    <a:pt x="16057" y="692657"/>
                  </a:lnTo>
                  <a:cubicBezTo>
                    <a:pt x="11798" y="692657"/>
                    <a:pt x="7714" y="690966"/>
                    <a:pt x="4703" y="687954"/>
                  </a:cubicBezTo>
                  <a:cubicBezTo>
                    <a:pt x="1692" y="684943"/>
                    <a:pt x="0" y="680859"/>
                    <a:pt x="0" y="676601"/>
                  </a:cubicBezTo>
                  <a:lnTo>
                    <a:pt x="0" y="16057"/>
                  </a:lnTo>
                  <a:cubicBezTo>
                    <a:pt x="0" y="11798"/>
                    <a:pt x="1692" y="7714"/>
                    <a:pt x="4703" y="4703"/>
                  </a:cubicBezTo>
                  <a:cubicBezTo>
                    <a:pt x="7714" y="1692"/>
                    <a:pt x="11798" y="0"/>
                    <a:pt x="1605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4383D1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1937717" cy="721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215367" y="5029369"/>
            <a:ext cx="10712705" cy="295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ar-EG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يُصمم برنامج التأهيل الحركي بشكل فردي لكل حالة، مع مراعاة أهداف قصيرة وطويلة المدى.</a:t>
            </a:r>
          </a:p>
          <a:p>
            <a:pPr algn="r" rtl="1"/>
            <a:endParaRPr lang="ar-EG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r" rtl="1"/>
            <a:r>
              <a:rPr lang="ar-EG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يشمل البرنامج تمارين وعلاجًا مناسبين لنوع الإصابة وحالة المصاب بشكل متكامل.</a:t>
            </a:r>
          </a:p>
          <a:p>
            <a:pPr algn="r" rtl="1"/>
            <a:endParaRPr lang="ar-EG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r" rtl="1"/>
            <a:r>
              <a:rPr lang="ar-EG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يتم تنفيذ البرنامج تدريجيًا بأمان، مع تقييم مستمر للحالة والنتائج.</a:t>
            </a: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29" name="Group 17">
            <a:extLst>
              <a:ext uri="{FF2B5EF4-FFF2-40B4-BE49-F238E27FC236}">
                <a16:creationId xmlns:a16="http://schemas.microsoft.com/office/drawing/2014/main" id="{041CD7F3-0BF2-57A0-4405-A34C568384F5}"/>
              </a:ext>
            </a:extLst>
          </p:cNvPr>
          <p:cNvGrpSpPr/>
          <p:nvPr/>
        </p:nvGrpSpPr>
        <p:grpSpPr>
          <a:xfrm flipH="1">
            <a:off x="11065879" y="5130024"/>
            <a:ext cx="593486" cy="338133"/>
            <a:chOff x="0" y="35103"/>
            <a:chExt cx="1224552" cy="697677"/>
          </a:xfrm>
        </p:grpSpPr>
        <p:sp>
          <p:nvSpPr>
            <p:cNvPr id="30" name="Freeform 18">
              <a:extLst>
                <a:ext uri="{FF2B5EF4-FFF2-40B4-BE49-F238E27FC236}">
                  <a16:creationId xmlns:a16="http://schemas.microsoft.com/office/drawing/2014/main" id="{CC73D2D8-8095-208B-853B-DFA2B31C43E4}"/>
                </a:ext>
              </a:extLst>
            </p:cNvPr>
            <p:cNvSpPr/>
            <p:nvPr/>
          </p:nvSpPr>
          <p:spPr>
            <a:xfrm>
              <a:off x="452455" y="35103"/>
              <a:ext cx="772097" cy="697677"/>
            </a:xfrm>
            <a:custGeom>
              <a:avLst/>
              <a:gdLst/>
              <a:ahLst/>
              <a:cxnLst/>
              <a:rect l="l" t="t" r="r" b="b"/>
              <a:pathLst>
                <a:path w="772097" h="697677">
                  <a:moveTo>
                    <a:pt x="743316" y="279354"/>
                  </a:moveTo>
                  <a:lnTo>
                    <a:pt x="475884" y="11922"/>
                  </a:lnTo>
                  <a:cubicBezTo>
                    <a:pt x="464243" y="281"/>
                    <a:pt x="446736" y="-3201"/>
                    <a:pt x="431527" y="3099"/>
                  </a:cubicBezTo>
                  <a:cubicBezTo>
                    <a:pt x="416317" y="9399"/>
                    <a:pt x="406400" y="24241"/>
                    <a:pt x="406400" y="40704"/>
                  </a:cubicBezTo>
                  <a:lnTo>
                    <a:pt x="406400" y="47372"/>
                  </a:lnTo>
                  <a:cubicBezTo>
                    <a:pt x="406400" y="101643"/>
                    <a:pt x="362405" y="145638"/>
                    <a:pt x="308134" y="145638"/>
                  </a:cubicBezTo>
                  <a:lnTo>
                    <a:pt x="98266" y="145638"/>
                  </a:lnTo>
                  <a:cubicBezTo>
                    <a:pt x="43995" y="145638"/>
                    <a:pt x="0" y="189633"/>
                    <a:pt x="0" y="243904"/>
                  </a:cubicBezTo>
                  <a:lnTo>
                    <a:pt x="0" y="453772"/>
                  </a:lnTo>
                  <a:cubicBezTo>
                    <a:pt x="0" y="508043"/>
                    <a:pt x="43995" y="552038"/>
                    <a:pt x="98266" y="552038"/>
                  </a:cubicBezTo>
                  <a:lnTo>
                    <a:pt x="308134" y="552038"/>
                  </a:lnTo>
                  <a:cubicBezTo>
                    <a:pt x="362405" y="552038"/>
                    <a:pt x="406400" y="596033"/>
                    <a:pt x="406400" y="650304"/>
                  </a:cubicBezTo>
                  <a:lnTo>
                    <a:pt x="406400" y="656972"/>
                  </a:lnTo>
                  <a:cubicBezTo>
                    <a:pt x="406400" y="673435"/>
                    <a:pt x="416317" y="688277"/>
                    <a:pt x="431527" y="694577"/>
                  </a:cubicBezTo>
                  <a:cubicBezTo>
                    <a:pt x="446736" y="700877"/>
                    <a:pt x="464243" y="697395"/>
                    <a:pt x="475884" y="685754"/>
                  </a:cubicBezTo>
                  <a:lnTo>
                    <a:pt x="743316" y="418322"/>
                  </a:lnTo>
                  <a:cubicBezTo>
                    <a:pt x="781691" y="379947"/>
                    <a:pt x="781691" y="317729"/>
                    <a:pt x="743316" y="279354"/>
                  </a:cubicBezTo>
                  <a:close/>
                </a:path>
              </a:pathLst>
            </a:custGeom>
            <a:solidFill>
              <a:srgbClr val="4E6C7E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" name="TextBox 19">
              <a:extLst>
                <a:ext uri="{FF2B5EF4-FFF2-40B4-BE49-F238E27FC236}">
                  <a16:creationId xmlns:a16="http://schemas.microsoft.com/office/drawing/2014/main" id="{B7628A76-E055-5F46-AEC2-F46BA45E8DCA}"/>
                </a:ext>
              </a:extLst>
            </p:cNvPr>
            <p:cNvSpPr txBox="1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 dirty="0"/>
            </a:p>
          </p:txBody>
        </p:sp>
      </p:grpSp>
      <p:grpSp>
        <p:nvGrpSpPr>
          <p:cNvPr id="32" name="Group 17">
            <a:extLst>
              <a:ext uri="{FF2B5EF4-FFF2-40B4-BE49-F238E27FC236}">
                <a16:creationId xmlns:a16="http://schemas.microsoft.com/office/drawing/2014/main" id="{76EDC5EC-6832-4D45-E0C7-2EB693BEAC46}"/>
              </a:ext>
            </a:extLst>
          </p:cNvPr>
          <p:cNvGrpSpPr/>
          <p:nvPr/>
        </p:nvGrpSpPr>
        <p:grpSpPr>
          <a:xfrm flipH="1">
            <a:off x="11099693" y="6571002"/>
            <a:ext cx="593486" cy="338133"/>
            <a:chOff x="0" y="35103"/>
            <a:chExt cx="1224552" cy="697677"/>
          </a:xfrm>
        </p:grpSpPr>
        <p:sp>
          <p:nvSpPr>
            <p:cNvPr id="33" name="Freeform 18">
              <a:extLst>
                <a:ext uri="{FF2B5EF4-FFF2-40B4-BE49-F238E27FC236}">
                  <a16:creationId xmlns:a16="http://schemas.microsoft.com/office/drawing/2014/main" id="{92B09BB5-DE33-0026-2663-9F2C7F154BF4}"/>
                </a:ext>
              </a:extLst>
            </p:cNvPr>
            <p:cNvSpPr/>
            <p:nvPr/>
          </p:nvSpPr>
          <p:spPr>
            <a:xfrm>
              <a:off x="452455" y="35103"/>
              <a:ext cx="772097" cy="697677"/>
            </a:xfrm>
            <a:custGeom>
              <a:avLst/>
              <a:gdLst/>
              <a:ahLst/>
              <a:cxnLst/>
              <a:rect l="l" t="t" r="r" b="b"/>
              <a:pathLst>
                <a:path w="772097" h="697677">
                  <a:moveTo>
                    <a:pt x="743316" y="279354"/>
                  </a:moveTo>
                  <a:lnTo>
                    <a:pt x="475884" y="11922"/>
                  </a:lnTo>
                  <a:cubicBezTo>
                    <a:pt x="464243" y="281"/>
                    <a:pt x="446736" y="-3201"/>
                    <a:pt x="431527" y="3099"/>
                  </a:cubicBezTo>
                  <a:cubicBezTo>
                    <a:pt x="416317" y="9399"/>
                    <a:pt x="406400" y="24241"/>
                    <a:pt x="406400" y="40704"/>
                  </a:cubicBezTo>
                  <a:lnTo>
                    <a:pt x="406400" y="47372"/>
                  </a:lnTo>
                  <a:cubicBezTo>
                    <a:pt x="406400" y="101643"/>
                    <a:pt x="362405" y="145638"/>
                    <a:pt x="308134" y="145638"/>
                  </a:cubicBezTo>
                  <a:lnTo>
                    <a:pt x="98266" y="145638"/>
                  </a:lnTo>
                  <a:cubicBezTo>
                    <a:pt x="43995" y="145638"/>
                    <a:pt x="0" y="189633"/>
                    <a:pt x="0" y="243904"/>
                  </a:cubicBezTo>
                  <a:lnTo>
                    <a:pt x="0" y="453772"/>
                  </a:lnTo>
                  <a:cubicBezTo>
                    <a:pt x="0" y="508043"/>
                    <a:pt x="43995" y="552038"/>
                    <a:pt x="98266" y="552038"/>
                  </a:cubicBezTo>
                  <a:lnTo>
                    <a:pt x="308134" y="552038"/>
                  </a:lnTo>
                  <a:cubicBezTo>
                    <a:pt x="362405" y="552038"/>
                    <a:pt x="406400" y="596033"/>
                    <a:pt x="406400" y="650304"/>
                  </a:cubicBezTo>
                  <a:lnTo>
                    <a:pt x="406400" y="656972"/>
                  </a:lnTo>
                  <a:cubicBezTo>
                    <a:pt x="406400" y="673435"/>
                    <a:pt x="416317" y="688277"/>
                    <a:pt x="431527" y="694577"/>
                  </a:cubicBezTo>
                  <a:cubicBezTo>
                    <a:pt x="446736" y="700877"/>
                    <a:pt x="464243" y="697395"/>
                    <a:pt x="475884" y="685754"/>
                  </a:cubicBezTo>
                  <a:lnTo>
                    <a:pt x="743316" y="418322"/>
                  </a:lnTo>
                  <a:cubicBezTo>
                    <a:pt x="781691" y="379947"/>
                    <a:pt x="781691" y="317729"/>
                    <a:pt x="743316" y="279354"/>
                  </a:cubicBezTo>
                  <a:close/>
                </a:path>
              </a:pathLst>
            </a:custGeom>
            <a:solidFill>
              <a:srgbClr val="4E6C7E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" name="TextBox 19">
              <a:extLst>
                <a:ext uri="{FF2B5EF4-FFF2-40B4-BE49-F238E27FC236}">
                  <a16:creationId xmlns:a16="http://schemas.microsoft.com/office/drawing/2014/main" id="{9DD9AFDD-A992-76AB-6B3E-B30608D9702C}"/>
                </a:ext>
              </a:extLst>
            </p:cNvPr>
            <p:cNvSpPr txBox="1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 dirty="0"/>
            </a:p>
          </p:txBody>
        </p:sp>
      </p:grpSp>
      <p:grpSp>
        <p:nvGrpSpPr>
          <p:cNvPr id="35" name="Group 17">
            <a:extLst>
              <a:ext uri="{FF2B5EF4-FFF2-40B4-BE49-F238E27FC236}">
                <a16:creationId xmlns:a16="http://schemas.microsoft.com/office/drawing/2014/main" id="{7E063C17-5B0E-F4D4-1A22-1A694722B7AB}"/>
              </a:ext>
            </a:extLst>
          </p:cNvPr>
          <p:cNvGrpSpPr/>
          <p:nvPr/>
        </p:nvGrpSpPr>
        <p:grpSpPr>
          <a:xfrm flipH="1">
            <a:off x="11071738" y="7571704"/>
            <a:ext cx="593486" cy="338133"/>
            <a:chOff x="0" y="35103"/>
            <a:chExt cx="1224552" cy="697677"/>
          </a:xfrm>
        </p:grpSpPr>
        <p:sp>
          <p:nvSpPr>
            <p:cNvPr id="36" name="Freeform 18">
              <a:extLst>
                <a:ext uri="{FF2B5EF4-FFF2-40B4-BE49-F238E27FC236}">
                  <a16:creationId xmlns:a16="http://schemas.microsoft.com/office/drawing/2014/main" id="{11A463DB-FAB5-EBD0-AD7B-29A97C907828}"/>
                </a:ext>
              </a:extLst>
            </p:cNvPr>
            <p:cNvSpPr/>
            <p:nvPr/>
          </p:nvSpPr>
          <p:spPr>
            <a:xfrm>
              <a:off x="452455" y="35103"/>
              <a:ext cx="772097" cy="697677"/>
            </a:xfrm>
            <a:custGeom>
              <a:avLst/>
              <a:gdLst/>
              <a:ahLst/>
              <a:cxnLst/>
              <a:rect l="l" t="t" r="r" b="b"/>
              <a:pathLst>
                <a:path w="772097" h="697677">
                  <a:moveTo>
                    <a:pt x="743316" y="279354"/>
                  </a:moveTo>
                  <a:lnTo>
                    <a:pt x="475884" y="11922"/>
                  </a:lnTo>
                  <a:cubicBezTo>
                    <a:pt x="464243" y="281"/>
                    <a:pt x="446736" y="-3201"/>
                    <a:pt x="431527" y="3099"/>
                  </a:cubicBezTo>
                  <a:cubicBezTo>
                    <a:pt x="416317" y="9399"/>
                    <a:pt x="406400" y="24241"/>
                    <a:pt x="406400" y="40704"/>
                  </a:cubicBezTo>
                  <a:lnTo>
                    <a:pt x="406400" y="47372"/>
                  </a:lnTo>
                  <a:cubicBezTo>
                    <a:pt x="406400" y="101643"/>
                    <a:pt x="362405" y="145638"/>
                    <a:pt x="308134" y="145638"/>
                  </a:cubicBezTo>
                  <a:lnTo>
                    <a:pt x="98266" y="145638"/>
                  </a:lnTo>
                  <a:cubicBezTo>
                    <a:pt x="43995" y="145638"/>
                    <a:pt x="0" y="189633"/>
                    <a:pt x="0" y="243904"/>
                  </a:cubicBezTo>
                  <a:lnTo>
                    <a:pt x="0" y="453772"/>
                  </a:lnTo>
                  <a:cubicBezTo>
                    <a:pt x="0" y="508043"/>
                    <a:pt x="43995" y="552038"/>
                    <a:pt x="98266" y="552038"/>
                  </a:cubicBezTo>
                  <a:lnTo>
                    <a:pt x="308134" y="552038"/>
                  </a:lnTo>
                  <a:cubicBezTo>
                    <a:pt x="362405" y="552038"/>
                    <a:pt x="406400" y="596033"/>
                    <a:pt x="406400" y="650304"/>
                  </a:cubicBezTo>
                  <a:lnTo>
                    <a:pt x="406400" y="656972"/>
                  </a:lnTo>
                  <a:cubicBezTo>
                    <a:pt x="406400" y="673435"/>
                    <a:pt x="416317" y="688277"/>
                    <a:pt x="431527" y="694577"/>
                  </a:cubicBezTo>
                  <a:cubicBezTo>
                    <a:pt x="446736" y="700877"/>
                    <a:pt x="464243" y="697395"/>
                    <a:pt x="475884" y="685754"/>
                  </a:cubicBezTo>
                  <a:lnTo>
                    <a:pt x="743316" y="418322"/>
                  </a:lnTo>
                  <a:cubicBezTo>
                    <a:pt x="781691" y="379947"/>
                    <a:pt x="781691" y="317729"/>
                    <a:pt x="743316" y="279354"/>
                  </a:cubicBezTo>
                  <a:close/>
                </a:path>
              </a:pathLst>
            </a:custGeom>
            <a:solidFill>
              <a:srgbClr val="4E6C7E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" name="TextBox 19">
              <a:extLst>
                <a:ext uri="{FF2B5EF4-FFF2-40B4-BE49-F238E27FC236}">
                  <a16:creationId xmlns:a16="http://schemas.microsoft.com/office/drawing/2014/main" id="{CE88A497-0D3F-0D02-259C-821FF249E450}"/>
                </a:ext>
              </a:extLst>
            </p:cNvPr>
            <p:cNvSpPr txBox="1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 dirty="0"/>
            </a:p>
          </p:txBody>
        </p:sp>
      </p:grpSp>
      <p:sp>
        <p:nvSpPr>
          <p:cNvPr id="38" name="AutoShape 29">
            <a:extLst>
              <a:ext uri="{FF2B5EF4-FFF2-40B4-BE49-F238E27FC236}">
                <a16:creationId xmlns:a16="http://schemas.microsoft.com/office/drawing/2014/main" id="{BBF82AB8-6275-D860-9A05-0AC813DB4F95}"/>
              </a:ext>
            </a:extLst>
          </p:cNvPr>
          <p:cNvSpPr/>
          <p:nvPr/>
        </p:nvSpPr>
        <p:spPr>
          <a:xfrm>
            <a:off x="1905000" y="3732944"/>
            <a:ext cx="80772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0B7975E3-B7C9-439A-5E71-988729975A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9365" y="2930529"/>
            <a:ext cx="7303494" cy="7416185"/>
          </a:xfrm>
          <a:prstGeom prst="flowChartConnector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226694B-4C3C-08A7-F2D1-2DF42A6BA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526" y="3009900"/>
            <a:ext cx="7040880" cy="5029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B4173C-E6F5-BF5B-40F5-D5537847A6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83" r="66667" b="48365"/>
          <a:stretch>
            <a:fillRect/>
          </a:stretch>
        </p:blipFill>
        <p:spPr>
          <a:xfrm>
            <a:off x="12573000" y="3009900"/>
            <a:ext cx="4800600" cy="4813054"/>
          </a:xfrm>
          <a:prstGeom prst="rect">
            <a:avLst/>
          </a:prstGeom>
        </p:spPr>
      </p:pic>
      <p:sp>
        <p:nvSpPr>
          <p:cNvPr id="4" name="TextBox 16">
            <a:extLst>
              <a:ext uri="{FF2B5EF4-FFF2-40B4-BE49-F238E27FC236}">
                <a16:creationId xmlns:a16="http://schemas.microsoft.com/office/drawing/2014/main" id="{E95C5539-D97F-5C6D-AE3F-518587D69D4F}"/>
              </a:ext>
            </a:extLst>
          </p:cNvPr>
          <p:cNvSpPr txBox="1"/>
          <p:nvPr/>
        </p:nvSpPr>
        <p:spPr>
          <a:xfrm>
            <a:off x="4335121" y="643781"/>
            <a:ext cx="9617757" cy="974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7371"/>
              </a:lnSpc>
            </a:pPr>
            <a:r>
              <a:rPr lang="ar-EG" sz="7599" b="1" dirty="0">
                <a:latin typeface="Poppins Bold"/>
                <a:ea typeface="Poppins Bold"/>
                <a:cs typeface="+mj-cs"/>
                <a:sym typeface="Poppins Bold"/>
              </a:rPr>
              <a:t>أهداف برامج التأهيل الحركي</a:t>
            </a:r>
            <a:endParaRPr lang="en-US" sz="7599" b="1" dirty="0">
              <a:latin typeface="Poppins Bold"/>
              <a:ea typeface="Poppins Bold"/>
              <a:cs typeface="+mj-cs"/>
              <a:sym typeface="Poppins Bold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05DE66-FF2C-602B-23DE-53A8CFB114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71"/>
          <a:stretch>
            <a:fillRect/>
          </a:stretch>
        </p:blipFill>
        <p:spPr>
          <a:xfrm>
            <a:off x="1752600" y="3238500"/>
            <a:ext cx="4362926" cy="5027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7061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9A7196-2F39-5500-D229-CF294B76B9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5356784"/>
            <a:ext cx="7166194" cy="53428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8D4D70-2721-EF81-674C-02B6B45B5B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5746" y="38100"/>
            <a:ext cx="7608425" cy="5181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00ABA43-7445-51D3-B045-5DF6E6C22C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42900"/>
            <a:ext cx="7410415" cy="4448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388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54B18-2D5C-49E5-B5FB-F985E0563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3680F725-2E03-82DF-E028-82937F936E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02"/>
          <a:stretch>
            <a:fillRect/>
          </a:stretch>
        </p:blipFill>
        <p:spPr>
          <a:xfrm>
            <a:off x="0" y="1943099"/>
            <a:ext cx="8625889" cy="8421679"/>
          </a:xfrm>
          <a:prstGeom prst="rect">
            <a:avLst/>
          </a:prstGeom>
        </p:spPr>
      </p:pic>
      <p:sp>
        <p:nvSpPr>
          <p:cNvPr id="19" name="TextBox 19">
            <a:extLst>
              <a:ext uri="{FF2B5EF4-FFF2-40B4-BE49-F238E27FC236}">
                <a16:creationId xmlns:a16="http://schemas.microsoft.com/office/drawing/2014/main" id="{D633F605-3331-649C-D0F0-EE55CC895C29}"/>
              </a:ext>
            </a:extLst>
          </p:cNvPr>
          <p:cNvSpPr txBox="1"/>
          <p:nvPr/>
        </p:nvSpPr>
        <p:spPr>
          <a:xfrm>
            <a:off x="2758885" y="419100"/>
            <a:ext cx="9957469" cy="984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7371"/>
              </a:lnSpc>
            </a:pPr>
            <a:r>
              <a:rPr lang="ar-EG" sz="7599" b="1" dirty="0">
                <a:solidFill>
                  <a:srgbClr val="4383D1"/>
                </a:solidFill>
                <a:latin typeface="Poppins Bold"/>
                <a:ea typeface="Poppins Bold"/>
                <a:cs typeface="+mj-cs"/>
                <a:sym typeface="Poppins Bold"/>
              </a:rPr>
              <a:t>أنواع التمرينات التأهيلية</a:t>
            </a:r>
            <a:endParaRPr lang="en-US" sz="7599" b="1" dirty="0">
              <a:solidFill>
                <a:srgbClr val="4383D1"/>
              </a:solidFill>
              <a:latin typeface="Poppins Bold"/>
              <a:ea typeface="Poppins Bold"/>
              <a:cs typeface="+mj-cs"/>
              <a:sym typeface="Poppins Bold"/>
            </a:endParaRPr>
          </a:p>
        </p:txBody>
      </p:sp>
      <p:sp>
        <p:nvSpPr>
          <p:cNvPr id="29" name="AutoShape 24">
            <a:extLst>
              <a:ext uri="{FF2B5EF4-FFF2-40B4-BE49-F238E27FC236}">
                <a16:creationId xmlns:a16="http://schemas.microsoft.com/office/drawing/2014/main" id="{C22A6C1B-C665-795B-1525-A10536024BBB}"/>
              </a:ext>
            </a:extLst>
          </p:cNvPr>
          <p:cNvSpPr/>
          <p:nvPr/>
        </p:nvSpPr>
        <p:spPr>
          <a:xfrm>
            <a:off x="5265797" y="1403665"/>
            <a:ext cx="745055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EEA21FA-B874-AE0F-9C6F-3C1A8F8C5B7D}"/>
              </a:ext>
            </a:extLst>
          </p:cNvPr>
          <p:cNvGrpSpPr/>
          <p:nvPr/>
        </p:nvGrpSpPr>
        <p:grpSpPr>
          <a:xfrm>
            <a:off x="8534400" y="3261361"/>
            <a:ext cx="4389120" cy="3385542"/>
            <a:chOff x="7239000" y="3238500"/>
            <a:chExt cx="4389120" cy="3385542"/>
          </a:xfrm>
        </p:grpSpPr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0B628380-0438-CEBC-7442-8D94593297F0}"/>
                </a:ext>
              </a:extLst>
            </p:cNvPr>
            <p:cNvSpPr txBox="1"/>
            <p:nvPr/>
          </p:nvSpPr>
          <p:spPr>
            <a:xfrm>
              <a:off x="7239000" y="3238500"/>
              <a:ext cx="3444981" cy="338554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 rtl="1"/>
              <a:r>
                <a:rPr lang="ar-EG" sz="440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تمرينات عامة</a:t>
              </a:r>
            </a:p>
            <a:p>
              <a:pPr algn="ctr" rtl="1"/>
              <a:endParaRPr lang="ar-EG" sz="4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ctr" rtl="1"/>
              <a:r>
                <a:rPr lang="ar-EG" sz="440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تمرينات خاصة</a:t>
              </a:r>
            </a:p>
            <a:p>
              <a:pPr algn="ctr" rtl="1"/>
              <a:endParaRPr lang="ar-EG" sz="4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ctr" rtl="1"/>
              <a:r>
                <a:rPr lang="ar-EG" sz="440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تمرينات تخصصية</a:t>
              </a:r>
              <a:endParaRPr lang="en-US" sz="4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FFB68054-9AD5-DD04-8440-83DC54BC6709}"/>
                </a:ext>
              </a:extLst>
            </p:cNvPr>
            <p:cNvGrpSpPr/>
            <p:nvPr/>
          </p:nvGrpSpPr>
          <p:grpSpPr>
            <a:xfrm>
              <a:off x="10942320" y="3423309"/>
              <a:ext cx="685800" cy="3130228"/>
              <a:chOff x="10942320" y="3423309"/>
              <a:chExt cx="685800" cy="3130228"/>
            </a:xfrm>
          </p:grpSpPr>
          <p:sp>
            <p:nvSpPr>
              <p:cNvPr id="38" name="Arrow: Right 37">
                <a:extLst>
                  <a:ext uri="{FF2B5EF4-FFF2-40B4-BE49-F238E27FC236}">
                    <a16:creationId xmlns:a16="http://schemas.microsoft.com/office/drawing/2014/main" id="{F9B83F29-DE92-FA54-89D2-E737A965D936}"/>
                  </a:ext>
                </a:extLst>
              </p:cNvPr>
              <p:cNvSpPr/>
              <p:nvPr/>
            </p:nvSpPr>
            <p:spPr>
              <a:xfrm flipH="1">
                <a:off x="10942320" y="4762506"/>
                <a:ext cx="685800" cy="380994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Arrow: Right 40">
                <a:extLst>
                  <a:ext uri="{FF2B5EF4-FFF2-40B4-BE49-F238E27FC236}">
                    <a16:creationId xmlns:a16="http://schemas.microsoft.com/office/drawing/2014/main" id="{BBD66761-FCE4-42F3-228F-96346082124F}"/>
                  </a:ext>
                </a:extLst>
              </p:cNvPr>
              <p:cNvSpPr/>
              <p:nvPr/>
            </p:nvSpPr>
            <p:spPr>
              <a:xfrm flipH="1">
                <a:off x="10942320" y="3423309"/>
                <a:ext cx="685800" cy="380994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2" name="Arrow: Right 41">
                <a:extLst>
                  <a:ext uri="{FF2B5EF4-FFF2-40B4-BE49-F238E27FC236}">
                    <a16:creationId xmlns:a16="http://schemas.microsoft.com/office/drawing/2014/main" id="{C65F9FE0-C44B-2A3B-B8C4-43487D4F40EE}"/>
                  </a:ext>
                </a:extLst>
              </p:cNvPr>
              <p:cNvSpPr/>
              <p:nvPr/>
            </p:nvSpPr>
            <p:spPr>
              <a:xfrm flipH="1">
                <a:off x="10942320" y="6172543"/>
                <a:ext cx="685800" cy="380994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834343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07878-B513-7C46-FC65-3C5A72B09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56BEDC94-FBA1-F0A3-7CCB-3AA12889E07F}"/>
              </a:ext>
            </a:extLst>
          </p:cNvPr>
          <p:cNvGrpSpPr/>
          <p:nvPr/>
        </p:nvGrpSpPr>
        <p:grpSpPr>
          <a:xfrm>
            <a:off x="-3029650" y="-2612266"/>
            <a:ext cx="5581577" cy="5581577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C120242-84F5-1EFD-28B6-CC9806F459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77FD6">
                    <a:alpha val="31000"/>
                  </a:srgbClr>
                </a:gs>
                <a:gs pos="100000">
                  <a:srgbClr val="CBE2FF">
                    <a:alpha val="31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7737E3AD-3E1A-055E-4649-7FBC59A219D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0A362429-8855-7470-5C25-F5048DA0C6E3}"/>
              </a:ext>
            </a:extLst>
          </p:cNvPr>
          <p:cNvGrpSpPr/>
          <p:nvPr/>
        </p:nvGrpSpPr>
        <p:grpSpPr>
          <a:xfrm>
            <a:off x="2053682" y="-1062092"/>
            <a:ext cx="1928382" cy="1928382"/>
            <a:chOff x="0" y="0"/>
            <a:chExt cx="812800" cy="8128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FD7AB0C-192C-7CC2-A052-B17A69CD96A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77FD6">
                    <a:alpha val="31000"/>
                  </a:srgbClr>
                </a:gs>
                <a:gs pos="100000">
                  <a:srgbClr val="CBE2FF">
                    <a:alpha val="31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EE3425E-5FA0-862A-75DE-6E25714635F6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BA9B3F00-BF4A-7F08-3D3C-8806DAE1C8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185" y="1641393"/>
            <a:ext cx="12398041" cy="8645607"/>
          </a:xfrm>
          <a:prstGeom prst="rect">
            <a:avLst/>
          </a:prstGeom>
        </p:spPr>
      </p:pic>
      <p:sp>
        <p:nvSpPr>
          <p:cNvPr id="56" name="Flowchart: Connector 55">
            <a:extLst>
              <a:ext uri="{FF2B5EF4-FFF2-40B4-BE49-F238E27FC236}">
                <a16:creationId xmlns:a16="http://schemas.microsoft.com/office/drawing/2014/main" id="{D3B936D9-865B-73E9-698D-ED1B612598F1}"/>
              </a:ext>
            </a:extLst>
          </p:cNvPr>
          <p:cNvSpPr/>
          <p:nvPr/>
        </p:nvSpPr>
        <p:spPr>
          <a:xfrm>
            <a:off x="10363200" y="1943100"/>
            <a:ext cx="6324600" cy="4555354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lowchart: Connector 56">
            <a:extLst>
              <a:ext uri="{FF2B5EF4-FFF2-40B4-BE49-F238E27FC236}">
                <a16:creationId xmlns:a16="http://schemas.microsoft.com/office/drawing/2014/main" id="{330CB8DC-CAE2-B411-B6EC-5ECEB31EEC17}"/>
              </a:ext>
            </a:extLst>
          </p:cNvPr>
          <p:cNvSpPr/>
          <p:nvPr/>
        </p:nvSpPr>
        <p:spPr>
          <a:xfrm>
            <a:off x="10332720" y="1552076"/>
            <a:ext cx="6324600" cy="4555354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lowchart: Connector 57">
            <a:extLst>
              <a:ext uri="{FF2B5EF4-FFF2-40B4-BE49-F238E27FC236}">
                <a16:creationId xmlns:a16="http://schemas.microsoft.com/office/drawing/2014/main" id="{D5D472AC-AD1A-9E2B-B3D4-39F1F191735B}"/>
              </a:ext>
            </a:extLst>
          </p:cNvPr>
          <p:cNvSpPr/>
          <p:nvPr/>
        </p:nvSpPr>
        <p:spPr>
          <a:xfrm>
            <a:off x="2084162" y="1460607"/>
            <a:ext cx="6324600" cy="4555354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lowchart: Connector 58">
            <a:extLst>
              <a:ext uri="{FF2B5EF4-FFF2-40B4-BE49-F238E27FC236}">
                <a16:creationId xmlns:a16="http://schemas.microsoft.com/office/drawing/2014/main" id="{385AD0D4-8A3B-E36D-12D6-94A138A02AF6}"/>
              </a:ext>
            </a:extLst>
          </p:cNvPr>
          <p:cNvSpPr/>
          <p:nvPr/>
        </p:nvSpPr>
        <p:spPr>
          <a:xfrm>
            <a:off x="1828800" y="1847091"/>
            <a:ext cx="6324600" cy="4555354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05C8BFB-BA56-BAFF-88BC-81044E2E57F4}"/>
              </a:ext>
            </a:extLst>
          </p:cNvPr>
          <p:cNvSpPr txBox="1"/>
          <p:nvPr/>
        </p:nvSpPr>
        <p:spPr>
          <a:xfrm>
            <a:off x="3174665" y="2753719"/>
            <a:ext cx="9957469" cy="984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7371"/>
              </a:lnSpc>
            </a:pPr>
            <a:r>
              <a:rPr lang="ar-EG" sz="7599" b="1" dirty="0">
                <a:solidFill>
                  <a:srgbClr val="4383D1"/>
                </a:solidFill>
                <a:latin typeface="Poppins Bold"/>
                <a:ea typeface="Poppins Bold"/>
                <a:cs typeface="+mj-cs"/>
                <a:sym typeface="Poppins Bold"/>
              </a:rPr>
              <a:t>تقسيمات التمرينات التأهيلية</a:t>
            </a:r>
            <a:endParaRPr lang="en-US" sz="7599" b="1" dirty="0">
              <a:solidFill>
                <a:srgbClr val="4383D1"/>
              </a:solidFill>
              <a:latin typeface="Poppins Bold"/>
              <a:ea typeface="Poppins Bold"/>
              <a:cs typeface="+mj-cs"/>
              <a:sym typeface="Poppins Bold"/>
            </a:endParaRPr>
          </a:p>
        </p:txBody>
      </p:sp>
    </p:spTree>
    <p:extLst>
      <p:ext uri="{BB962C8B-B14F-4D97-AF65-F5344CB8AC3E}">
        <p14:creationId xmlns:p14="http://schemas.microsoft.com/office/powerpoint/2010/main" val="5968812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5FB3DB-41E3-18E0-A364-FC1E48B79C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481"/>
          <a:stretch>
            <a:fillRect/>
          </a:stretch>
        </p:blipFill>
        <p:spPr>
          <a:xfrm>
            <a:off x="2438400" y="22091"/>
            <a:ext cx="12931140" cy="85023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B9C431-A0F8-6A65-E527-0697DA8017D2}"/>
              </a:ext>
            </a:extLst>
          </p:cNvPr>
          <p:cNvSpPr txBox="1"/>
          <p:nvPr/>
        </p:nvSpPr>
        <p:spPr>
          <a:xfrm>
            <a:off x="9269730" y="2705100"/>
            <a:ext cx="51054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5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تمرينات إيجابية</a:t>
            </a:r>
          </a:p>
          <a:p>
            <a:pPr algn="ctr" rtl="1"/>
            <a:r>
              <a:rPr lang="ar-EG" sz="5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r" rtl="1"/>
            <a:r>
              <a:rPr lang="ar-EG" sz="5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حركة مستقلة بالكامل </a:t>
            </a:r>
          </a:p>
          <a:p>
            <a:pPr algn="ctr" rtl="1"/>
            <a:endParaRPr lang="ar-EG" sz="44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/>
            <a:endParaRPr lang="en-US" dirty="0"/>
          </a:p>
        </p:txBody>
      </p:sp>
      <p:sp>
        <p:nvSpPr>
          <p:cNvPr id="7" name="AutoShape 24">
            <a:extLst>
              <a:ext uri="{FF2B5EF4-FFF2-40B4-BE49-F238E27FC236}">
                <a16:creationId xmlns:a16="http://schemas.microsoft.com/office/drawing/2014/main" id="{CF6294F4-4668-8DED-DD2D-551694F8990A}"/>
              </a:ext>
            </a:extLst>
          </p:cNvPr>
          <p:cNvSpPr/>
          <p:nvPr/>
        </p:nvSpPr>
        <p:spPr>
          <a:xfrm>
            <a:off x="10287001" y="3619500"/>
            <a:ext cx="31242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21EAE6-EACD-4403-8302-D51AC04A7DF3}"/>
              </a:ext>
            </a:extLst>
          </p:cNvPr>
          <p:cNvSpPr txBox="1"/>
          <p:nvPr/>
        </p:nvSpPr>
        <p:spPr>
          <a:xfrm>
            <a:off x="2651761" y="2842121"/>
            <a:ext cx="56540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5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تمرينات بمساعدة</a:t>
            </a:r>
          </a:p>
          <a:p>
            <a:pPr algn="ctr" rtl="1"/>
            <a:endParaRPr lang="ar-EG" sz="54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 rtl="1"/>
            <a:r>
              <a:rPr lang="ar-EG" sz="5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تحكم جزئي من المريض</a:t>
            </a:r>
          </a:p>
          <a:p>
            <a:pPr algn="ctr"/>
            <a:endParaRPr lang="en-US" dirty="0"/>
          </a:p>
        </p:txBody>
      </p:sp>
      <p:sp>
        <p:nvSpPr>
          <p:cNvPr id="9" name="AutoShape 24">
            <a:extLst>
              <a:ext uri="{FF2B5EF4-FFF2-40B4-BE49-F238E27FC236}">
                <a16:creationId xmlns:a16="http://schemas.microsoft.com/office/drawing/2014/main" id="{52CD0386-EAD2-7B69-7554-149FE5BDA61B}"/>
              </a:ext>
            </a:extLst>
          </p:cNvPr>
          <p:cNvSpPr/>
          <p:nvPr/>
        </p:nvSpPr>
        <p:spPr>
          <a:xfrm>
            <a:off x="3733800" y="3619500"/>
            <a:ext cx="37338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2926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9816C4-9EBE-8E5B-88A8-6AE31C2B0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6696F3-D239-B12E-0069-E44FBA1968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481"/>
          <a:stretch>
            <a:fillRect/>
          </a:stretch>
        </p:blipFill>
        <p:spPr>
          <a:xfrm>
            <a:off x="2438400" y="22091"/>
            <a:ext cx="12931140" cy="85023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FD1CC1-C5AE-39A9-7205-1C3927EE31C8}"/>
              </a:ext>
            </a:extLst>
          </p:cNvPr>
          <p:cNvSpPr txBox="1"/>
          <p:nvPr/>
        </p:nvSpPr>
        <p:spPr>
          <a:xfrm>
            <a:off x="9144000" y="2781300"/>
            <a:ext cx="510540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5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تمرينات سلبية</a:t>
            </a:r>
          </a:p>
          <a:p>
            <a:pPr algn="ctr" rtl="1"/>
            <a:endParaRPr lang="ar-EG" sz="44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 rtl="1"/>
            <a:r>
              <a:rPr lang="ar-EG" sz="5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مساعدة خارجية كاملة</a:t>
            </a:r>
          </a:p>
          <a:p>
            <a:pPr algn="ctr"/>
            <a:endParaRPr lang="en-US" dirty="0"/>
          </a:p>
        </p:txBody>
      </p:sp>
      <p:sp>
        <p:nvSpPr>
          <p:cNvPr id="7" name="AutoShape 24">
            <a:extLst>
              <a:ext uri="{FF2B5EF4-FFF2-40B4-BE49-F238E27FC236}">
                <a16:creationId xmlns:a16="http://schemas.microsoft.com/office/drawing/2014/main" id="{5B7B5964-E06C-E2DB-4063-6690B58E3157}"/>
              </a:ext>
            </a:extLst>
          </p:cNvPr>
          <p:cNvSpPr/>
          <p:nvPr/>
        </p:nvSpPr>
        <p:spPr>
          <a:xfrm>
            <a:off x="10287001" y="3619500"/>
            <a:ext cx="31242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A7FE7C-2DD0-2D18-E7FB-6C86B0A57B23}"/>
              </a:ext>
            </a:extLst>
          </p:cNvPr>
          <p:cNvSpPr txBox="1"/>
          <p:nvPr/>
        </p:nvSpPr>
        <p:spPr>
          <a:xfrm>
            <a:off x="2773680" y="2781300"/>
            <a:ext cx="56540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5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تمرينات بمقاومة</a:t>
            </a:r>
          </a:p>
          <a:p>
            <a:pPr algn="ctr" rtl="1"/>
            <a:r>
              <a:rPr lang="ar-EG" sz="4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endParaRPr lang="ar-EG" sz="54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 rtl="1"/>
            <a:r>
              <a:rPr lang="ar-EG" sz="5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استخدام اوزان او اساتك مطاطية</a:t>
            </a:r>
            <a:endParaRPr lang="en-US" sz="54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 rtl="1"/>
            <a:endParaRPr lang="ar-EG" sz="54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/>
            <a:endParaRPr lang="en-US" dirty="0"/>
          </a:p>
        </p:txBody>
      </p:sp>
      <p:sp>
        <p:nvSpPr>
          <p:cNvPr id="9" name="AutoShape 24">
            <a:extLst>
              <a:ext uri="{FF2B5EF4-FFF2-40B4-BE49-F238E27FC236}">
                <a16:creationId xmlns:a16="http://schemas.microsoft.com/office/drawing/2014/main" id="{585BC782-30CC-46C5-81ED-6D72E141F8BD}"/>
              </a:ext>
            </a:extLst>
          </p:cNvPr>
          <p:cNvSpPr/>
          <p:nvPr/>
        </p:nvSpPr>
        <p:spPr>
          <a:xfrm>
            <a:off x="3733800" y="3619500"/>
            <a:ext cx="37338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8000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31AB22-606D-7312-70B0-B4D0535F3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9">
            <a:extLst>
              <a:ext uri="{FF2B5EF4-FFF2-40B4-BE49-F238E27FC236}">
                <a16:creationId xmlns:a16="http://schemas.microsoft.com/office/drawing/2014/main" id="{5D3A4068-AD65-035C-7086-B383684F8F90}"/>
              </a:ext>
            </a:extLst>
          </p:cNvPr>
          <p:cNvSpPr txBox="1"/>
          <p:nvPr/>
        </p:nvSpPr>
        <p:spPr>
          <a:xfrm>
            <a:off x="4358521" y="1648820"/>
            <a:ext cx="9957469" cy="984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7371"/>
              </a:lnSpc>
            </a:pPr>
            <a:r>
              <a:rPr lang="ar-EG" sz="7599" b="1" dirty="0">
                <a:solidFill>
                  <a:srgbClr val="4383D1"/>
                </a:solidFill>
                <a:latin typeface="Poppins Bold"/>
                <a:ea typeface="Poppins Bold"/>
                <a:cs typeface="+mj-cs"/>
                <a:sym typeface="Poppins Bold"/>
              </a:rPr>
              <a:t>التمرينات السلبية</a:t>
            </a:r>
            <a:endParaRPr lang="en-US" sz="7599" b="1" dirty="0">
              <a:solidFill>
                <a:srgbClr val="4383D1"/>
              </a:solidFill>
              <a:latin typeface="Poppins Bold"/>
              <a:ea typeface="Poppins Bold"/>
              <a:cs typeface="+mj-cs"/>
              <a:sym typeface="Poppins Bold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00B017F-D41D-F9AF-326E-56A7792C4A50}"/>
              </a:ext>
            </a:extLst>
          </p:cNvPr>
          <p:cNvGrpSpPr/>
          <p:nvPr/>
        </p:nvGrpSpPr>
        <p:grpSpPr>
          <a:xfrm>
            <a:off x="8918363" y="4000500"/>
            <a:ext cx="9342048" cy="2708434"/>
            <a:chOff x="4894970" y="3697521"/>
            <a:chExt cx="9342048" cy="2708434"/>
          </a:xfrm>
        </p:grpSpPr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E349B915-1565-A7C1-7A21-B8086D41A6FC}"/>
                </a:ext>
              </a:extLst>
            </p:cNvPr>
            <p:cNvSpPr txBox="1"/>
            <p:nvPr/>
          </p:nvSpPr>
          <p:spPr>
            <a:xfrm>
              <a:off x="4894970" y="3697521"/>
              <a:ext cx="8498060" cy="270843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 rtl="1"/>
              <a:r>
                <a:rPr lang="ar-EG" sz="440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منع تيبس المفاصل</a:t>
              </a:r>
            </a:p>
            <a:p>
              <a:pPr algn="r" rtl="1"/>
              <a:r>
                <a:rPr lang="ar-EG" sz="440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زيادة الاحساس بالتنبيه الداخلي للجهاز العصبي</a:t>
              </a:r>
            </a:p>
            <a:p>
              <a:pPr algn="r" rtl="1"/>
              <a:r>
                <a:rPr lang="ar-EG" sz="440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حفظ طول الاسترخاء للعضلة</a:t>
              </a:r>
            </a:p>
            <a:p>
              <a:pPr algn="r" rtl="1"/>
              <a:r>
                <a:rPr lang="ar-EG" sz="440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التهيئة والإعداد للتمرينات النشطة</a:t>
              </a:r>
              <a:endParaRPr lang="en-US" sz="4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grpSp>
          <p:nvGrpSpPr>
            <p:cNvPr id="32" name="Group 13">
              <a:extLst>
                <a:ext uri="{FF2B5EF4-FFF2-40B4-BE49-F238E27FC236}">
                  <a16:creationId xmlns:a16="http://schemas.microsoft.com/office/drawing/2014/main" id="{0C4DDDC2-2E01-D2D5-7781-E90C82BCC092}"/>
                </a:ext>
              </a:extLst>
            </p:cNvPr>
            <p:cNvGrpSpPr/>
            <p:nvPr/>
          </p:nvGrpSpPr>
          <p:grpSpPr>
            <a:xfrm flipH="1">
              <a:off x="13793849" y="4608029"/>
              <a:ext cx="393928" cy="393928"/>
              <a:chOff x="0" y="0"/>
              <a:chExt cx="812800" cy="812800"/>
            </a:xfrm>
          </p:grpSpPr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58933C82-E7BC-84D2-E45C-BEBC421F2D8E}"/>
                  </a:ext>
                </a:extLst>
              </p:cNvPr>
              <p:cNvSpPr/>
              <p:nvPr/>
            </p:nvSpPr>
            <p:spPr>
              <a:xfrm>
                <a:off x="0" y="57562"/>
                <a:ext cx="772097" cy="697677"/>
              </a:xfrm>
              <a:custGeom>
                <a:avLst/>
                <a:gdLst/>
                <a:ahLst/>
                <a:cxnLst/>
                <a:rect l="l" t="t" r="r" b="b"/>
                <a:pathLst>
                  <a:path w="772097" h="697677">
                    <a:moveTo>
                      <a:pt x="743316" y="279354"/>
                    </a:moveTo>
                    <a:lnTo>
                      <a:pt x="475884" y="11922"/>
                    </a:lnTo>
                    <a:cubicBezTo>
                      <a:pt x="464243" y="281"/>
                      <a:pt x="446736" y="-3201"/>
                      <a:pt x="431527" y="3099"/>
                    </a:cubicBezTo>
                    <a:cubicBezTo>
                      <a:pt x="416317" y="9399"/>
                      <a:pt x="406400" y="24241"/>
                      <a:pt x="406400" y="40704"/>
                    </a:cubicBezTo>
                    <a:lnTo>
                      <a:pt x="406400" y="47372"/>
                    </a:lnTo>
                    <a:cubicBezTo>
                      <a:pt x="406400" y="101643"/>
                      <a:pt x="362405" y="145638"/>
                      <a:pt x="308134" y="145638"/>
                    </a:cubicBezTo>
                    <a:lnTo>
                      <a:pt x="98266" y="145638"/>
                    </a:lnTo>
                    <a:cubicBezTo>
                      <a:pt x="43995" y="145638"/>
                      <a:pt x="0" y="189633"/>
                      <a:pt x="0" y="243904"/>
                    </a:cubicBezTo>
                    <a:lnTo>
                      <a:pt x="0" y="453772"/>
                    </a:lnTo>
                    <a:cubicBezTo>
                      <a:pt x="0" y="508043"/>
                      <a:pt x="43995" y="552038"/>
                      <a:pt x="98266" y="552038"/>
                    </a:cubicBezTo>
                    <a:lnTo>
                      <a:pt x="308134" y="552038"/>
                    </a:lnTo>
                    <a:cubicBezTo>
                      <a:pt x="362405" y="552038"/>
                      <a:pt x="406400" y="596033"/>
                      <a:pt x="406400" y="650304"/>
                    </a:cubicBezTo>
                    <a:lnTo>
                      <a:pt x="406400" y="656972"/>
                    </a:lnTo>
                    <a:cubicBezTo>
                      <a:pt x="406400" y="673435"/>
                      <a:pt x="416317" y="688277"/>
                      <a:pt x="431527" y="694577"/>
                    </a:cubicBezTo>
                    <a:cubicBezTo>
                      <a:pt x="446736" y="700877"/>
                      <a:pt x="464243" y="697395"/>
                      <a:pt x="475884" y="685754"/>
                    </a:cubicBezTo>
                    <a:lnTo>
                      <a:pt x="743316" y="418322"/>
                    </a:lnTo>
                    <a:cubicBezTo>
                      <a:pt x="781691" y="379947"/>
                      <a:pt x="781691" y="317729"/>
                      <a:pt x="743316" y="279354"/>
                    </a:cubicBezTo>
                    <a:close/>
                  </a:path>
                </a:pathLst>
              </a:custGeom>
              <a:solidFill>
                <a:srgbClr val="4E6C7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TextBox 15">
                <a:extLst>
                  <a:ext uri="{FF2B5EF4-FFF2-40B4-BE49-F238E27FC236}">
                    <a16:creationId xmlns:a16="http://schemas.microsoft.com/office/drawing/2014/main" id="{56058670-A781-F0DA-3F1B-D0C8671B7C1F}"/>
                  </a:ext>
                </a:extLst>
              </p:cNvPr>
              <p:cNvSpPr txBox="1"/>
              <p:nvPr/>
            </p:nvSpPr>
            <p:spPr>
              <a:xfrm>
                <a:off x="0" y="174625"/>
                <a:ext cx="711200" cy="434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 dirty="0"/>
              </a:p>
            </p:txBody>
          </p:sp>
        </p:grpSp>
        <p:grpSp>
          <p:nvGrpSpPr>
            <p:cNvPr id="35" name="Group 13">
              <a:extLst>
                <a:ext uri="{FF2B5EF4-FFF2-40B4-BE49-F238E27FC236}">
                  <a16:creationId xmlns:a16="http://schemas.microsoft.com/office/drawing/2014/main" id="{F9D7253F-897A-74B2-5C31-DBAAD498A359}"/>
                </a:ext>
              </a:extLst>
            </p:cNvPr>
            <p:cNvGrpSpPr/>
            <p:nvPr/>
          </p:nvGrpSpPr>
          <p:grpSpPr>
            <a:xfrm flipH="1">
              <a:off x="13843090" y="5849235"/>
              <a:ext cx="393928" cy="393928"/>
              <a:chOff x="0" y="57561"/>
              <a:chExt cx="772097" cy="697678"/>
            </a:xfrm>
          </p:grpSpPr>
          <p:sp>
            <p:nvSpPr>
              <p:cNvPr id="36" name="Freeform 14">
                <a:extLst>
                  <a:ext uri="{FF2B5EF4-FFF2-40B4-BE49-F238E27FC236}">
                    <a16:creationId xmlns:a16="http://schemas.microsoft.com/office/drawing/2014/main" id="{F0968CB3-C707-1AF5-9277-C21F1E6F5A74}"/>
                  </a:ext>
                </a:extLst>
              </p:cNvPr>
              <p:cNvSpPr/>
              <p:nvPr/>
            </p:nvSpPr>
            <p:spPr>
              <a:xfrm>
                <a:off x="0" y="57561"/>
                <a:ext cx="772097" cy="697678"/>
              </a:xfrm>
              <a:custGeom>
                <a:avLst/>
                <a:gdLst/>
                <a:ahLst/>
                <a:cxnLst/>
                <a:rect l="l" t="t" r="r" b="b"/>
                <a:pathLst>
                  <a:path w="772097" h="697677">
                    <a:moveTo>
                      <a:pt x="743316" y="279354"/>
                    </a:moveTo>
                    <a:lnTo>
                      <a:pt x="475884" y="11922"/>
                    </a:lnTo>
                    <a:cubicBezTo>
                      <a:pt x="464243" y="281"/>
                      <a:pt x="446736" y="-3201"/>
                      <a:pt x="431527" y="3099"/>
                    </a:cubicBezTo>
                    <a:cubicBezTo>
                      <a:pt x="416317" y="9399"/>
                      <a:pt x="406400" y="24241"/>
                      <a:pt x="406400" y="40704"/>
                    </a:cubicBezTo>
                    <a:lnTo>
                      <a:pt x="406400" y="47372"/>
                    </a:lnTo>
                    <a:cubicBezTo>
                      <a:pt x="406400" y="101643"/>
                      <a:pt x="362405" y="145638"/>
                      <a:pt x="308134" y="145638"/>
                    </a:cubicBezTo>
                    <a:lnTo>
                      <a:pt x="98266" y="145638"/>
                    </a:lnTo>
                    <a:cubicBezTo>
                      <a:pt x="43995" y="145638"/>
                      <a:pt x="0" y="189633"/>
                      <a:pt x="0" y="243904"/>
                    </a:cubicBezTo>
                    <a:lnTo>
                      <a:pt x="0" y="453772"/>
                    </a:lnTo>
                    <a:cubicBezTo>
                      <a:pt x="0" y="508043"/>
                      <a:pt x="43995" y="552038"/>
                      <a:pt x="98266" y="552038"/>
                    </a:cubicBezTo>
                    <a:lnTo>
                      <a:pt x="308134" y="552038"/>
                    </a:lnTo>
                    <a:cubicBezTo>
                      <a:pt x="362405" y="552038"/>
                      <a:pt x="406400" y="596033"/>
                      <a:pt x="406400" y="650304"/>
                    </a:cubicBezTo>
                    <a:lnTo>
                      <a:pt x="406400" y="656972"/>
                    </a:lnTo>
                    <a:cubicBezTo>
                      <a:pt x="406400" y="673435"/>
                      <a:pt x="416317" y="688277"/>
                      <a:pt x="431527" y="694577"/>
                    </a:cubicBezTo>
                    <a:cubicBezTo>
                      <a:pt x="446736" y="700877"/>
                      <a:pt x="464243" y="697395"/>
                      <a:pt x="475884" y="685754"/>
                    </a:cubicBezTo>
                    <a:lnTo>
                      <a:pt x="743316" y="418322"/>
                    </a:lnTo>
                    <a:cubicBezTo>
                      <a:pt x="781691" y="379947"/>
                      <a:pt x="781691" y="317729"/>
                      <a:pt x="743316" y="279354"/>
                    </a:cubicBezTo>
                    <a:close/>
                  </a:path>
                </a:pathLst>
              </a:custGeom>
              <a:solidFill>
                <a:srgbClr val="4E6C7E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7" name="TextBox 15">
                <a:extLst>
                  <a:ext uri="{FF2B5EF4-FFF2-40B4-BE49-F238E27FC236}">
                    <a16:creationId xmlns:a16="http://schemas.microsoft.com/office/drawing/2014/main" id="{CB88CCB2-BBA4-E9C9-553E-4A352FE08B97}"/>
                  </a:ext>
                </a:extLst>
              </p:cNvPr>
              <p:cNvSpPr txBox="1"/>
              <p:nvPr/>
            </p:nvSpPr>
            <p:spPr>
              <a:xfrm>
                <a:off x="0" y="174625"/>
                <a:ext cx="711200" cy="434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grpSp>
          <p:nvGrpSpPr>
            <p:cNvPr id="2" name="Group 13">
              <a:extLst>
                <a:ext uri="{FF2B5EF4-FFF2-40B4-BE49-F238E27FC236}">
                  <a16:creationId xmlns:a16="http://schemas.microsoft.com/office/drawing/2014/main" id="{D3A0C54D-DEAF-0E24-39ED-587912E2E9A6}"/>
                </a:ext>
              </a:extLst>
            </p:cNvPr>
            <p:cNvGrpSpPr/>
            <p:nvPr/>
          </p:nvGrpSpPr>
          <p:grpSpPr>
            <a:xfrm flipH="1">
              <a:off x="13818470" y="5247194"/>
              <a:ext cx="393928" cy="393928"/>
              <a:chOff x="0" y="0"/>
              <a:chExt cx="812800" cy="812800"/>
            </a:xfrm>
          </p:grpSpPr>
          <p:sp>
            <p:nvSpPr>
              <p:cNvPr id="13" name="Freeform 14">
                <a:extLst>
                  <a:ext uri="{FF2B5EF4-FFF2-40B4-BE49-F238E27FC236}">
                    <a16:creationId xmlns:a16="http://schemas.microsoft.com/office/drawing/2014/main" id="{FFDAF3FC-7BD8-EA80-1398-8D436CBB01E6}"/>
                  </a:ext>
                </a:extLst>
              </p:cNvPr>
              <p:cNvSpPr/>
              <p:nvPr/>
            </p:nvSpPr>
            <p:spPr>
              <a:xfrm>
                <a:off x="0" y="57562"/>
                <a:ext cx="772097" cy="697677"/>
              </a:xfrm>
              <a:custGeom>
                <a:avLst/>
                <a:gdLst/>
                <a:ahLst/>
                <a:cxnLst/>
                <a:rect l="l" t="t" r="r" b="b"/>
                <a:pathLst>
                  <a:path w="772097" h="697677">
                    <a:moveTo>
                      <a:pt x="743316" y="279354"/>
                    </a:moveTo>
                    <a:lnTo>
                      <a:pt x="475884" y="11922"/>
                    </a:lnTo>
                    <a:cubicBezTo>
                      <a:pt x="464243" y="281"/>
                      <a:pt x="446736" y="-3201"/>
                      <a:pt x="431527" y="3099"/>
                    </a:cubicBezTo>
                    <a:cubicBezTo>
                      <a:pt x="416317" y="9399"/>
                      <a:pt x="406400" y="24241"/>
                      <a:pt x="406400" y="40704"/>
                    </a:cubicBezTo>
                    <a:lnTo>
                      <a:pt x="406400" y="47372"/>
                    </a:lnTo>
                    <a:cubicBezTo>
                      <a:pt x="406400" y="101643"/>
                      <a:pt x="362405" y="145638"/>
                      <a:pt x="308134" y="145638"/>
                    </a:cubicBezTo>
                    <a:lnTo>
                      <a:pt x="98266" y="145638"/>
                    </a:lnTo>
                    <a:cubicBezTo>
                      <a:pt x="43995" y="145638"/>
                      <a:pt x="0" y="189633"/>
                      <a:pt x="0" y="243904"/>
                    </a:cubicBezTo>
                    <a:lnTo>
                      <a:pt x="0" y="453772"/>
                    </a:lnTo>
                    <a:cubicBezTo>
                      <a:pt x="0" y="508043"/>
                      <a:pt x="43995" y="552038"/>
                      <a:pt x="98266" y="552038"/>
                    </a:cubicBezTo>
                    <a:lnTo>
                      <a:pt x="308134" y="552038"/>
                    </a:lnTo>
                    <a:cubicBezTo>
                      <a:pt x="362405" y="552038"/>
                      <a:pt x="406400" y="596033"/>
                      <a:pt x="406400" y="650304"/>
                    </a:cubicBezTo>
                    <a:lnTo>
                      <a:pt x="406400" y="656972"/>
                    </a:lnTo>
                    <a:cubicBezTo>
                      <a:pt x="406400" y="673435"/>
                      <a:pt x="416317" y="688277"/>
                      <a:pt x="431527" y="694577"/>
                    </a:cubicBezTo>
                    <a:cubicBezTo>
                      <a:pt x="446736" y="700877"/>
                      <a:pt x="464243" y="697395"/>
                      <a:pt x="475884" y="685754"/>
                    </a:cubicBezTo>
                    <a:lnTo>
                      <a:pt x="743316" y="418322"/>
                    </a:lnTo>
                    <a:cubicBezTo>
                      <a:pt x="781691" y="379947"/>
                      <a:pt x="781691" y="317729"/>
                      <a:pt x="743316" y="279354"/>
                    </a:cubicBezTo>
                    <a:close/>
                  </a:path>
                </a:pathLst>
              </a:custGeom>
              <a:solidFill>
                <a:srgbClr val="4E6C7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5">
                <a:extLst>
                  <a:ext uri="{FF2B5EF4-FFF2-40B4-BE49-F238E27FC236}">
                    <a16:creationId xmlns:a16="http://schemas.microsoft.com/office/drawing/2014/main" id="{0A6040CC-3D40-3D1D-08E7-0DB9C31DF7F3}"/>
                  </a:ext>
                </a:extLst>
              </p:cNvPr>
              <p:cNvSpPr txBox="1"/>
              <p:nvPr/>
            </p:nvSpPr>
            <p:spPr>
              <a:xfrm>
                <a:off x="0" y="174625"/>
                <a:ext cx="711200" cy="434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 dirty="0"/>
              </a:p>
            </p:txBody>
          </p:sp>
        </p:grpSp>
        <p:grpSp>
          <p:nvGrpSpPr>
            <p:cNvPr id="18" name="Group 13">
              <a:extLst>
                <a:ext uri="{FF2B5EF4-FFF2-40B4-BE49-F238E27FC236}">
                  <a16:creationId xmlns:a16="http://schemas.microsoft.com/office/drawing/2014/main" id="{B5320892-8481-5FEA-B2F4-8DB18AB99725}"/>
                </a:ext>
              </a:extLst>
            </p:cNvPr>
            <p:cNvGrpSpPr/>
            <p:nvPr/>
          </p:nvGrpSpPr>
          <p:grpSpPr>
            <a:xfrm flipH="1">
              <a:off x="13769229" y="3968864"/>
              <a:ext cx="393928" cy="393928"/>
              <a:chOff x="0" y="0"/>
              <a:chExt cx="812800" cy="812800"/>
            </a:xfrm>
          </p:grpSpPr>
          <p:sp>
            <p:nvSpPr>
              <p:cNvPr id="20" name="Freeform 14">
                <a:extLst>
                  <a:ext uri="{FF2B5EF4-FFF2-40B4-BE49-F238E27FC236}">
                    <a16:creationId xmlns:a16="http://schemas.microsoft.com/office/drawing/2014/main" id="{77452813-6886-CC07-A55A-57C341BEB1DD}"/>
                  </a:ext>
                </a:extLst>
              </p:cNvPr>
              <p:cNvSpPr/>
              <p:nvPr/>
            </p:nvSpPr>
            <p:spPr>
              <a:xfrm>
                <a:off x="0" y="57562"/>
                <a:ext cx="772097" cy="697677"/>
              </a:xfrm>
              <a:custGeom>
                <a:avLst/>
                <a:gdLst/>
                <a:ahLst/>
                <a:cxnLst/>
                <a:rect l="l" t="t" r="r" b="b"/>
                <a:pathLst>
                  <a:path w="772097" h="697677">
                    <a:moveTo>
                      <a:pt x="743316" y="279354"/>
                    </a:moveTo>
                    <a:lnTo>
                      <a:pt x="475884" y="11922"/>
                    </a:lnTo>
                    <a:cubicBezTo>
                      <a:pt x="464243" y="281"/>
                      <a:pt x="446736" y="-3201"/>
                      <a:pt x="431527" y="3099"/>
                    </a:cubicBezTo>
                    <a:cubicBezTo>
                      <a:pt x="416317" y="9399"/>
                      <a:pt x="406400" y="24241"/>
                      <a:pt x="406400" y="40704"/>
                    </a:cubicBezTo>
                    <a:lnTo>
                      <a:pt x="406400" y="47372"/>
                    </a:lnTo>
                    <a:cubicBezTo>
                      <a:pt x="406400" y="101643"/>
                      <a:pt x="362405" y="145638"/>
                      <a:pt x="308134" y="145638"/>
                    </a:cubicBezTo>
                    <a:lnTo>
                      <a:pt x="98266" y="145638"/>
                    </a:lnTo>
                    <a:cubicBezTo>
                      <a:pt x="43995" y="145638"/>
                      <a:pt x="0" y="189633"/>
                      <a:pt x="0" y="243904"/>
                    </a:cubicBezTo>
                    <a:lnTo>
                      <a:pt x="0" y="453772"/>
                    </a:lnTo>
                    <a:cubicBezTo>
                      <a:pt x="0" y="508043"/>
                      <a:pt x="43995" y="552038"/>
                      <a:pt x="98266" y="552038"/>
                    </a:cubicBezTo>
                    <a:lnTo>
                      <a:pt x="308134" y="552038"/>
                    </a:lnTo>
                    <a:cubicBezTo>
                      <a:pt x="362405" y="552038"/>
                      <a:pt x="406400" y="596033"/>
                      <a:pt x="406400" y="650304"/>
                    </a:cubicBezTo>
                    <a:lnTo>
                      <a:pt x="406400" y="656972"/>
                    </a:lnTo>
                    <a:cubicBezTo>
                      <a:pt x="406400" y="673435"/>
                      <a:pt x="416317" y="688277"/>
                      <a:pt x="431527" y="694577"/>
                    </a:cubicBezTo>
                    <a:cubicBezTo>
                      <a:pt x="446736" y="700877"/>
                      <a:pt x="464243" y="697395"/>
                      <a:pt x="475884" y="685754"/>
                    </a:cubicBezTo>
                    <a:lnTo>
                      <a:pt x="743316" y="418322"/>
                    </a:lnTo>
                    <a:cubicBezTo>
                      <a:pt x="781691" y="379947"/>
                      <a:pt x="781691" y="317729"/>
                      <a:pt x="743316" y="279354"/>
                    </a:cubicBezTo>
                    <a:close/>
                  </a:path>
                </a:pathLst>
              </a:custGeom>
              <a:solidFill>
                <a:srgbClr val="4E6C7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Box 15">
                <a:extLst>
                  <a:ext uri="{FF2B5EF4-FFF2-40B4-BE49-F238E27FC236}">
                    <a16:creationId xmlns:a16="http://schemas.microsoft.com/office/drawing/2014/main" id="{369C3F0C-F427-44EC-63AC-2E525E713AA7}"/>
                  </a:ext>
                </a:extLst>
              </p:cNvPr>
              <p:cNvSpPr txBox="1"/>
              <p:nvPr/>
            </p:nvSpPr>
            <p:spPr>
              <a:xfrm>
                <a:off x="0" y="174625"/>
                <a:ext cx="711200" cy="434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 dirty="0"/>
              </a:p>
            </p:txBody>
          </p:sp>
        </p:grpSp>
      </p:grpSp>
      <p:sp>
        <p:nvSpPr>
          <p:cNvPr id="30" name="AutoShape 24">
            <a:extLst>
              <a:ext uri="{FF2B5EF4-FFF2-40B4-BE49-F238E27FC236}">
                <a16:creationId xmlns:a16="http://schemas.microsoft.com/office/drawing/2014/main" id="{660BF5B1-DDEB-3712-3F8B-90D494D7684B}"/>
              </a:ext>
            </a:extLst>
          </p:cNvPr>
          <p:cNvSpPr/>
          <p:nvPr/>
        </p:nvSpPr>
        <p:spPr>
          <a:xfrm>
            <a:off x="8931639" y="2586114"/>
            <a:ext cx="5231518" cy="288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19BE85B5-830D-7539-C4FB-865735E38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-609600" y="3574013"/>
            <a:ext cx="10664367" cy="7109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0850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511CE-7F2C-9EC4-86B3-FAB6AD7AE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A021A8E6-F92D-C7E6-4582-FDC811D4D7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416882"/>
            <a:ext cx="6324600" cy="8902562"/>
          </a:xfrm>
          <a:prstGeom prst="rect">
            <a:avLst/>
          </a:prstGeom>
        </p:spPr>
      </p:pic>
      <p:sp>
        <p:nvSpPr>
          <p:cNvPr id="19" name="TextBox 19">
            <a:extLst>
              <a:ext uri="{FF2B5EF4-FFF2-40B4-BE49-F238E27FC236}">
                <a16:creationId xmlns:a16="http://schemas.microsoft.com/office/drawing/2014/main" id="{D41CEAEB-3DC4-F1D5-7557-A1E73E325591}"/>
              </a:ext>
            </a:extLst>
          </p:cNvPr>
          <p:cNvSpPr txBox="1"/>
          <p:nvPr/>
        </p:nvSpPr>
        <p:spPr>
          <a:xfrm>
            <a:off x="4358521" y="1648820"/>
            <a:ext cx="9957469" cy="984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7371"/>
              </a:lnSpc>
            </a:pPr>
            <a:r>
              <a:rPr lang="ar-EG" sz="7599" b="1" dirty="0">
                <a:solidFill>
                  <a:srgbClr val="4383D1"/>
                </a:solidFill>
                <a:latin typeface="Poppins Bold"/>
                <a:ea typeface="Poppins Bold"/>
                <a:cs typeface="+mj-cs"/>
                <a:sym typeface="Poppins Bold"/>
              </a:rPr>
              <a:t>التمرينات بمساعدة</a:t>
            </a:r>
            <a:endParaRPr lang="en-US" sz="7599" b="1" dirty="0">
              <a:solidFill>
                <a:srgbClr val="4383D1"/>
              </a:solidFill>
              <a:latin typeface="Poppins Bold"/>
              <a:ea typeface="Poppins Bold"/>
              <a:cs typeface="+mj-cs"/>
              <a:sym typeface="Poppins Bold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D453206E-CC12-C412-D056-687537B14BF2}"/>
              </a:ext>
            </a:extLst>
          </p:cNvPr>
          <p:cNvSpPr txBox="1"/>
          <p:nvPr/>
        </p:nvSpPr>
        <p:spPr>
          <a:xfrm>
            <a:off x="5139397" y="3409961"/>
            <a:ext cx="12495396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ar-EG" sz="4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يقوم الاخصائي بمساعدة اللاعب لأداء الحركة</a:t>
            </a:r>
          </a:p>
          <a:p>
            <a:pPr algn="r" rtl="1"/>
            <a:r>
              <a:rPr lang="ar-EG" sz="4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المساعدة في التحكم والتوازن</a:t>
            </a:r>
          </a:p>
          <a:p>
            <a:pPr algn="r" rtl="1"/>
            <a:r>
              <a:rPr lang="ar-EG" sz="4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المساهمة بتقوية العضلات وزيادة حجمها </a:t>
            </a:r>
          </a:p>
          <a:p>
            <a:pPr algn="r" rtl="1"/>
            <a:r>
              <a:rPr lang="ar-EG" sz="4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تستخدم مع حالات الشلل والضمور التي تكون الحركة محدودة فيها</a:t>
            </a:r>
            <a:endParaRPr lang="en-US" sz="44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32" name="Group 13">
            <a:extLst>
              <a:ext uri="{FF2B5EF4-FFF2-40B4-BE49-F238E27FC236}">
                <a16:creationId xmlns:a16="http://schemas.microsoft.com/office/drawing/2014/main" id="{DC0D4E88-1A38-794B-C24E-72693EE73858}"/>
              </a:ext>
            </a:extLst>
          </p:cNvPr>
          <p:cNvGrpSpPr/>
          <p:nvPr/>
        </p:nvGrpSpPr>
        <p:grpSpPr>
          <a:xfrm flipH="1">
            <a:off x="17886835" y="4152900"/>
            <a:ext cx="393928" cy="393928"/>
            <a:chOff x="0" y="0"/>
            <a:chExt cx="812800" cy="812800"/>
          </a:xfrm>
        </p:grpSpPr>
        <p:sp>
          <p:nvSpPr>
            <p:cNvPr id="33" name="Freeform 14">
              <a:extLst>
                <a:ext uri="{FF2B5EF4-FFF2-40B4-BE49-F238E27FC236}">
                  <a16:creationId xmlns:a16="http://schemas.microsoft.com/office/drawing/2014/main" id="{CEB9C523-F1EB-AC9B-6C6A-7913B0D894DB}"/>
                </a:ext>
              </a:extLst>
            </p:cNvPr>
            <p:cNvSpPr/>
            <p:nvPr/>
          </p:nvSpPr>
          <p:spPr>
            <a:xfrm>
              <a:off x="0" y="57562"/>
              <a:ext cx="772097" cy="697677"/>
            </a:xfrm>
            <a:custGeom>
              <a:avLst/>
              <a:gdLst/>
              <a:ahLst/>
              <a:cxnLst/>
              <a:rect l="l" t="t" r="r" b="b"/>
              <a:pathLst>
                <a:path w="772097" h="697677">
                  <a:moveTo>
                    <a:pt x="743316" y="279354"/>
                  </a:moveTo>
                  <a:lnTo>
                    <a:pt x="475884" y="11922"/>
                  </a:lnTo>
                  <a:cubicBezTo>
                    <a:pt x="464243" y="281"/>
                    <a:pt x="446736" y="-3201"/>
                    <a:pt x="431527" y="3099"/>
                  </a:cubicBezTo>
                  <a:cubicBezTo>
                    <a:pt x="416317" y="9399"/>
                    <a:pt x="406400" y="24241"/>
                    <a:pt x="406400" y="40704"/>
                  </a:cubicBezTo>
                  <a:lnTo>
                    <a:pt x="406400" y="47372"/>
                  </a:lnTo>
                  <a:cubicBezTo>
                    <a:pt x="406400" y="101643"/>
                    <a:pt x="362405" y="145638"/>
                    <a:pt x="308134" y="145638"/>
                  </a:cubicBezTo>
                  <a:lnTo>
                    <a:pt x="98266" y="145638"/>
                  </a:lnTo>
                  <a:cubicBezTo>
                    <a:pt x="43995" y="145638"/>
                    <a:pt x="0" y="189633"/>
                    <a:pt x="0" y="243904"/>
                  </a:cubicBezTo>
                  <a:lnTo>
                    <a:pt x="0" y="453772"/>
                  </a:lnTo>
                  <a:cubicBezTo>
                    <a:pt x="0" y="508043"/>
                    <a:pt x="43995" y="552038"/>
                    <a:pt x="98266" y="552038"/>
                  </a:cubicBezTo>
                  <a:lnTo>
                    <a:pt x="308134" y="552038"/>
                  </a:lnTo>
                  <a:cubicBezTo>
                    <a:pt x="362405" y="552038"/>
                    <a:pt x="406400" y="596033"/>
                    <a:pt x="406400" y="650304"/>
                  </a:cubicBezTo>
                  <a:lnTo>
                    <a:pt x="406400" y="656972"/>
                  </a:lnTo>
                  <a:cubicBezTo>
                    <a:pt x="406400" y="673435"/>
                    <a:pt x="416317" y="688277"/>
                    <a:pt x="431527" y="694577"/>
                  </a:cubicBezTo>
                  <a:cubicBezTo>
                    <a:pt x="446736" y="700877"/>
                    <a:pt x="464243" y="697395"/>
                    <a:pt x="475884" y="685754"/>
                  </a:cubicBezTo>
                  <a:lnTo>
                    <a:pt x="743316" y="418322"/>
                  </a:lnTo>
                  <a:cubicBezTo>
                    <a:pt x="781691" y="379947"/>
                    <a:pt x="781691" y="317729"/>
                    <a:pt x="743316" y="279354"/>
                  </a:cubicBezTo>
                  <a:close/>
                </a:path>
              </a:pathLst>
            </a:custGeom>
            <a:solidFill>
              <a:srgbClr val="4E6C7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15">
              <a:extLst>
                <a:ext uri="{FF2B5EF4-FFF2-40B4-BE49-F238E27FC236}">
                  <a16:creationId xmlns:a16="http://schemas.microsoft.com/office/drawing/2014/main" id="{48F52AB2-D4DB-E7C3-28FF-FC92D05C1A3E}"/>
                </a:ext>
              </a:extLst>
            </p:cNvPr>
            <p:cNvSpPr txBox="1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 dirty="0"/>
            </a:p>
          </p:txBody>
        </p:sp>
      </p:grpSp>
      <p:grpSp>
        <p:nvGrpSpPr>
          <p:cNvPr id="35" name="Group 13">
            <a:extLst>
              <a:ext uri="{FF2B5EF4-FFF2-40B4-BE49-F238E27FC236}">
                <a16:creationId xmlns:a16="http://schemas.microsoft.com/office/drawing/2014/main" id="{EA27D72D-1528-E7F4-EAA3-4BE1878AF3AA}"/>
              </a:ext>
            </a:extLst>
          </p:cNvPr>
          <p:cNvGrpSpPr/>
          <p:nvPr/>
        </p:nvGrpSpPr>
        <p:grpSpPr>
          <a:xfrm flipH="1">
            <a:off x="17926895" y="5568258"/>
            <a:ext cx="393928" cy="393928"/>
            <a:chOff x="0" y="57561"/>
            <a:chExt cx="772097" cy="697678"/>
          </a:xfrm>
        </p:grpSpPr>
        <p:sp>
          <p:nvSpPr>
            <p:cNvPr id="36" name="Freeform 14">
              <a:extLst>
                <a:ext uri="{FF2B5EF4-FFF2-40B4-BE49-F238E27FC236}">
                  <a16:creationId xmlns:a16="http://schemas.microsoft.com/office/drawing/2014/main" id="{FD3045B3-FBBE-021D-0048-90466FD9549B}"/>
                </a:ext>
              </a:extLst>
            </p:cNvPr>
            <p:cNvSpPr/>
            <p:nvPr/>
          </p:nvSpPr>
          <p:spPr>
            <a:xfrm>
              <a:off x="0" y="57561"/>
              <a:ext cx="772097" cy="697678"/>
            </a:xfrm>
            <a:custGeom>
              <a:avLst/>
              <a:gdLst/>
              <a:ahLst/>
              <a:cxnLst/>
              <a:rect l="l" t="t" r="r" b="b"/>
              <a:pathLst>
                <a:path w="772097" h="697677">
                  <a:moveTo>
                    <a:pt x="743316" y="279354"/>
                  </a:moveTo>
                  <a:lnTo>
                    <a:pt x="475884" y="11922"/>
                  </a:lnTo>
                  <a:cubicBezTo>
                    <a:pt x="464243" y="281"/>
                    <a:pt x="446736" y="-3201"/>
                    <a:pt x="431527" y="3099"/>
                  </a:cubicBezTo>
                  <a:cubicBezTo>
                    <a:pt x="416317" y="9399"/>
                    <a:pt x="406400" y="24241"/>
                    <a:pt x="406400" y="40704"/>
                  </a:cubicBezTo>
                  <a:lnTo>
                    <a:pt x="406400" y="47372"/>
                  </a:lnTo>
                  <a:cubicBezTo>
                    <a:pt x="406400" y="101643"/>
                    <a:pt x="362405" y="145638"/>
                    <a:pt x="308134" y="145638"/>
                  </a:cubicBezTo>
                  <a:lnTo>
                    <a:pt x="98266" y="145638"/>
                  </a:lnTo>
                  <a:cubicBezTo>
                    <a:pt x="43995" y="145638"/>
                    <a:pt x="0" y="189633"/>
                    <a:pt x="0" y="243904"/>
                  </a:cubicBezTo>
                  <a:lnTo>
                    <a:pt x="0" y="453772"/>
                  </a:lnTo>
                  <a:cubicBezTo>
                    <a:pt x="0" y="508043"/>
                    <a:pt x="43995" y="552038"/>
                    <a:pt x="98266" y="552038"/>
                  </a:cubicBezTo>
                  <a:lnTo>
                    <a:pt x="308134" y="552038"/>
                  </a:lnTo>
                  <a:cubicBezTo>
                    <a:pt x="362405" y="552038"/>
                    <a:pt x="406400" y="596033"/>
                    <a:pt x="406400" y="650304"/>
                  </a:cubicBezTo>
                  <a:lnTo>
                    <a:pt x="406400" y="656972"/>
                  </a:lnTo>
                  <a:cubicBezTo>
                    <a:pt x="406400" y="673435"/>
                    <a:pt x="416317" y="688277"/>
                    <a:pt x="431527" y="694577"/>
                  </a:cubicBezTo>
                  <a:cubicBezTo>
                    <a:pt x="446736" y="700877"/>
                    <a:pt x="464243" y="697395"/>
                    <a:pt x="475884" y="685754"/>
                  </a:cubicBezTo>
                  <a:lnTo>
                    <a:pt x="743316" y="418322"/>
                  </a:lnTo>
                  <a:cubicBezTo>
                    <a:pt x="781691" y="379947"/>
                    <a:pt x="781691" y="317729"/>
                    <a:pt x="743316" y="279354"/>
                  </a:cubicBezTo>
                  <a:close/>
                </a:path>
              </a:pathLst>
            </a:custGeom>
            <a:solidFill>
              <a:srgbClr val="4E6C7E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" name="TextBox 15">
              <a:extLst>
                <a:ext uri="{FF2B5EF4-FFF2-40B4-BE49-F238E27FC236}">
                  <a16:creationId xmlns:a16="http://schemas.microsoft.com/office/drawing/2014/main" id="{8B3F8C4E-64EC-025F-8EC0-1C2A73F89742}"/>
                </a:ext>
              </a:extLst>
            </p:cNvPr>
            <p:cNvSpPr txBox="1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" name="Group 13">
            <a:extLst>
              <a:ext uri="{FF2B5EF4-FFF2-40B4-BE49-F238E27FC236}">
                <a16:creationId xmlns:a16="http://schemas.microsoft.com/office/drawing/2014/main" id="{43B3305F-429F-1E98-1C69-1925B019527F}"/>
              </a:ext>
            </a:extLst>
          </p:cNvPr>
          <p:cNvGrpSpPr/>
          <p:nvPr/>
        </p:nvGrpSpPr>
        <p:grpSpPr>
          <a:xfrm flipH="1">
            <a:off x="17926895" y="4945112"/>
            <a:ext cx="393928" cy="393928"/>
            <a:chOff x="0" y="0"/>
            <a:chExt cx="812800" cy="812800"/>
          </a:xfrm>
        </p:grpSpPr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D193617A-5FC7-BFE8-3664-E6D845B35ED4}"/>
                </a:ext>
              </a:extLst>
            </p:cNvPr>
            <p:cNvSpPr/>
            <p:nvPr/>
          </p:nvSpPr>
          <p:spPr>
            <a:xfrm>
              <a:off x="0" y="57562"/>
              <a:ext cx="772097" cy="697677"/>
            </a:xfrm>
            <a:custGeom>
              <a:avLst/>
              <a:gdLst/>
              <a:ahLst/>
              <a:cxnLst/>
              <a:rect l="l" t="t" r="r" b="b"/>
              <a:pathLst>
                <a:path w="772097" h="697677">
                  <a:moveTo>
                    <a:pt x="743316" y="279354"/>
                  </a:moveTo>
                  <a:lnTo>
                    <a:pt x="475884" y="11922"/>
                  </a:lnTo>
                  <a:cubicBezTo>
                    <a:pt x="464243" y="281"/>
                    <a:pt x="446736" y="-3201"/>
                    <a:pt x="431527" y="3099"/>
                  </a:cubicBezTo>
                  <a:cubicBezTo>
                    <a:pt x="416317" y="9399"/>
                    <a:pt x="406400" y="24241"/>
                    <a:pt x="406400" y="40704"/>
                  </a:cubicBezTo>
                  <a:lnTo>
                    <a:pt x="406400" y="47372"/>
                  </a:lnTo>
                  <a:cubicBezTo>
                    <a:pt x="406400" y="101643"/>
                    <a:pt x="362405" y="145638"/>
                    <a:pt x="308134" y="145638"/>
                  </a:cubicBezTo>
                  <a:lnTo>
                    <a:pt x="98266" y="145638"/>
                  </a:lnTo>
                  <a:cubicBezTo>
                    <a:pt x="43995" y="145638"/>
                    <a:pt x="0" y="189633"/>
                    <a:pt x="0" y="243904"/>
                  </a:cubicBezTo>
                  <a:lnTo>
                    <a:pt x="0" y="453772"/>
                  </a:lnTo>
                  <a:cubicBezTo>
                    <a:pt x="0" y="508043"/>
                    <a:pt x="43995" y="552038"/>
                    <a:pt x="98266" y="552038"/>
                  </a:cubicBezTo>
                  <a:lnTo>
                    <a:pt x="308134" y="552038"/>
                  </a:lnTo>
                  <a:cubicBezTo>
                    <a:pt x="362405" y="552038"/>
                    <a:pt x="406400" y="596033"/>
                    <a:pt x="406400" y="650304"/>
                  </a:cubicBezTo>
                  <a:lnTo>
                    <a:pt x="406400" y="656972"/>
                  </a:lnTo>
                  <a:cubicBezTo>
                    <a:pt x="406400" y="673435"/>
                    <a:pt x="416317" y="688277"/>
                    <a:pt x="431527" y="694577"/>
                  </a:cubicBezTo>
                  <a:cubicBezTo>
                    <a:pt x="446736" y="700877"/>
                    <a:pt x="464243" y="697395"/>
                    <a:pt x="475884" y="685754"/>
                  </a:cubicBezTo>
                  <a:lnTo>
                    <a:pt x="743316" y="418322"/>
                  </a:lnTo>
                  <a:cubicBezTo>
                    <a:pt x="781691" y="379947"/>
                    <a:pt x="781691" y="317729"/>
                    <a:pt x="743316" y="279354"/>
                  </a:cubicBezTo>
                  <a:close/>
                </a:path>
              </a:pathLst>
            </a:custGeom>
            <a:solidFill>
              <a:srgbClr val="4E6C7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5">
              <a:extLst>
                <a:ext uri="{FF2B5EF4-FFF2-40B4-BE49-F238E27FC236}">
                  <a16:creationId xmlns:a16="http://schemas.microsoft.com/office/drawing/2014/main" id="{C5E2EEAA-5873-B609-282F-A09A262C9B16}"/>
                </a:ext>
              </a:extLst>
            </p:cNvPr>
            <p:cNvSpPr txBox="1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 dirty="0"/>
            </a:p>
          </p:txBody>
        </p:sp>
      </p:grpSp>
      <p:grpSp>
        <p:nvGrpSpPr>
          <p:cNvPr id="18" name="Group 13">
            <a:extLst>
              <a:ext uri="{FF2B5EF4-FFF2-40B4-BE49-F238E27FC236}">
                <a16:creationId xmlns:a16="http://schemas.microsoft.com/office/drawing/2014/main" id="{AE7C1874-6477-F7D2-14D1-4FCBDB7F17CD}"/>
              </a:ext>
            </a:extLst>
          </p:cNvPr>
          <p:cNvGrpSpPr/>
          <p:nvPr/>
        </p:nvGrpSpPr>
        <p:grpSpPr>
          <a:xfrm flipH="1">
            <a:off x="17886835" y="3537933"/>
            <a:ext cx="393928" cy="393928"/>
            <a:chOff x="0" y="0"/>
            <a:chExt cx="812800" cy="812800"/>
          </a:xfrm>
        </p:grpSpPr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79075375-2249-47C6-BF0C-896FF840875D}"/>
                </a:ext>
              </a:extLst>
            </p:cNvPr>
            <p:cNvSpPr/>
            <p:nvPr/>
          </p:nvSpPr>
          <p:spPr>
            <a:xfrm>
              <a:off x="0" y="57562"/>
              <a:ext cx="772097" cy="697677"/>
            </a:xfrm>
            <a:custGeom>
              <a:avLst/>
              <a:gdLst/>
              <a:ahLst/>
              <a:cxnLst/>
              <a:rect l="l" t="t" r="r" b="b"/>
              <a:pathLst>
                <a:path w="772097" h="697677">
                  <a:moveTo>
                    <a:pt x="743316" y="279354"/>
                  </a:moveTo>
                  <a:lnTo>
                    <a:pt x="475884" y="11922"/>
                  </a:lnTo>
                  <a:cubicBezTo>
                    <a:pt x="464243" y="281"/>
                    <a:pt x="446736" y="-3201"/>
                    <a:pt x="431527" y="3099"/>
                  </a:cubicBezTo>
                  <a:cubicBezTo>
                    <a:pt x="416317" y="9399"/>
                    <a:pt x="406400" y="24241"/>
                    <a:pt x="406400" y="40704"/>
                  </a:cubicBezTo>
                  <a:lnTo>
                    <a:pt x="406400" y="47372"/>
                  </a:lnTo>
                  <a:cubicBezTo>
                    <a:pt x="406400" y="101643"/>
                    <a:pt x="362405" y="145638"/>
                    <a:pt x="308134" y="145638"/>
                  </a:cubicBezTo>
                  <a:lnTo>
                    <a:pt x="98266" y="145638"/>
                  </a:lnTo>
                  <a:cubicBezTo>
                    <a:pt x="43995" y="145638"/>
                    <a:pt x="0" y="189633"/>
                    <a:pt x="0" y="243904"/>
                  </a:cubicBezTo>
                  <a:lnTo>
                    <a:pt x="0" y="453772"/>
                  </a:lnTo>
                  <a:cubicBezTo>
                    <a:pt x="0" y="508043"/>
                    <a:pt x="43995" y="552038"/>
                    <a:pt x="98266" y="552038"/>
                  </a:cubicBezTo>
                  <a:lnTo>
                    <a:pt x="308134" y="552038"/>
                  </a:lnTo>
                  <a:cubicBezTo>
                    <a:pt x="362405" y="552038"/>
                    <a:pt x="406400" y="596033"/>
                    <a:pt x="406400" y="650304"/>
                  </a:cubicBezTo>
                  <a:lnTo>
                    <a:pt x="406400" y="656972"/>
                  </a:lnTo>
                  <a:cubicBezTo>
                    <a:pt x="406400" y="673435"/>
                    <a:pt x="416317" y="688277"/>
                    <a:pt x="431527" y="694577"/>
                  </a:cubicBezTo>
                  <a:cubicBezTo>
                    <a:pt x="446736" y="700877"/>
                    <a:pt x="464243" y="697395"/>
                    <a:pt x="475884" y="685754"/>
                  </a:cubicBezTo>
                  <a:lnTo>
                    <a:pt x="743316" y="418322"/>
                  </a:lnTo>
                  <a:cubicBezTo>
                    <a:pt x="781691" y="379947"/>
                    <a:pt x="781691" y="317729"/>
                    <a:pt x="743316" y="279354"/>
                  </a:cubicBezTo>
                  <a:close/>
                </a:path>
              </a:pathLst>
            </a:custGeom>
            <a:solidFill>
              <a:srgbClr val="4E6C7E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" name="TextBox 15">
              <a:extLst>
                <a:ext uri="{FF2B5EF4-FFF2-40B4-BE49-F238E27FC236}">
                  <a16:creationId xmlns:a16="http://schemas.microsoft.com/office/drawing/2014/main" id="{787CD59D-FC54-97AE-F2E9-96121F377333}"/>
                </a:ext>
              </a:extLst>
            </p:cNvPr>
            <p:cNvSpPr txBox="1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 dirty="0"/>
            </a:p>
          </p:txBody>
        </p:sp>
      </p:grpSp>
      <p:sp>
        <p:nvSpPr>
          <p:cNvPr id="30" name="AutoShape 24">
            <a:extLst>
              <a:ext uri="{FF2B5EF4-FFF2-40B4-BE49-F238E27FC236}">
                <a16:creationId xmlns:a16="http://schemas.microsoft.com/office/drawing/2014/main" id="{E00B9A4C-203D-A5D2-CE3A-2AAB78A5D06D}"/>
              </a:ext>
            </a:extLst>
          </p:cNvPr>
          <p:cNvSpPr/>
          <p:nvPr/>
        </p:nvSpPr>
        <p:spPr>
          <a:xfrm>
            <a:off x="8458200" y="2604490"/>
            <a:ext cx="5857790" cy="288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4861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1DF35-17D0-1EE1-91CF-586CD1238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9">
            <a:extLst>
              <a:ext uri="{FF2B5EF4-FFF2-40B4-BE49-F238E27FC236}">
                <a16:creationId xmlns:a16="http://schemas.microsoft.com/office/drawing/2014/main" id="{8D2F46D0-6B90-9422-228D-05B8DF3D5D5C}"/>
              </a:ext>
            </a:extLst>
          </p:cNvPr>
          <p:cNvSpPr txBox="1"/>
          <p:nvPr/>
        </p:nvSpPr>
        <p:spPr>
          <a:xfrm>
            <a:off x="4358521" y="1648820"/>
            <a:ext cx="9957469" cy="984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7371"/>
              </a:lnSpc>
            </a:pPr>
            <a:r>
              <a:rPr lang="ar-EG" sz="7599" b="1" dirty="0">
                <a:solidFill>
                  <a:srgbClr val="4383D1"/>
                </a:solidFill>
                <a:latin typeface="Poppins Bold"/>
                <a:ea typeface="Poppins Bold"/>
                <a:cs typeface="+mj-cs"/>
                <a:sym typeface="Poppins Bold"/>
              </a:rPr>
              <a:t>التمرينات الايجابية</a:t>
            </a:r>
            <a:endParaRPr lang="en-US" sz="7599" b="1" dirty="0">
              <a:solidFill>
                <a:srgbClr val="4383D1"/>
              </a:solidFill>
              <a:latin typeface="Poppins Bold"/>
              <a:ea typeface="Poppins Bold"/>
              <a:cs typeface="+mj-cs"/>
              <a:sym typeface="Poppins Bold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B448F373-A0AD-D476-99C9-E3AF0BBFD458}"/>
              </a:ext>
            </a:extLst>
          </p:cNvPr>
          <p:cNvSpPr txBox="1"/>
          <p:nvPr/>
        </p:nvSpPr>
        <p:spPr>
          <a:xfrm>
            <a:off x="5029200" y="3321538"/>
            <a:ext cx="12495396" cy="2031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ar-EG" sz="4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المحافظة على النغمة العضلية وزيادة قوة العضلات</a:t>
            </a:r>
          </a:p>
          <a:p>
            <a:pPr algn="r" rtl="1"/>
            <a:r>
              <a:rPr lang="ar-EG" sz="4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اكتساب ثقة المصاب في قدرته على عمل العضلات</a:t>
            </a:r>
          </a:p>
          <a:p>
            <a:pPr algn="r" rtl="1"/>
            <a:r>
              <a:rPr lang="ar-EG" sz="4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تحسين المرونة والتوازن والتوافق</a:t>
            </a:r>
            <a:endParaRPr lang="en-US" sz="44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32" name="Group 13">
            <a:extLst>
              <a:ext uri="{FF2B5EF4-FFF2-40B4-BE49-F238E27FC236}">
                <a16:creationId xmlns:a16="http://schemas.microsoft.com/office/drawing/2014/main" id="{38BA31C2-5251-B27E-E4F4-B6EFCC6F12C9}"/>
              </a:ext>
            </a:extLst>
          </p:cNvPr>
          <p:cNvGrpSpPr/>
          <p:nvPr/>
        </p:nvGrpSpPr>
        <p:grpSpPr>
          <a:xfrm flipH="1">
            <a:off x="17903935" y="4110010"/>
            <a:ext cx="393928" cy="393928"/>
            <a:chOff x="0" y="0"/>
            <a:chExt cx="812800" cy="812800"/>
          </a:xfrm>
        </p:grpSpPr>
        <p:sp>
          <p:nvSpPr>
            <p:cNvPr id="33" name="Freeform 14">
              <a:extLst>
                <a:ext uri="{FF2B5EF4-FFF2-40B4-BE49-F238E27FC236}">
                  <a16:creationId xmlns:a16="http://schemas.microsoft.com/office/drawing/2014/main" id="{60C4A68B-6A0B-D214-E215-480B51C302F7}"/>
                </a:ext>
              </a:extLst>
            </p:cNvPr>
            <p:cNvSpPr/>
            <p:nvPr/>
          </p:nvSpPr>
          <p:spPr>
            <a:xfrm>
              <a:off x="0" y="57562"/>
              <a:ext cx="772097" cy="697677"/>
            </a:xfrm>
            <a:custGeom>
              <a:avLst/>
              <a:gdLst/>
              <a:ahLst/>
              <a:cxnLst/>
              <a:rect l="l" t="t" r="r" b="b"/>
              <a:pathLst>
                <a:path w="772097" h="697677">
                  <a:moveTo>
                    <a:pt x="743316" y="279354"/>
                  </a:moveTo>
                  <a:lnTo>
                    <a:pt x="475884" y="11922"/>
                  </a:lnTo>
                  <a:cubicBezTo>
                    <a:pt x="464243" y="281"/>
                    <a:pt x="446736" y="-3201"/>
                    <a:pt x="431527" y="3099"/>
                  </a:cubicBezTo>
                  <a:cubicBezTo>
                    <a:pt x="416317" y="9399"/>
                    <a:pt x="406400" y="24241"/>
                    <a:pt x="406400" y="40704"/>
                  </a:cubicBezTo>
                  <a:lnTo>
                    <a:pt x="406400" y="47372"/>
                  </a:lnTo>
                  <a:cubicBezTo>
                    <a:pt x="406400" y="101643"/>
                    <a:pt x="362405" y="145638"/>
                    <a:pt x="308134" y="145638"/>
                  </a:cubicBezTo>
                  <a:lnTo>
                    <a:pt x="98266" y="145638"/>
                  </a:lnTo>
                  <a:cubicBezTo>
                    <a:pt x="43995" y="145638"/>
                    <a:pt x="0" y="189633"/>
                    <a:pt x="0" y="243904"/>
                  </a:cubicBezTo>
                  <a:lnTo>
                    <a:pt x="0" y="453772"/>
                  </a:lnTo>
                  <a:cubicBezTo>
                    <a:pt x="0" y="508043"/>
                    <a:pt x="43995" y="552038"/>
                    <a:pt x="98266" y="552038"/>
                  </a:cubicBezTo>
                  <a:lnTo>
                    <a:pt x="308134" y="552038"/>
                  </a:lnTo>
                  <a:cubicBezTo>
                    <a:pt x="362405" y="552038"/>
                    <a:pt x="406400" y="596033"/>
                    <a:pt x="406400" y="650304"/>
                  </a:cubicBezTo>
                  <a:lnTo>
                    <a:pt x="406400" y="656972"/>
                  </a:lnTo>
                  <a:cubicBezTo>
                    <a:pt x="406400" y="673435"/>
                    <a:pt x="416317" y="688277"/>
                    <a:pt x="431527" y="694577"/>
                  </a:cubicBezTo>
                  <a:cubicBezTo>
                    <a:pt x="446736" y="700877"/>
                    <a:pt x="464243" y="697395"/>
                    <a:pt x="475884" y="685754"/>
                  </a:cubicBezTo>
                  <a:lnTo>
                    <a:pt x="743316" y="418322"/>
                  </a:lnTo>
                  <a:cubicBezTo>
                    <a:pt x="781691" y="379947"/>
                    <a:pt x="781691" y="317729"/>
                    <a:pt x="743316" y="279354"/>
                  </a:cubicBezTo>
                  <a:close/>
                </a:path>
              </a:pathLst>
            </a:custGeom>
            <a:solidFill>
              <a:srgbClr val="4E6C7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15">
              <a:extLst>
                <a:ext uri="{FF2B5EF4-FFF2-40B4-BE49-F238E27FC236}">
                  <a16:creationId xmlns:a16="http://schemas.microsoft.com/office/drawing/2014/main" id="{CD5B93D0-984F-EDC1-4393-D5C0A23E990A}"/>
                </a:ext>
              </a:extLst>
            </p:cNvPr>
            <p:cNvSpPr txBox="1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 dirty="0"/>
            </a:p>
          </p:txBody>
        </p:sp>
      </p:grpSp>
      <p:grpSp>
        <p:nvGrpSpPr>
          <p:cNvPr id="2" name="Group 13">
            <a:extLst>
              <a:ext uri="{FF2B5EF4-FFF2-40B4-BE49-F238E27FC236}">
                <a16:creationId xmlns:a16="http://schemas.microsoft.com/office/drawing/2014/main" id="{856BD0C7-6856-F659-0771-88CEA07CA091}"/>
              </a:ext>
            </a:extLst>
          </p:cNvPr>
          <p:cNvGrpSpPr/>
          <p:nvPr/>
        </p:nvGrpSpPr>
        <p:grpSpPr>
          <a:xfrm flipH="1">
            <a:off x="17894072" y="4813245"/>
            <a:ext cx="393928" cy="393928"/>
            <a:chOff x="0" y="0"/>
            <a:chExt cx="812800" cy="812800"/>
          </a:xfrm>
        </p:grpSpPr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038B4624-96C9-09EC-E329-260BEAB98D2B}"/>
                </a:ext>
              </a:extLst>
            </p:cNvPr>
            <p:cNvSpPr/>
            <p:nvPr/>
          </p:nvSpPr>
          <p:spPr>
            <a:xfrm>
              <a:off x="0" y="57562"/>
              <a:ext cx="772097" cy="697677"/>
            </a:xfrm>
            <a:custGeom>
              <a:avLst/>
              <a:gdLst/>
              <a:ahLst/>
              <a:cxnLst/>
              <a:rect l="l" t="t" r="r" b="b"/>
              <a:pathLst>
                <a:path w="772097" h="697677">
                  <a:moveTo>
                    <a:pt x="743316" y="279354"/>
                  </a:moveTo>
                  <a:lnTo>
                    <a:pt x="475884" y="11922"/>
                  </a:lnTo>
                  <a:cubicBezTo>
                    <a:pt x="464243" y="281"/>
                    <a:pt x="446736" y="-3201"/>
                    <a:pt x="431527" y="3099"/>
                  </a:cubicBezTo>
                  <a:cubicBezTo>
                    <a:pt x="416317" y="9399"/>
                    <a:pt x="406400" y="24241"/>
                    <a:pt x="406400" y="40704"/>
                  </a:cubicBezTo>
                  <a:lnTo>
                    <a:pt x="406400" y="47372"/>
                  </a:lnTo>
                  <a:cubicBezTo>
                    <a:pt x="406400" y="101643"/>
                    <a:pt x="362405" y="145638"/>
                    <a:pt x="308134" y="145638"/>
                  </a:cubicBezTo>
                  <a:lnTo>
                    <a:pt x="98266" y="145638"/>
                  </a:lnTo>
                  <a:cubicBezTo>
                    <a:pt x="43995" y="145638"/>
                    <a:pt x="0" y="189633"/>
                    <a:pt x="0" y="243904"/>
                  </a:cubicBezTo>
                  <a:lnTo>
                    <a:pt x="0" y="453772"/>
                  </a:lnTo>
                  <a:cubicBezTo>
                    <a:pt x="0" y="508043"/>
                    <a:pt x="43995" y="552038"/>
                    <a:pt x="98266" y="552038"/>
                  </a:cubicBezTo>
                  <a:lnTo>
                    <a:pt x="308134" y="552038"/>
                  </a:lnTo>
                  <a:cubicBezTo>
                    <a:pt x="362405" y="552038"/>
                    <a:pt x="406400" y="596033"/>
                    <a:pt x="406400" y="650304"/>
                  </a:cubicBezTo>
                  <a:lnTo>
                    <a:pt x="406400" y="656972"/>
                  </a:lnTo>
                  <a:cubicBezTo>
                    <a:pt x="406400" y="673435"/>
                    <a:pt x="416317" y="688277"/>
                    <a:pt x="431527" y="694577"/>
                  </a:cubicBezTo>
                  <a:cubicBezTo>
                    <a:pt x="446736" y="700877"/>
                    <a:pt x="464243" y="697395"/>
                    <a:pt x="475884" y="685754"/>
                  </a:cubicBezTo>
                  <a:lnTo>
                    <a:pt x="743316" y="418322"/>
                  </a:lnTo>
                  <a:cubicBezTo>
                    <a:pt x="781691" y="379947"/>
                    <a:pt x="781691" y="317729"/>
                    <a:pt x="743316" y="279354"/>
                  </a:cubicBezTo>
                  <a:close/>
                </a:path>
              </a:pathLst>
            </a:custGeom>
            <a:solidFill>
              <a:srgbClr val="4E6C7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5">
              <a:extLst>
                <a:ext uri="{FF2B5EF4-FFF2-40B4-BE49-F238E27FC236}">
                  <a16:creationId xmlns:a16="http://schemas.microsoft.com/office/drawing/2014/main" id="{92FBF5EF-2548-126A-0D1D-B499ACE6B0F8}"/>
                </a:ext>
              </a:extLst>
            </p:cNvPr>
            <p:cNvSpPr txBox="1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 dirty="0"/>
            </a:p>
          </p:txBody>
        </p:sp>
      </p:grpSp>
      <p:grpSp>
        <p:nvGrpSpPr>
          <p:cNvPr id="18" name="Group 13">
            <a:extLst>
              <a:ext uri="{FF2B5EF4-FFF2-40B4-BE49-F238E27FC236}">
                <a16:creationId xmlns:a16="http://schemas.microsoft.com/office/drawing/2014/main" id="{0DE59B8F-5079-DE5F-797D-EF3E59F59196}"/>
              </a:ext>
            </a:extLst>
          </p:cNvPr>
          <p:cNvGrpSpPr/>
          <p:nvPr/>
        </p:nvGrpSpPr>
        <p:grpSpPr>
          <a:xfrm flipH="1">
            <a:off x="17923662" y="3458780"/>
            <a:ext cx="393928" cy="393928"/>
            <a:chOff x="0" y="0"/>
            <a:chExt cx="812800" cy="812800"/>
          </a:xfrm>
        </p:grpSpPr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2D909668-B4F6-DF86-5306-536C5260C347}"/>
                </a:ext>
              </a:extLst>
            </p:cNvPr>
            <p:cNvSpPr/>
            <p:nvPr/>
          </p:nvSpPr>
          <p:spPr>
            <a:xfrm>
              <a:off x="0" y="57562"/>
              <a:ext cx="772097" cy="697677"/>
            </a:xfrm>
            <a:custGeom>
              <a:avLst/>
              <a:gdLst/>
              <a:ahLst/>
              <a:cxnLst/>
              <a:rect l="l" t="t" r="r" b="b"/>
              <a:pathLst>
                <a:path w="772097" h="697677">
                  <a:moveTo>
                    <a:pt x="743316" y="279354"/>
                  </a:moveTo>
                  <a:lnTo>
                    <a:pt x="475884" y="11922"/>
                  </a:lnTo>
                  <a:cubicBezTo>
                    <a:pt x="464243" y="281"/>
                    <a:pt x="446736" y="-3201"/>
                    <a:pt x="431527" y="3099"/>
                  </a:cubicBezTo>
                  <a:cubicBezTo>
                    <a:pt x="416317" y="9399"/>
                    <a:pt x="406400" y="24241"/>
                    <a:pt x="406400" y="40704"/>
                  </a:cubicBezTo>
                  <a:lnTo>
                    <a:pt x="406400" y="47372"/>
                  </a:lnTo>
                  <a:cubicBezTo>
                    <a:pt x="406400" y="101643"/>
                    <a:pt x="362405" y="145638"/>
                    <a:pt x="308134" y="145638"/>
                  </a:cubicBezTo>
                  <a:lnTo>
                    <a:pt x="98266" y="145638"/>
                  </a:lnTo>
                  <a:cubicBezTo>
                    <a:pt x="43995" y="145638"/>
                    <a:pt x="0" y="189633"/>
                    <a:pt x="0" y="243904"/>
                  </a:cubicBezTo>
                  <a:lnTo>
                    <a:pt x="0" y="453772"/>
                  </a:lnTo>
                  <a:cubicBezTo>
                    <a:pt x="0" y="508043"/>
                    <a:pt x="43995" y="552038"/>
                    <a:pt x="98266" y="552038"/>
                  </a:cubicBezTo>
                  <a:lnTo>
                    <a:pt x="308134" y="552038"/>
                  </a:lnTo>
                  <a:cubicBezTo>
                    <a:pt x="362405" y="552038"/>
                    <a:pt x="406400" y="596033"/>
                    <a:pt x="406400" y="650304"/>
                  </a:cubicBezTo>
                  <a:lnTo>
                    <a:pt x="406400" y="656972"/>
                  </a:lnTo>
                  <a:cubicBezTo>
                    <a:pt x="406400" y="673435"/>
                    <a:pt x="416317" y="688277"/>
                    <a:pt x="431527" y="694577"/>
                  </a:cubicBezTo>
                  <a:cubicBezTo>
                    <a:pt x="446736" y="700877"/>
                    <a:pt x="464243" y="697395"/>
                    <a:pt x="475884" y="685754"/>
                  </a:cubicBezTo>
                  <a:lnTo>
                    <a:pt x="743316" y="418322"/>
                  </a:lnTo>
                  <a:cubicBezTo>
                    <a:pt x="781691" y="379947"/>
                    <a:pt x="781691" y="317729"/>
                    <a:pt x="743316" y="279354"/>
                  </a:cubicBezTo>
                  <a:close/>
                </a:path>
              </a:pathLst>
            </a:custGeom>
            <a:solidFill>
              <a:srgbClr val="4E6C7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15">
              <a:extLst>
                <a:ext uri="{FF2B5EF4-FFF2-40B4-BE49-F238E27FC236}">
                  <a16:creationId xmlns:a16="http://schemas.microsoft.com/office/drawing/2014/main" id="{3A9B1444-7D5A-EFD9-EF6D-48FE6F6CDEDF}"/>
                </a:ext>
              </a:extLst>
            </p:cNvPr>
            <p:cNvSpPr txBox="1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 dirty="0"/>
            </a:p>
          </p:txBody>
        </p:sp>
      </p:grpSp>
      <p:sp>
        <p:nvSpPr>
          <p:cNvPr id="30" name="AutoShape 24">
            <a:extLst>
              <a:ext uri="{FF2B5EF4-FFF2-40B4-BE49-F238E27FC236}">
                <a16:creationId xmlns:a16="http://schemas.microsoft.com/office/drawing/2014/main" id="{B6A51862-5760-9305-622A-9BA1F395D362}"/>
              </a:ext>
            </a:extLst>
          </p:cNvPr>
          <p:cNvSpPr/>
          <p:nvPr/>
        </p:nvSpPr>
        <p:spPr>
          <a:xfrm>
            <a:off x="8697960" y="2604490"/>
            <a:ext cx="5618029" cy="288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40219F86-83BA-40A4-0DE3-ABDB10A8B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361750"/>
            <a:ext cx="8308757" cy="833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4456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0620B-FE54-67C8-DD7F-1CF4E203A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9">
            <a:extLst>
              <a:ext uri="{FF2B5EF4-FFF2-40B4-BE49-F238E27FC236}">
                <a16:creationId xmlns:a16="http://schemas.microsoft.com/office/drawing/2014/main" id="{B9210719-CCCD-9596-FEF5-07801A378961}"/>
              </a:ext>
            </a:extLst>
          </p:cNvPr>
          <p:cNvSpPr txBox="1"/>
          <p:nvPr/>
        </p:nvSpPr>
        <p:spPr>
          <a:xfrm>
            <a:off x="4358521" y="1648820"/>
            <a:ext cx="9957469" cy="984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7371"/>
              </a:lnSpc>
            </a:pPr>
            <a:r>
              <a:rPr lang="ar-EG" sz="7599" b="1" dirty="0">
                <a:solidFill>
                  <a:srgbClr val="4383D1"/>
                </a:solidFill>
                <a:latin typeface="Poppins Bold"/>
                <a:ea typeface="Poppins Bold"/>
                <a:cs typeface="+mj-cs"/>
                <a:sym typeface="Poppins Bold"/>
              </a:rPr>
              <a:t>تمرينات بمقاومة</a:t>
            </a:r>
            <a:endParaRPr lang="en-US" sz="7599" b="1" dirty="0">
              <a:solidFill>
                <a:srgbClr val="4383D1"/>
              </a:solidFill>
              <a:latin typeface="Poppins Bold"/>
              <a:ea typeface="Poppins Bold"/>
              <a:cs typeface="+mj-cs"/>
              <a:sym typeface="Poppins Bold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B5914D8A-9DBA-26B9-DC34-29904C549030}"/>
              </a:ext>
            </a:extLst>
          </p:cNvPr>
          <p:cNvSpPr txBox="1"/>
          <p:nvPr/>
        </p:nvSpPr>
        <p:spPr>
          <a:xfrm>
            <a:off x="5105400" y="3175518"/>
            <a:ext cx="12573000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ar-EG" sz="4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زيادة قوة العضلة وتحملها </a:t>
            </a:r>
          </a:p>
          <a:p>
            <a:pPr algn="r" rtl="1"/>
            <a:r>
              <a:rPr lang="ar-EG" sz="4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زيادة قوة اربطة المفاصل</a:t>
            </a:r>
          </a:p>
          <a:p>
            <a:pPr algn="r" rtl="1"/>
            <a:r>
              <a:rPr lang="ar-EG" sz="4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زيادة صلابة العظام</a:t>
            </a:r>
          </a:p>
          <a:p>
            <a:pPr algn="r" rtl="1"/>
            <a:r>
              <a:rPr lang="ar-EG" sz="4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المساهمة في تنمية عناصر اللياقة البدنية</a:t>
            </a:r>
            <a:endParaRPr lang="en-US" sz="44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32" name="Group 13">
            <a:extLst>
              <a:ext uri="{FF2B5EF4-FFF2-40B4-BE49-F238E27FC236}">
                <a16:creationId xmlns:a16="http://schemas.microsoft.com/office/drawing/2014/main" id="{1CF0D924-344F-4BD4-A50A-AEBC1E5B6DED}"/>
              </a:ext>
            </a:extLst>
          </p:cNvPr>
          <p:cNvGrpSpPr/>
          <p:nvPr/>
        </p:nvGrpSpPr>
        <p:grpSpPr>
          <a:xfrm flipH="1">
            <a:off x="17938419" y="3963963"/>
            <a:ext cx="393928" cy="393928"/>
            <a:chOff x="0" y="0"/>
            <a:chExt cx="812800" cy="812800"/>
          </a:xfrm>
        </p:grpSpPr>
        <p:sp>
          <p:nvSpPr>
            <p:cNvPr id="33" name="Freeform 14">
              <a:extLst>
                <a:ext uri="{FF2B5EF4-FFF2-40B4-BE49-F238E27FC236}">
                  <a16:creationId xmlns:a16="http://schemas.microsoft.com/office/drawing/2014/main" id="{ED4EC6EE-66DD-3BB8-3DB1-2DBFA248B008}"/>
                </a:ext>
              </a:extLst>
            </p:cNvPr>
            <p:cNvSpPr/>
            <p:nvPr/>
          </p:nvSpPr>
          <p:spPr>
            <a:xfrm>
              <a:off x="0" y="57562"/>
              <a:ext cx="772097" cy="697677"/>
            </a:xfrm>
            <a:custGeom>
              <a:avLst/>
              <a:gdLst/>
              <a:ahLst/>
              <a:cxnLst/>
              <a:rect l="l" t="t" r="r" b="b"/>
              <a:pathLst>
                <a:path w="772097" h="697677">
                  <a:moveTo>
                    <a:pt x="743316" y="279354"/>
                  </a:moveTo>
                  <a:lnTo>
                    <a:pt x="475884" y="11922"/>
                  </a:lnTo>
                  <a:cubicBezTo>
                    <a:pt x="464243" y="281"/>
                    <a:pt x="446736" y="-3201"/>
                    <a:pt x="431527" y="3099"/>
                  </a:cubicBezTo>
                  <a:cubicBezTo>
                    <a:pt x="416317" y="9399"/>
                    <a:pt x="406400" y="24241"/>
                    <a:pt x="406400" y="40704"/>
                  </a:cubicBezTo>
                  <a:lnTo>
                    <a:pt x="406400" y="47372"/>
                  </a:lnTo>
                  <a:cubicBezTo>
                    <a:pt x="406400" y="101643"/>
                    <a:pt x="362405" y="145638"/>
                    <a:pt x="308134" y="145638"/>
                  </a:cubicBezTo>
                  <a:lnTo>
                    <a:pt x="98266" y="145638"/>
                  </a:lnTo>
                  <a:cubicBezTo>
                    <a:pt x="43995" y="145638"/>
                    <a:pt x="0" y="189633"/>
                    <a:pt x="0" y="243904"/>
                  </a:cubicBezTo>
                  <a:lnTo>
                    <a:pt x="0" y="453772"/>
                  </a:lnTo>
                  <a:cubicBezTo>
                    <a:pt x="0" y="508043"/>
                    <a:pt x="43995" y="552038"/>
                    <a:pt x="98266" y="552038"/>
                  </a:cubicBezTo>
                  <a:lnTo>
                    <a:pt x="308134" y="552038"/>
                  </a:lnTo>
                  <a:cubicBezTo>
                    <a:pt x="362405" y="552038"/>
                    <a:pt x="406400" y="596033"/>
                    <a:pt x="406400" y="650304"/>
                  </a:cubicBezTo>
                  <a:lnTo>
                    <a:pt x="406400" y="656972"/>
                  </a:lnTo>
                  <a:cubicBezTo>
                    <a:pt x="406400" y="673435"/>
                    <a:pt x="416317" y="688277"/>
                    <a:pt x="431527" y="694577"/>
                  </a:cubicBezTo>
                  <a:cubicBezTo>
                    <a:pt x="446736" y="700877"/>
                    <a:pt x="464243" y="697395"/>
                    <a:pt x="475884" y="685754"/>
                  </a:cubicBezTo>
                  <a:lnTo>
                    <a:pt x="743316" y="418322"/>
                  </a:lnTo>
                  <a:cubicBezTo>
                    <a:pt x="781691" y="379947"/>
                    <a:pt x="781691" y="317729"/>
                    <a:pt x="743316" y="279354"/>
                  </a:cubicBezTo>
                  <a:close/>
                </a:path>
              </a:pathLst>
            </a:custGeom>
            <a:solidFill>
              <a:srgbClr val="4E6C7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15">
              <a:extLst>
                <a:ext uri="{FF2B5EF4-FFF2-40B4-BE49-F238E27FC236}">
                  <a16:creationId xmlns:a16="http://schemas.microsoft.com/office/drawing/2014/main" id="{D9AA792B-0755-128F-33CA-A11A4FA0D73C}"/>
                </a:ext>
              </a:extLst>
            </p:cNvPr>
            <p:cNvSpPr txBox="1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 dirty="0"/>
            </a:p>
          </p:txBody>
        </p:sp>
      </p:grpSp>
      <p:grpSp>
        <p:nvGrpSpPr>
          <p:cNvPr id="35" name="Group 13">
            <a:extLst>
              <a:ext uri="{FF2B5EF4-FFF2-40B4-BE49-F238E27FC236}">
                <a16:creationId xmlns:a16="http://schemas.microsoft.com/office/drawing/2014/main" id="{5ED24D4B-D69B-FC04-AF07-24F25E42F7B1}"/>
              </a:ext>
            </a:extLst>
          </p:cNvPr>
          <p:cNvGrpSpPr/>
          <p:nvPr/>
        </p:nvGrpSpPr>
        <p:grpSpPr>
          <a:xfrm flipH="1">
            <a:off x="17928555" y="5273907"/>
            <a:ext cx="393928" cy="393928"/>
            <a:chOff x="0" y="57561"/>
            <a:chExt cx="772097" cy="697678"/>
          </a:xfrm>
        </p:grpSpPr>
        <p:sp>
          <p:nvSpPr>
            <p:cNvPr id="36" name="Freeform 14">
              <a:extLst>
                <a:ext uri="{FF2B5EF4-FFF2-40B4-BE49-F238E27FC236}">
                  <a16:creationId xmlns:a16="http://schemas.microsoft.com/office/drawing/2014/main" id="{655BE9DB-7ACB-3F21-8A59-83080730D9B1}"/>
                </a:ext>
              </a:extLst>
            </p:cNvPr>
            <p:cNvSpPr/>
            <p:nvPr/>
          </p:nvSpPr>
          <p:spPr>
            <a:xfrm>
              <a:off x="0" y="57561"/>
              <a:ext cx="772097" cy="697678"/>
            </a:xfrm>
            <a:custGeom>
              <a:avLst/>
              <a:gdLst/>
              <a:ahLst/>
              <a:cxnLst/>
              <a:rect l="l" t="t" r="r" b="b"/>
              <a:pathLst>
                <a:path w="772097" h="697677">
                  <a:moveTo>
                    <a:pt x="743316" y="279354"/>
                  </a:moveTo>
                  <a:lnTo>
                    <a:pt x="475884" y="11922"/>
                  </a:lnTo>
                  <a:cubicBezTo>
                    <a:pt x="464243" y="281"/>
                    <a:pt x="446736" y="-3201"/>
                    <a:pt x="431527" y="3099"/>
                  </a:cubicBezTo>
                  <a:cubicBezTo>
                    <a:pt x="416317" y="9399"/>
                    <a:pt x="406400" y="24241"/>
                    <a:pt x="406400" y="40704"/>
                  </a:cubicBezTo>
                  <a:lnTo>
                    <a:pt x="406400" y="47372"/>
                  </a:lnTo>
                  <a:cubicBezTo>
                    <a:pt x="406400" y="101643"/>
                    <a:pt x="362405" y="145638"/>
                    <a:pt x="308134" y="145638"/>
                  </a:cubicBezTo>
                  <a:lnTo>
                    <a:pt x="98266" y="145638"/>
                  </a:lnTo>
                  <a:cubicBezTo>
                    <a:pt x="43995" y="145638"/>
                    <a:pt x="0" y="189633"/>
                    <a:pt x="0" y="243904"/>
                  </a:cubicBezTo>
                  <a:lnTo>
                    <a:pt x="0" y="453772"/>
                  </a:lnTo>
                  <a:cubicBezTo>
                    <a:pt x="0" y="508043"/>
                    <a:pt x="43995" y="552038"/>
                    <a:pt x="98266" y="552038"/>
                  </a:cubicBezTo>
                  <a:lnTo>
                    <a:pt x="308134" y="552038"/>
                  </a:lnTo>
                  <a:cubicBezTo>
                    <a:pt x="362405" y="552038"/>
                    <a:pt x="406400" y="596033"/>
                    <a:pt x="406400" y="650304"/>
                  </a:cubicBezTo>
                  <a:lnTo>
                    <a:pt x="406400" y="656972"/>
                  </a:lnTo>
                  <a:cubicBezTo>
                    <a:pt x="406400" y="673435"/>
                    <a:pt x="416317" y="688277"/>
                    <a:pt x="431527" y="694577"/>
                  </a:cubicBezTo>
                  <a:cubicBezTo>
                    <a:pt x="446736" y="700877"/>
                    <a:pt x="464243" y="697395"/>
                    <a:pt x="475884" y="685754"/>
                  </a:cubicBezTo>
                  <a:lnTo>
                    <a:pt x="743316" y="418322"/>
                  </a:lnTo>
                  <a:cubicBezTo>
                    <a:pt x="781691" y="379947"/>
                    <a:pt x="781691" y="317729"/>
                    <a:pt x="743316" y="279354"/>
                  </a:cubicBezTo>
                  <a:close/>
                </a:path>
              </a:pathLst>
            </a:custGeom>
            <a:solidFill>
              <a:srgbClr val="4E6C7E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" name="TextBox 15">
              <a:extLst>
                <a:ext uri="{FF2B5EF4-FFF2-40B4-BE49-F238E27FC236}">
                  <a16:creationId xmlns:a16="http://schemas.microsoft.com/office/drawing/2014/main" id="{7B471E86-3C63-0A24-3D52-07136840FCA6}"/>
                </a:ext>
              </a:extLst>
            </p:cNvPr>
            <p:cNvSpPr txBox="1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" name="Group 13">
            <a:extLst>
              <a:ext uri="{FF2B5EF4-FFF2-40B4-BE49-F238E27FC236}">
                <a16:creationId xmlns:a16="http://schemas.microsoft.com/office/drawing/2014/main" id="{49029E60-5C77-ED45-0F12-204FD194BAC4}"/>
              </a:ext>
            </a:extLst>
          </p:cNvPr>
          <p:cNvGrpSpPr/>
          <p:nvPr/>
        </p:nvGrpSpPr>
        <p:grpSpPr>
          <a:xfrm flipH="1">
            <a:off x="17913799" y="4619165"/>
            <a:ext cx="393928" cy="393928"/>
            <a:chOff x="0" y="0"/>
            <a:chExt cx="812800" cy="812800"/>
          </a:xfrm>
        </p:grpSpPr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12E30630-C48F-71BF-66FA-2E83AFB15FC5}"/>
                </a:ext>
              </a:extLst>
            </p:cNvPr>
            <p:cNvSpPr/>
            <p:nvPr/>
          </p:nvSpPr>
          <p:spPr>
            <a:xfrm>
              <a:off x="0" y="57562"/>
              <a:ext cx="772097" cy="697677"/>
            </a:xfrm>
            <a:custGeom>
              <a:avLst/>
              <a:gdLst/>
              <a:ahLst/>
              <a:cxnLst/>
              <a:rect l="l" t="t" r="r" b="b"/>
              <a:pathLst>
                <a:path w="772097" h="697677">
                  <a:moveTo>
                    <a:pt x="743316" y="279354"/>
                  </a:moveTo>
                  <a:lnTo>
                    <a:pt x="475884" y="11922"/>
                  </a:lnTo>
                  <a:cubicBezTo>
                    <a:pt x="464243" y="281"/>
                    <a:pt x="446736" y="-3201"/>
                    <a:pt x="431527" y="3099"/>
                  </a:cubicBezTo>
                  <a:cubicBezTo>
                    <a:pt x="416317" y="9399"/>
                    <a:pt x="406400" y="24241"/>
                    <a:pt x="406400" y="40704"/>
                  </a:cubicBezTo>
                  <a:lnTo>
                    <a:pt x="406400" y="47372"/>
                  </a:lnTo>
                  <a:cubicBezTo>
                    <a:pt x="406400" y="101643"/>
                    <a:pt x="362405" y="145638"/>
                    <a:pt x="308134" y="145638"/>
                  </a:cubicBezTo>
                  <a:lnTo>
                    <a:pt x="98266" y="145638"/>
                  </a:lnTo>
                  <a:cubicBezTo>
                    <a:pt x="43995" y="145638"/>
                    <a:pt x="0" y="189633"/>
                    <a:pt x="0" y="243904"/>
                  </a:cubicBezTo>
                  <a:lnTo>
                    <a:pt x="0" y="453772"/>
                  </a:lnTo>
                  <a:cubicBezTo>
                    <a:pt x="0" y="508043"/>
                    <a:pt x="43995" y="552038"/>
                    <a:pt x="98266" y="552038"/>
                  </a:cubicBezTo>
                  <a:lnTo>
                    <a:pt x="308134" y="552038"/>
                  </a:lnTo>
                  <a:cubicBezTo>
                    <a:pt x="362405" y="552038"/>
                    <a:pt x="406400" y="596033"/>
                    <a:pt x="406400" y="650304"/>
                  </a:cubicBezTo>
                  <a:lnTo>
                    <a:pt x="406400" y="656972"/>
                  </a:lnTo>
                  <a:cubicBezTo>
                    <a:pt x="406400" y="673435"/>
                    <a:pt x="416317" y="688277"/>
                    <a:pt x="431527" y="694577"/>
                  </a:cubicBezTo>
                  <a:cubicBezTo>
                    <a:pt x="446736" y="700877"/>
                    <a:pt x="464243" y="697395"/>
                    <a:pt x="475884" y="685754"/>
                  </a:cubicBezTo>
                  <a:lnTo>
                    <a:pt x="743316" y="418322"/>
                  </a:lnTo>
                  <a:cubicBezTo>
                    <a:pt x="781691" y="379947"/>
                    <a:pt x="781691" y="317729"/>
                    <a:pt x="743316" y="279354"/>
                  </a:cubicBezTo>
                  <a:close/>
                </a:path>
              </a:pathLst>
            </a:custGeom>
            <a:solidFill>
              <a:srgbClr val="4E6C7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5">
              <a:extLst>
                <a:ext uri="{FF2B5EF4-FFF2-40B4-BE49-F238E27FC236}">
                  <a16:creationId xmlns:a16="http://schemas.microsoft.com/office/drawing/2014/main" id="{FE624372-70F2-8C93-330D-AD7CD65D1B32}"/>
                </a:ext>
              </a:extLst>
            </p:cNvPr>
            <p:cNvSpPr txBox="1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 dirty="0"/>
            </a:p>
          </p:txBody>
        </p:sp>
      </p:grpSp>
      <p:grpSp>
        <p:nvGrpSpPr>
          <p:cNvPr id="18" name="Group 13">
            <a:extLst>
              <a:ext uri="{FF2B5EF4-FFF2-40B4-BE49-F238E27FC236}">
                <a16:creationId xmlns:a16="http://schemas.microsoft.com/office/drawing/2014/main" id="{87085770-E038-38FC-B7BC-AF24B2CD5294}"/>
              </a:ext>
            </a:extLst>
          </p:cNvPr>
          <p:cNvGrpSpPr/>
          <p:nvPr/>
        </p:nvGrpSpPr>
        <p:grpSpPr>
          <a:xfrm flipH="1">
            <a:off x="17923662" y="3314725"/>
            <a:ext cx="393928" cy="393928"/>
            <a:chOff x="0" y="0"/>
            <a:chExt cx="812800" cy="812800"/>
          </a:xfrm>
        </p:grpSpPr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1D7270D6-0718-7EFC-C586-32A8B1377D4A}"/>
                </a:ext>
              </a:extLst>
            </p:cNvPr>
            <p:cNvSpPr/>
            <p:nvPr/>
          </p:nvSpPr>
          <p:spPr>
            <a:xfrm>
              <a:off x="0" y="57562"/>
              <a:ext cx="772097" cy="697677"/>
            </a:xfrm>
            <a:custGeom>
              <a:avLst/>
              <a:gdLst/>
              <a:ahLst/>
              <a:cxnLst/>
              <a:rect l="l" t="t" r="r" b="b"/>
              <a:pathLst>
                <a:path w="772097" h="697677">
                  <a:moveTo>
                    <a:pt x="743316" y="279354"/>
                  </a:moveTo>
                  <a:lnTo>
                    <a:pt x="475884" y="11922"/>
                  </a:lnTo>
                  <a:cubicBezTo>
                    <a:pt x="464243" y="281"/>
                    <a:pt x="446736" y="-3201"/>
                    <a:pt x="431527" y="3099"/>
                  </a:cubicBezTo>
                  <a:cubicBezTo>
                    <a:pt x="416317" y="9399"/>
                    <a:pt x="406400" y="24241"/>
                    <a:pt x="406400" y="40704"/>
                  </a:cubicBezTo>
                  <a:lnTo>
                    <a:pt x="406400" y="47372"/>
                  </a:lnTo>
                  <a:cubicBezTo>
                    <a:pt x="406400" y="101643"/>
                    <a:pt x="362405" y="145638"/>
                    <a:pt x="308134" y="145638"/>
                  </a:cubicBezTo>
                  <a:lnTo>
                    <a:pt x="98266" y="145638"/>
                  </a:lnTo>
                  <a:cubicBezTo>
                    <a:pt x="43995" y="145638"/>
                    <a:pt x="0" y="189633"/>
                    <a:pt x="0" y="243904"/>
                  </a:cubicBezTo>
                  <a:lnTo>
                    <a:pt x="0" y="453772"/>
                  </a:lnTo>
                  <a:cubicBezTo>
                    <a:pt x="0" y="508043"/>
                    <a:pt x="43995" y="552038"/>
                    <a:pt x="98266" y="552038"/>
                  </a:cubicBezTo>
                  <a:lnTo>
                    <a:pt x="308134" y="552038"/>
                  </a:lnTo>
                  <a:cubicBezTo>
                    <a:pt x="362405" y="552038"/>
                    <a:pt x="406400" y="596033"/>
                    <a:pt x="406400" y="650304"/>
                  </a:cubicBezTo>
                  <a:lnTo>
                    <a:pt x="406400" y="656972"/>
                  </a:lnTo>
                  <a:cubicBezTo>
                    <a:pt x="406400" y="673435"/>
                    <a:pt x="416317" y="688277"/>
                    <a:pt x="431527" y="694577"/>
                  </a:cubicBezTo>
                  <a:cubicBezTo>
                    <a:pt x="446736" y="700877"/>
                    <a:pt x="464243" y="697395"/>
                    <a:pt x="475884" y="685754"/>
                  </a:cubicBezTo>
                  <a:lnTo>
                    <a:pt x="743316" y="418322"/>
                  </a:lnTo>
                  <a:cubicBezTo>
                    <a:pt x="781691" y="379947"/>
                    <a:pt x="781691" y="317729"/>
                    <a:pt x="743316" y="279354"/>
                  </a:cubicBezTo>
                  <a:close/>
                </a:path>
              </a:pathLst>
            </a:custGeom>
            <a:solidFill>
              <a:srgbClr val="4E6C7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15">
              <a:extLst>
                <a:ext uri="{FF2B5EF4-FFF2-40B4-BE49-F238E27FC236}">
                  <a16:creationId xmlns:a16="http://schemas.microsoft.com/office/drawing/2014/main" id="{75ABF822-8292-D51E-0E27-A38E833E52AE}"/>
                </a:ext>
              </a:extLst>
            </p:cNvPr>
            <p:cNvSpPr txBox="1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 dirty="0"/>
            </a:p>
          </p:txBody>
        </p:sp>
      </p:grpSp>
      <p:sp>
        <p:nvSpPr>
          <p:cNvPr id="38" name="AutoShape 24">
            <a:extLst>
              <a:ext uri="{FF2B5EF4-FFF2-40B4-BE49-F238E27FC236}">
                <a16:creationId xmlns:a16="http://schemas.microsoft.com/office/drawing/2014/main" id="{04483193-0F2B-A271-F021-9EA032F7F2E3}"/>
              </a:ext>
            </a:extLst>
          </p:cNvPr>
          <p:cNvSpPr/>
          <p:nvPr/>
        </p:nvSpPr>
        <p:spPr>
          <a:xfrm>
            <a:off x="9113521" y="2476501"/>
            <a:ext cx="536448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7D0060F9-E932-C182-4F1B-F189A7F68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81972"/>
            <a:ext cx="10668000" cy="6705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1931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ACC34-75E5-2541-680B-DA47B21B5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>
            <a:extLst>
              <a:ext uri="{FF2B5EF4-FFF2-40B4-BE49-F238E27FC236}">
                <a16:creationId xmlns:a16="http://schemas.microsoft.com/office/drawing/2014/main" id="{37477C8F-CAF7-AF78-1294-A5E12E91AD86}"/>
              </a:ext>
            </a:extLst>
          </p:cNvPr>
          <p:cNvGrpSpPr/>
          <p:nvPr/>
        </p:nvGrpSpPr>
        <p:grpSpPr>
          <a:xfrm flipH="1">
            <a:off x="16723834" y="5120640"/>
            <a:ext cx="393928" cy="393928"/>
            <a:chOff x="0" y="0"/>
            <a:chExt cx="812800" cy="8128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37E186F4-5CD7-FC2A-AA8B-F47CE920AA06}"/>
                </a:ext>
              </a:extLst>
            </p:cNvPr>
            <p:cNvSpPr/>
            <p:nvPr/>
          </p:nvSpPr>
          <p:spPr>
            <a:xfrm>
              <a:off x="0" y="57562"/>
              <a:ext cx="772097" cy="697677"/>
            </a:xfrm>
            <a:custGeom>
              <a:avLst/>
              <a:gdLst/>
              <a:ahLst/>
              <a:cxnLst/>
              <a:rect l="l" t="t" r="r" b="b"/>
              <a:pathLst>
                <a:path w="772097" h="697677">
                  <a:moveTo>
                    <a:pt x="743316" y="279354"/>
                  </a:moveTo>
                  <a:lnTo>
                    <a:pt x="475884" y="11922"/>
                  </a:lnTo>
                  <a:cubicBezTo>
                    <a:pt x="464243" y="281"/>
                    <a:pt x="446736" y="-3201"/>
                    <a:pt x="431527" y="3099"/>
                  </a:cubicBezTo>
                  <a:cubicBezTo>
                    <a:pt x="416317" y="9399"/>
                    <a:pt x="406400" y="24241"/>
                    <a:pt x="406400" y="40704"/>
                  </a:cubicBezTo>
                  <a:lnTo>
                    <a:pt x="406400" y="47372"/>
                  </a:lnTo>
                  <a:cubicBezTo>
                    <a:pt x="406400" y="101643"/>
                    <a:pt x="362405" y="145638"/>
                    <a:pt x="308134" y="145638"/>
                  </a:cubicBezTo>
                  <a:lnTo>
                    <a:pt x="98266" y="145638"/>
                  </a:lnTo>
                  <a:cubicBezTo>
                    <a:pt x="43995" y="145638"/>
                    <a:pt x="0" y="189633"/>
                    <a:pt x="0" y="243904"/>
                  </a:cubicBezTo>
                  <a:lnTo>
                    <a:pt x="0" y="453772"/>
                  </a:lnTo>
                  <a:cubicBezTo>
                    <a:pt x="0" y="508043"/>
                    <a:pt x="43995" y="552038"/>
                    <a:pt x="98266" y="552038"/>
                  </a:cubicBezTo>
                  <a:lnTo>
                    <a:pt x="308134" y="552038"/>
                  </a:lnTo>
                  <a:cubicBezTo>
                    <a:pt x="362405" y="552038"/>
                    <a:pt x="406400" y="596033"/>
                    <a:pt x="406400" y="650304"/>
                  </a:cubicBezTo>
                  <a:lnTo>
                    <a:pt x="406400" y="656972"/>
                  </a:lnTo>
                  <a:cubicBezTo>
                    <a:pt x="406400" y="673435"/>
                    <a:pt x="416317" y="688277"/>
                    <a:pt x="431527" y="694577"/>
                  </a:cubicBezTo>
                  <a:cubicBezTo>
                    <a:pt x="446736" y="700877"/>
                    <a:pt x="464243" y="697395"/>
                    <a:pt x="475884" y="685754"/>
                  </a:cubicBezTo>
                  <a:lnTo>
                    <a:pt x="743316" y="418322"/>
                  </a:lnTo>
                  <a:cubicBezTo>
                    <a:pt x="781691" y="379947"/>
                    <a:pt x="781691" y="317729"/>
                    <a:pt x="743316" y="279354"/>
                  </a:cubicBezTo>
                  <a:close/>
                </a:path>
              </a:pathLst>
            </a:custGeom>
            <a:solidFill>
              <a:srgbClr val="4E6C7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E80A740E-6EB3-9952-0046-B77B2C979E4A}"/>
                </a:ext>
              </a:extLst>
            </p:cNvPr>
            <p:cNvSpPr txBox="1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A787C1BA-9F49-FCB0-7455-A5178175E639}"/>
              </a:ext>
            </a:extLst>
          </p:cNvPr>
          <p:cNvSpPr txBox="1"/>
          <p:nvPr/>
        </p:nvSpPr>
        <p:spPr>
          <a:xfrm>
            <a:off x="1532623" y="794401"/>
            <a:ext cx="1516778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83"/>
              </a:lnSpc>
            </a:pPr>
            <a:r>
              <a:rPr lang="ar-EG" sz="5400" b="1" dirty="0">
                <a:solidFill>
                  <a:srgbClr val="4383D1"/>
                </a:solidFill>
                <a:latin typeface="Poppins Bold"/>
                <a:ea typeface="Poppins Bold"/>
                <a:cs typeface="+mj-cs"/>
                <a:sym typeface="Poppins Bold"/>
              </a:rPr>
              <a:t>فهم خشونة الركبة في العصر الحديث: الأسباب والأعراض والعلاج </a:t>
            </a:r>
            <a:endParaRPr lang="en-US" sz="5400" b="1" dirty="0">
              <a:solidFill>
                <a:srgbClr val="4383D1"/>
              </a:solidFill>
              <a:latin typeface="Poppins Bold"/>
              <a:ea typeface="Poppins Bold"/>
              <a:cs typeface="+mj-cs"/>
              <a:sym typeface="Poppins Bold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41C78C2-7CBF-896F-227C-6DE7815C6336}"/>
              </a:ext>
            </a:extLst>
          </p:cNvPr>
          <p:cNvSpPr txBox="1"/>
          <p:nvPr/>
        </p:nvSpPr>
        <p:spPr>
          <a:xfrm>
            <a:off x="15001092" y="3532760"/>
            <a:ext cx="2040180" cy="467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132"/>
              </a:lnSpc>
            </a:pPr>
            <a:r>
              <a:rPr lang="ar-EG" sz="4800" b="1" dirty="0">
                <a:solidFill>
                  <a:schemeClr val="accent1"/>
                </a:solidFill>
                <a:latin typeface="Canva Sans"/>
                <a:ea typeface="Canva Sans"/>
                <a:cs typeface="Canva Sans"/>
                <a:sym typeface="Canva Sans"/>
              </a:rPr>
              <a:t>الأعراض</a:t>
            </a:r>
            <a:endParaRPr lang="en-US" sz="2900" b="1" dirty="0">
              <a:solidFill>
                <a:schemeClr val="accent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B50D5205-CBBC-998D-F4B7-3E83D87DB20F}"/>
              </a:ext>
            </a:extLst>
          </p:cNvPr>
          <p:cNvSpPr txBox="1"/>
          <p:nvPr/>
        </p:nvSpPr>
        <p:spPr>
          <a:xfrm>
            <a:off x="7637982" y="5108247"/>
            <a:ext cx="8678956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ar-EG" sz="4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تصلب المفصل خاصة في الصباح </a:t>
            </a:r>
          </a:p>
          <a:p>
            <a:pPr algn="r" rtl="1"/>
            <a:r>
              <a:rPr lang="ar-EG" sz="4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الم عند الحركة أو بعد الجلوس لفترة طويلة </a:t>
            </a:r>
          </a:p>
          <a:p>
            <a:pPr algn="r" rtl="1"/>
            <a:r>
              <a:rPr lang="ar-EG" sz="4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صوت طقطقة أو صرير</a:t>
            </a:r>
          </a:p>
          <a:p>
            <a:pPr algn="r" rtl="1"/>
            <a:r>
              <a:rPr lang="ar-EG" sz="4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تورم وانتفاخ</a:t>
            </a:r>
            <a:endParaRPr lang="en-US" sz="44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32" name="Group 13">
            <a:extLst>
              <a:ext uri="{FF2B5EF4-FFF2-40B4-BE49-F238E27FC236}">
                <a16:creationId xmlns:a16="http://schemas.microsoft.com/office/drawing/2014/main" id="{539EDEE5-F253-05FF-053C-49E6BF20969C}"/>
              </a:ext>
            </a:extLst>
          </p:cNvPr>
          <p:cNvGrpSpPr/>
          <p:nvPr/>
        </p:nvGrpSpPr>
        <p:grpSpPr>
          <a:xfrm flipH="1">
            <a:off x="16819688" y="6667500"/>
            <a:ext cx="393928" cy="393928"/>
            <a:chOff x="0" y="0"/>
            <a:chExt cx="812800" cy="812800"/>
          </a:xfrm>
        </p:grpSpPr>
        <p:sp>
          <p:nvSpPr>
            <p:cNvPr id="33" name="Freeform 14">
              <a:extLst>
                <a:ext uri="{FF2B5EF4-FFF2-40B4-BE49-F238E27FC236}">
                  <a16:creationId xmlns:a16="http://schemas.microsoft.com/office/drawing/2014/main" id="{A803A389-678F-FE62-0708-D6568FDD64A7}"/>
                </a:ext>
              </a:extLst>
            </p:cNvPr>
            <p:cNvSpPr/>
            <p:nvPr/>
          </p:nvSpPr>
          <p:spPr>
            <a:xfrm>
              <a:off x="0" y="57562"/>
              <a:ext cx="772097" cy="697677"/>
            </a:xfrm>
            <a:custGeom>
              <a:avLst/>
              <a:gdLst/>
              <a:ahLst/>
              <a:cxnLst/>
              <a:rect l="l" t="t" r="r" b="b"/>
              <a:pathLst>
                <a:path w="772097" h="697677">
                  <a:moveTo>
                    <a:pt x="743316" y="279354"/>
                  </a:moveTo>
                  <a:lnTo>
                    <a:pt x="475884" y="11922"/>
                  </a:lnTo>
                  <a:cubicBezTo>
                    <a:pt x="464243" y="281"/>
                    <a:pt x="446736" y="-3201"/>
                    <a:pt x="431527" y="3099"/>
                  </a:cubicBezTo>
                  <a:cubicBezTo>
                    <a:pt x="416317" y="9399"/>
                    <a:pt x="406400" y="24241"/>
                    <a:pt x="406400" y="40704"/>
                  </a:cubicBezTo>
                  <a:lnTo>
                    <a:pt x="406400" y="47372"/>
                  </a:lnTo>
                  <a:cubicBezTo>
                    <a:pt x="406400" y="101643"/>
                    <a:pt x="362405" y="145638"/>
                    <a:pt x="308134" y="145638"/>
                  </a:cubicBezTo>
                  <a:lnTo>
                    <a:pt x="98266" y="145638"/>
                  </a:lnTo>
                  <a:cubicBezTo>
                    <a:pt x="43995" y="145638"/>
                    <a:pt x="0" y="189633"/>
                    <a:pt x="0" y="243904"/>
                  </a:cubicBezTo>
                  <a:lnTo>
                    <a:pt x="0" y="453772"/>
                  </a:lnTo>
                  <a:cubicBezTo>
                    <a:pt x="0" y="508043"/>
                    <a:pt x="43995" y="552038"/>
                    <a:pt x="98266" y="552038"/>
                  </a:cubicBezTo>
                  <a:lnTo>
                    <a:pt x="308134" y="552038"/>
                  </a:lnTo>
                  <a:cubicBezTo>
                    <a:pt x="362405" y="552038"/>
                    <a:pt x="406400" y="596033"/>
                    <a:pt x="406400" y="650304"/>
                  </a:cubicBezTo>
                  <a:lnTo>
                    <a:pt x="406400" y="656972"/>
                  </a:lnTo>
                  <a:cubicBezTo>
                    <a:pt x="406400" y="673435"/>
                    <a:pt x="416317" y="688277"/>
                    <a:pt x="431527" y="694577"/>
                  </a:cubicBezTo>
                  <a:cubicBezTo>
                    <a:pt x="446736" y="700877"/>
                    <a:pt x="464243" y="697395"/>
                    <a:pt x="475884" y="685754"/>
                  </a:cubicBezTo>
                  <a:lnTo>
                    <a:pt x="743316" y="418322"/>
                  </a:lnTo>
                  <a:cubicBezTo>
                    <a:pt x="781691" y="379947"/>
                    <a:pt x="781691" y="317729"/>
                    <a:pt x="743316" y="279354"/>
                  </a:cubicBezTo>
                  <a:close/>
                </a:path>
              </a:pathLst>
            </a:custGeom>
            <a:solidFill>
              <a:srgbClr val="4E6C7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15">
              <a:extLst>
                <a:ext uri="{FF2B5EF4-FFF2-40B4-BE49-F238E27FC236}">
                  <a16:creationId xmlns:a16="http://schemas.microsoft.com/office/drawing/2014/main" id="{0695AC1B-F38B-4334-75BE-35E148D0D2C2}"/>
                </a:ext>
              </a:extLst>
            </p:cNvPr>
            <p:cNvSpPr txBox="1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6" name="Group 13">
            <a:extLst>
              <a:ext uri="{FF2B5EF4-FFF2-40B4-BE49-F238E27FC236}">
                <a16:creationId xmlns:a16="http://schemas.microsoft.com/office/drawing/2014/main" id="{1B8AAAD5-DD05-C7C1-B886-0AF017DE11A1}"/>
              </a:ext>
            </a:extLst>
          </p:cNvPr>
          <p:cNvGrpSpPr/>
          <p:nvPr/>
        </p:nvGrpSpPr>
        <p:grpSpPr>
          <a:xfrm flipH="1">
            <a:off x="16775145" y="5894070"/>
            <a:ext cx="393928" cy="393928"/>
            <a:chOff x="0" y="0"/>
            <a:chExt cx="812800" cy="812800"/>
          </a:xfrm>
        </p:grpSpPr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ED403B72-F060-F4E9-0AD7-88DCC677A697}"/>
                </a:ext>
              </a:extLst>
            </p:cNvPr>
            <p:cNvSpPr/>
            <p:nvPr/>
          </p:nvSpPr>
          <p:spPr>
            <a:xfrm>
              <a:off x="0" y="57562"/>
              <a:ext cx="772097" cy="697677"/>
            </a:xfrm>
            <a:custGeom>
              <a:avLst/>
              <a:gdLst/>
              <a:ahLst/>
              <a:cxnLst/>
              <a:rect l="l" t="t" r="r" b="b"/>
              <a:pathLst>
                <a:path w="772097" h="697677">
                  <a:moveTo>
                    <a:pt x="743316" y="279354"/>
                  </a:moveTo>
                  <a:lnTo>
                    <a:pt x="475884" y="11922"/>
                  </a:lnTo>
                  <a:cubicBezTo>
                    <a:pt x="464243" y="281"/>
                    <a:pt x="446736" y="-3201"/>
                    <a:pt x="431527" y="3099"/>
                  </a:cubicBezTo>
                  <a:cubicBezTo>
                    <a:pt x="416317" y="9399"/>
                    <a:pt x="406400" y="24241"/>
                    <a:pt x="406400" y="40704"/>
                  </a:cubicBezTo>
                  <a:lnTo>
                    <a:pt x="406400" y="47372"/>
                  </a:lnTo>
                  <a:cubicBezTo>
                    <a:pt x="406400" y="101643"/>
                    <a:pt x="362405" y="145638"/>
                    <a:pt x="308134" y="145638"/>
                  </a:cubicBezTo>
                  <a:lnTo>
                    <a:pt x="98266" y="145638"/>
                  </a:lnTo>
                  <a:cubicBezTo>
                    <a:pt x="43995" y="145638"/>
                    <a:pt x="0" y="189633"/>
                    <a:pt x="0" y="243904"/>
                  </a:cubicBezTo>
                  <a:lnTo>
                    <a:pt x="0" y="453772"/>
                  </a:lnTo>
                  <a:cubicBezTo>
                    <a:pt x="0" y="508043"/>
                    <a:pt x="43995" y="552038"/>
                    <a:pt x="98266" y="552038"/>
                  </a:cubicBezTo>
                  <a:lnTo>
                    <a:pt x="308134" y="552038"/>
                  </a:lnTo>
                  <a:cubicBezTo>
                    <a:pt x="362405" y="552038"/>
                    <a:pt x="406400" y="596033"/>
                    <a:pt x="406400" y="650304"/>
                  </a:cubicBezTo>
                  <a:lnTo>
                    <a:pt x="406400" y="656972"/>
                  </a:lnTo>
                  <a:cubicBezTo>
                    <a:pt x="406400" y="673435"/>
                    <a:pt x="416317" y="688277"/>
                    <a:pt x="431527" y="694577"/>
                  </a:cubicBezTo>
                  <a:cubicBezTo>
                    <a:pt x="446736" y="700877"/>
                    <a:pt x="464243" y="697395"/>
                    <a:pt x="475884" y="685754"/>
                  </a:cubicBezTo>
                  <a:lnTo>
                    <a:pt x="743316" y="418322"/>
                  </a:lnTo>
                  <a:cubicBezTo>
                    <a:pt x="781691" y="379947"/>
                    <a:pt x="781691" y="317729"/>
                    <a:pt x="743316" y="279354"/>
                  </a:cubicBezTo>
                  <a:close/>
                </a:path>
              </a:pathLst>
            </a:custGeom>
            <a:solidFill>
              <a:srgbClr val="4E6C7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15">
              <a:extLst>
                <a:ext uri="{FF2B5EF4-FFF2-40B4-BE49-F238E27FC236}">
                  <a16:creationId xmlns:a16="http://schemas.microsoft.com/office/drawing/2014/main" id="{B7C6C3B5-0BE7-8716-3AFD-9BBBC0450F87}"/>
                </a:ext>
              </a:extLst>
            </p:cNvPr>
            <p:cNvSpPr txBox="1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1" name="AutoShape 24">
            <a:extLst>
              <a:ext uri="{FF2B5EF4-FFF2-40B4-BE49-F238E27FC236}">
                <a16:creationId xmlns:a16="http://schemas.microsoft.com/office/drawing/2014/main" id="{5E95DEB3-A213-5241-1496-0003EE40A4DA}"/>
              </a:ext>
            </a:extLst>
          </p:cNvPr>
          <p:cNvSpPr/>
          <p:nvPr/>
        </p:nvSpPr>
        <p:spPr>
          <a:xfrm>
            <a:off x="15229692" y="4000196"/>
            <a:ext cx="181158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1B068E7-8AC3-2523-4F82-CF95E01D2B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890061"/>
            <a:ext cx="4681728" cy="8388096"/>
          </a:xfrm>
          <a:prstGeom prst="rect">
            <a:avLst/>
          </a:prstGeom>
        </p:spPr>
      </p:pic>
      <p:grpSp>
        <p:nvGrpSpPr>
          <p:cNvPr id="28" name="Group 13">
            <a:extLst>
              <a:ext uri="{FF2B5EF4-FFF2-40B4-BE49-F238E27FC236}">
                <a16:creationId xmlns:a16="http://schemas.microsoft.com/office/drawing/2014/main" id="{1E7C41DC-9AD8-542E-09CC-C1CDD40FFC9D}"/>
              </a:ext>
            </a:extLst>
          </p:cNvPr>
          <p:cNvGrpSpPr/>
          <p:nvPr/>
        </p:nvGrpSpPr>
        <p:grpSpPr>
          <a:xfrm flipH="1">
            <a:off x="16833219" y="7342449"/>
            <a:ext cx="393928" cy="393928"/>
            <a:chOff x="0" y="0"/>
            <a:chExt cx="812800" cy="812800"/>
          </a:xfrm>
        </p:grpSpPr>
        <p:sp>
          <p:nvSpPr>
            <p:cNvPr id="35" name="Freeform 14">
              <a:extLst>
                <a:ext uri="{FF2B5EF4-FFF2-40B4-BE49-F238E27FC236}">
                  <a16:creationId xmlns:a16="http://schemas.microsoft.com/office/drawing/2014/main" id="{F512751C-E48E-6FB4-B503-97E93237D9B4}"/>
                </a:ext>
              </a:extLst>
            </p:cNvPr>
            <p:cNvSpPr/>
            <p:nvPr/>
          </p:nvSpPr>
          <p:spPr>
            <a:xfrm>
              <a:off x="0" y="57562"/>
              <a:ext cx="772097" cy="697677"/>
            </a:xfrm>
            <a:custGeom>
              <a:avLst/>
              <a:gdLst/>
              <a:ahLst/>
              <a:cxnLst/>
              <a:rect l="l" t="t" r="r" b="b"/>
              <a:pathLst>
                <a:path w="772097" h="697677">
                  <a:moveTo>
                    <a:pt x="743316" y="279354"/>
                  </a:moveTo>
                  <a:lnTo>
                    <a:pt x="475884" y="11922"/>
                  </a:lnTo>
                  <a:cubicBezTo>
                    <a:pt x="464243" y="281"/>
                    <a:pt x="446736" y="-3201"/>
                    <a:pt x="431527" y="3099"/>
                  </a:cubicBezTo>
                  <a:cubicBezTo>
                    <a:pt x="416317" y="9399"/>
                    <a:pt x="406400" y="24241"/>
                    <a:pt x="406400" y="40704"/>
                  </a:cubicBezTo>
                  <a:lnTo>
                    <a:pt x="406400" y="47372"/>
                  </a:lnTo>
                  <a:cubicBezTo>
                    <a:pt x="406400" y="101643"/>
                    <a:pt x="362405" y="145638"/>
                    <a:pt x="308134" y="145638"/>
                  </a:cubicBezTo>
                  <a:lnTo>
                    <a:pt x="98266" y="145638"/>
                  </a:lnTo>
                  <a:cubicBezTo>
                    <a:pt x="43995" y="145638"/>
                    <a:pt x="0" y="189633"/>
                    <a:pt x="0" y="243904"/>
                  </a:cubicBezTo>
                  <a:lnTo>
                    <a:pt x="0" y="453772"/>
                  </a:lnTo>
                  <a:cubicBezTo>
                    <a:pt x="0" y="508043"/>
                    <a:pt x="43995" y="552038"/>
                    <a:pt x="98266" y="552038"/>
                  </a:cubicBezTo>
                  <a:lnTo>
                    <a:pt x="308134" y="552038"/>
                  </a:lnTo>
                  <a:cubicBezTo>
                    <a:pt x="362405" y="552038"/>
                    <a:pt x="406400" y="596033"/>
                    <a:pt x="406400" y="650304"/>
                  </a:cubicBezTo>
                  <a:lnTo>
                    <a:pt x="406400" y="656972"/>
                  </a:lnTo>
                  <a:cubicBezTo>
                    <a:pt x="406400" y="673435"/>
                    <a:pt x="416317" y="688277"/>
                    <a:pt x="431527" y="694577"/>
                  </a:cubicBezTo>
                  <a:cubicBezTo>
                    <a:pt x="446736" y="700877"/>
                    <a:pt x="464243" y="697395"/>
                    <a:pt x="475884" y="685754"/>
                  </a:cubicBezTo>
                  <a:lnTo>
                    <a:pt x="743316" y="418322"/>
                  </a:lnTo>
                  <a:cubicBezTo>
                    <a:pt x="781691" y="379947"/>
                    <a:pt x="781691" y="317729"/>
                    <a:pt x="743316" y="279354"/>
                  </a:cubicBezTo>
                  <a:close/>
                </a:path>
              </a:pathLst>
            </a:custGeom>
            <a:solidFill>
              <a:srgbClr val="4E6C7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15">
              <a:extLst>
                <a:ext uri="{FF2B5EF4-FFF2-40B4-BE49-F238E27FC236}">
                  <a16:creationId xmlns:a16="http://schemas.microsoft.com/office/drawing/2014/main" id="{2EF79D9C-506D-F6D9-0715-0EA6E30705BB}"/>
                </a:ext>
              </a:extLst>
            </p:cNvPr>
            <p:cNvSpPr txBox="1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867989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0DD62-B221-5312-77AD-289DAD8D1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7F302019-378D-268B-1D1B-6570BEF971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936260" y="2418979"/>
            <a:ext cx="7950200" cy="7950200"/>
          </a:xfrm>
          <a:prstGeom prst="rect">
            <a:avLst/>
          </a:prstGeom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6ED23F0D-09CD-AE77-5674-0D89C0D36F41}"/>
              </a:ext>
            </a:extLst>
          </p:cNvPr>
          <p:cNvGrpSpPr/>
          <p:nvPr/>
        </p:nvGrpSpPr>
        <p:grpSpPr>
          <a:xfrm>
            <a:off x="9249276" y="8906205"/>
            <a:ext cx="5581577" cy="5581577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2633DD6-9FBD-76F7-E77E-F2859C417BE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77FD6">
                    <a:alpha val="8000"/>
                  </a:srgbClr>
                </a:gs>
                <a:gs pos="100000">
                  <a:srgbClr val="CBE2FF">
                    <a:alpha val="8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E6F9343-3941-B668-AF8B-3A2D5380A7C0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7E118B76-EC31-216F-F616-3C9DFCEDC3DC}"/>
              </a:ext>
            </a:extLst>
          </p:cNvPr>
          <p:cNvGrpSpPr/>
          <p:nvPr/>
        </p:nvGrpSpPr>
        <p:grpSpPr>
          <a:xfrm flipH="1">
            <a:off x="12118859" y="4739416"/>
            <a:ext cx="393928" cy="393928"/>
            <a:chOff x="0" y="0"/>
            <a:chExt cx="812800" cy="8128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B1CFD4E4-4718-04C8-FBE4-B9B71F8636B1}"/>
                </a:ext>
              </a:extLst>
            </p:cNvPr>
            <p:cNvSpPr/>
            <p:nvPr/>
          </p:nvSpPr>
          <p:spPr>
            <a:xfrm>
              <a:off x="0" y="57562"/>
              <a:ext cx="772097" cy="697677"/>
            </a:xfrm>
            <a:custGeom>
              <a:avLst/>
              <a:gdLst/>
              <a:ahLst/>
              <a:cxnLst/>
              <a:rect l="l" t="t" r="r" b="b"/>
              <a:pathLst>
                <a:path w="772097" h="697677">
                  <a:moveTo>
                    <a:pt x="743316" y="279354"/>
                  </a:moveTo>
                  <a:lnTo>
                    <a:pt x="475884" y="11922"/>
                  </a:lnTo>
                  <a:cubicBezTo>
                    <a:pt x="464243" y="281"/>
                    <a:pt x="446736" y="-3201"/>
                    <a:pt x="431527" y="3099"/>
                  </a:cubicBezTo>
                  <a:cubicBezTo>
                    <a:pt x="416317" y="9399"/>
                    <a:pt x="406400" y="24241"/>
                    <a:pt x="406400" y="40704"/>
                  </a:cubicBezTo>
                  <a:lnTo>
                    <a:pt x="406400" y="47372"/>
                  </a:lnTo>
                  <a:cubicBezTo>
                    <a:pt x="406400" y="101643"/>
                    <a:pt x="362405" y="145638"/>
                    <a:pt x="308134" y="145638"/>
                  </a:cubicBezTo>
                  <a:lnTo>
                    <a:pt x="98266" y="145638"/>
                  </a:lnTo>
                  <a:cubicBezTo>
                    <a:pt x="43995" y="145638"/>
                    <a:pt x="0" y="189633"/>
                    <a:pt x="0" y="243904"/>
                  </a:cubicBezTo>
                  <a:lnTo>
                    <a:pt x="0" y="453772"/>
                  </a:lnTo>
                  <a:cubicBezTo>
                    <a:pt x="0" y="508043"/>
                    <a:pt x="43995" y="552038"/>
                    <a:pt x="98266" y="552038"/>
                  </a:cubicBezTo>
                  <a:lnTo>
                    <a:pt x="308134" y="552038"/>
                  </a:lnTo>
                  <a:cubicBezTo>
                    <a:pt x="362405" y="552038"/>
                    <a:pt x="406400" y="596033"/>
                    <a:pt x="406400" y="650304"/>
                  </a:cubicBezTo>
                  <a:lnTo>
                    <a:pt x="406400" y="656972"/>
                  </a:lnTo>
                  <a:cubicBezTo>
                    <a:pt x="406400" y="673435"/>
                    <a:pt x="416317" y="688277"/>
                    <a:pt x="431527" y="694577"/>
                  </a:cubicBezTo>
                  <a:cubicBezTo>
                    <a:pt x="446736" y="700877"/>
                    <a:pt x="464243" y="697395"/>
                    <a:pt x="475884" y="685754"/>
                  </a:cubicBezTo>
                  <a:lnTo>
                    <a:pt x="743316" y="418322"/>
                  </a:lnTo>
                  <a:cubicBezTo>
                    <a:pt x="781691" y="379947"/>
                    <a:pt x="781691" y="317729"/>
                    <a:pt x="743316" y="279354"/>
                  </a:cubicBezTo>
                  <a:close/>
                </a:path>
              </a:pathLst>
            </a:custGeom>
            <a:solidFill>
              <a:srgbClr val="4E6C7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BF6CF3-4A24-010F-0825-06AE6ADFA217}"/>
                </a:ext>
              </a:extLst>
            </p:cNvPr>
            <p:cNvSpPr txBox="1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6056660F-1871-235B-6FD4-CFD9569A8522}"/>
              </a:ext>
            </a:extLst>
          </p:cNvPr>
          <p:cNvSpPr txBox="1"/>
          <p:nvPr/>
        </p:nvSpPr>
        <p:spPr>
          <a:xfrm>
            <a:off x="1532623" y="794401"/>
            <a:ext cx="1516778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83"/>
              </a:lnSpc>
            </a:pPr>
            <a:r>
              <a:rPr lang="ar-EG" sz="5400" b="1" dirty="0">
                <a:solidFill>
                  <a:srgbClr val="4383D1"/>
                </a:solidFill>
                <a:latin typeface="Poppins Bold"/>
                <a:ea typeface="Poppins Bold"/>
                <a:cs typeface="+mj-cs"/>
                <a:sym typeface="Poppins Bold"/>
              </a:rPr>
              <a:t>فهم خشونة الركبة في العصر الحديث: الأسباب والأعراض والعلاج </a:t>
            </a:r>
            <a:endParaRPr lang="en-US" sz="5400" b="1" dirty="0">
              <a:solidFill>
                <a:srgbClr val="4383D1"/>
              </a:solidFill>
              <a:latin typeface="Poppins Bold"/>
              <a:ea typeface="Poppins Bold"/>
              <a:cs typeface="+mj-cs"/>
              <a:sym typeface="Poppins Bold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91D78F7-97FD-D0F9-B4EC-55E29BCC7D78}"/>
              </a:ext>
            </a:extLst>
          </p:cNvPr>
          <p:cNvSpPr txBox="1"/>
          <p:nvPr/>
        </p:nvSpPr>
        <p:spPr>
          <a:xfrm>
            <a:off x="4080045" y="3331977"/>
            <a:ext cx="6868267" cy="467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32"/>
              </a:lnSpc>
            </a:pPr>
            <a:r>
              <a:rPr lang="ar-EG" sz="4800" b="1" dirty="0">
                <a:solidFill>
                  <a:schemeClr val="accent1"/>
                </a:solidFill>
                <a:latin typeface="Canva Sans"/>
                <a:ea typeface="Canva Sans"/>
                <a:cs typeface="Canva Sans"/>
                <a:sym typeface="Canva Sans"/>
              </a:rPr>
              <a:t>الأسباب </a:t>
            </a:r>
            <a:endParaRPr lang="en-US" sz="4400" b="1" dirty="0">
              <a:solidFill>
                <a:schemeClr val="accent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F44DD57-D6C3-7706-D8A6-859E1B25E7E1}"/>
              </a:ext>
            </a:extLst>
          </p:cNvPr>
          <p:cNvGrpSpPr/>
          <p:nvPr/>
        </p:nvGrpSpPr>
        <p:grpSpPr>
          <a:xfrm>
            <a:off x="16803283" y="-1088609"/>
            <a:ext cx="1928382" cy="1928382"/>
            <a:chOff x="0" y="0"/>
            <a:chExt cx="812800" cy="812800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2020D810-2379-C74F-2D39-5241739A0CC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77FD6">
                    <a:alpha val="31000"/>
                  </a:srgbClr>
                </a:gs>
                <a:gs pos="100000">
                  <a:srgbClr val="CBE2FF">
                    <a:alpha val="31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AAE08E32-DFE3-0F02-396E-621716A3D439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B8E25C18-ED81-44EA-74DD-8D265F74C521}"/>
              </a:ext>
            </a:extLst>
          </p:cNvPr>
          <p:cNvGrpSpPr/>
          <p:nvPr/>
        </p:nvGrpSpPr>
        <p:grpSpPr>
          <a:xfrm>
            <a:off x="10822930" y="8741224"/>
            <a:ext cx="5581577" cy="5581577"/>
            <a:chOff x="0" y="0"/>
            <a:chExt cx="812800" cy="812800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C13DD715-C3CC-2C22-5D63-B099F07A478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77FD6">
                    <a:alpha val="8000"/>
                  </a:srgbClr>
                </a:gs>
                <a:gs pos="100000">
                  <a:srgbClr val="CBE2FF">
                    <a:alpha val="8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7780A760-E2AD-C3A9-8F1D-BC0CFBF50298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" name="AutoShape 24">
            <a:extLst>
              <a:ext uri="{FF2B5EF4-FFF2-40B4-BE49-F238E27FC236}">
                <a16:creationId xmlns:a16="http://schemas.microsoft.com/office/drawing/2014/main" id="{91C6CB5C-13F2-CBEB-ADF7-9605ABD08882}"/>
              </a:ext>
            </a:extLst>
          </p:cNvPr>
          <p:cNvSpPr/>
          <p:nvPr/>
        </p:nvSpPr>
        <p:spPr>
          <a:xfrm>
            <a:off x="9229576" y="3719607"/>
            <a:ext cx="181158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DD0D3C5-F77B-5C5D-7BA3-B3F65EA34A50}"/>
              </a:ext>
            </a:extLst>
          </p:cNvPr>
          <p:cNvGrpSpPr/>
          <p:nvPr/>
        </p:nvGrpSpPr>
        <p:grpSpPr>
          <a:xfrm>
            <a:off x="3200400" y="4596083"/>
            <a:ext cx="9376277" cy="2708434"/>
            <a:chOff x="8021447" y="4551246"/>
            <a:chExt cx="9376277" cy="2708434"/>
          </a:xfrm>
        </p:grpSpPr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F0366DB2-7B76-F64C-CCC1-4654C9FF2FF5}"/>
                </a:ext>
              </a:extLst>
            </p:cNvPr>
            <p:cNvSpPr txBox="1"/>
            <p:nvPr/>
          </p:nvSpPr>
          <p:spPr>
            <a:xfrm>
              <a:off x="8021447" y="4551246"/>
              <a:ext cx="8678956" cy="270843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 rtl="1"/>
              <a:r>
                <a:rPr lang="ar-EG" sz="440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الخمول ونمط الحياة قليل الحركة</a:t>
              </a:r>
            </a:p>
            <a:p>
              <a:pPr algn="r" rtl="1"/>
              <a:r>
                <a:rPr lang="ar-EG" sz="440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السمنة وزيادة الوزن</a:t>
              </a:r>
            </a:p>
            <a:p>
              <a:pPr algn="r" rtl="1"/>
              <a:r>
                <a:rPr lang="ar-EG" sz="440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التقدم في العمر</a:t>
              </a:r>
            </a:p>
            <a:p>
              <a:pPr algn="r" rtl="1"/>
              <a:r>
                <a:rPr lang="ar-EG" sz="440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الإصابات الرياضية</a:t>
              </a:r>
              <a:endParaRPr lang="en-US" sz="4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grpSp>
          <p:nvGrpSpPr>
            <p:cNvPr id="32" name="Group 13">
              <a:extLst>
                <a:ext uri="{FF2B5EF4-FFF2-40B4-BE49-F238E27FC236}">
                  <a16:creationId xmlns:a16="http://schemas.microsoft.com/office/drawing/2014/main" id="{4DDB9F94-5C1D-77E3-3A19-89F5CB73FC51}"/>
                </a:ext>
              </a:extLst>
            </p:cNvPr>
            <p:cNvGrpSpPr/>
            <p:nvPr/>
          </p:nvGrpSpPr>
          <p:grpSpPr>
            <a:xfrm flipH="1">
              <a:off x="16930043" y="5299321"/>
              <a:ext cx="393928" cy="393928"/>
              <a:chOff x="0" y="0"/>
              <a:chExt cx="812800" cy="812800"/>
            </a:xfrm>
          </p:grpSpPr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032C8714-6A1A-7A3D-74E0-55411BF351A5}"/>
                  </a:ext>
                </a:extLst>
              </p:cNvPr>
              <p:cNvSpPr/>
              <p:nvPr/>
            </p:nvSpPr>
            <p:spPr>
              <a:xfrm>
                <a:off x="0" y="57562"/>
                <a:ext cx="772097" cy="697677"/>
              </a:xfrm>
              <a:custGeom>
                <a:avLst/>
                <a:gdLst/>
                <a:ahLst/>
                <a:cxnLst/>
                <a:rect l="l" t="t" r="r" b="b"/>
                <a:pathLst>
                  <a:path w="772097" h="697677">
                    <a:moveTo>
                      <a:pt x="743316" y="279354"/>
                    </a:moveTo>
                    <a:lnTo>
                      <a:pt x="475884" y="11922"/>
                    </a:lnTo>
                    <a:cubicBezTo>
                      <a:pt x="464243" y="281"/>
                      <a:pt x="446736" y="-3201"/>
                      <a:pt x="431527" y="3099"/>
                    </a:cubicBezTo>
                    <a:cubicBezTo>
                      <a:pt x="416317" y="9399"/>
                      <a:pt x="406400" y="24241"/>
                      <a:pt x="406400" y="40704"/>
                    </a:cubicBezTo>
                    <a:lnTo>
                      <a:pt x="406400" y="47372"/>
                    </a:lnTo>
                    <a:cubicBezTo>
                      <a:pt x="406400" y="101643"/>
                      <a:pt x="362405" y="145638"/>
                      <a:pt x="308134" y="145638"/>
                    </a:cubicBezTo>
                    <a:lnTo>
                      <a:pt x="98266" y="145638"/>
                    </a:lnTo>
                    <a:cubicBezTo>
                      <a:pt x="43995" y="145638"/>
                      <a:pt x="0" y="189633"/>
                      <a:pt x="0" y="243904"/>
                    </a:cubicBezTo>
                    <a:lnTo>
                      <a:pt x="0" y="453772"/>
                    </a:lnTo>
                    <a:cubicBezTo>
                      <a:pt x="0" y="508043"/>
                      <a:pt x="43995" y="552038"/>
                      <a:pt x="98266" y="552038"/>
                    </a:cubicBezTo>
                    <a:lnTo>
                      <a:pt x="308134" y="552038"/>
                    </a:lnTo>
                    <a:cubicBezTo>
                      <a:pt x="362405" y="552038"/>
                      <a:pt x="406400" y="596033"/>
                      <a:pt x="406400" y="650304"/>
                    </a:cubicBezTo>
                    <a:lnTo>
                      <a:pt x="406400" y="656972"/>
                    </a:lnTo>
                    <a:cubicBezTo>
                      <a:pt x="406400" y="673435"/>
                      <a:pt x="416317" y="688277"/>
                      <a:pt x="431527" y="694577"/>
                    </a:cubicBezTo>
                    <a:cubicBezTo>
                      <a:pt x="446736" y="700877"/>
                      <a:pt x="464243" y="697395"/>
                      <a:pt x="475884" y="685754"/>
                    </a:cubicBezTo>
                    <a:lnTo>
                      <a:pt x="743316" y="418322"/>
                    </a:lnTo>
                    <a:cubicBezTo>
                      <a:pt x="781691" y="379947"/>
                      <a:pt x="781691" y="317729"/>
                      <a:pt x="743316" y="279354"/>
                    </a:cubicBezTo>
                    <a:close/>
                  </a:path>
                </a:pathLst>
              </a:custGeom>
              <a:solidFill>
                <a:srgbClr val="4E6C7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TextBox 15">
                <a:extLst>
                  <a:ext uri="{FF2B5EF4-FFF2-40B4-BE49-F238E27FC236}">
                    <a16:creationId xmlns:a16="http://schemas.microsoft.com/office/drawing/2014/main" id="{01FC7083-D248-C38E-9CB7-D9A8D9987D28}"/>
                  </a:ext>
                </a:extLst>
              </p:cNvPr>
              <p:cNvSpPr txBox="1"/>
              <p:nvPr/>
            </p:nvSpPr>
            <p:spPr>
              <a:xfrm>
                <a:off x="0" y="174625"/>
                <a:ext cx="711200" cy="434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grpSp>
          <p:nvGrpSpPr>
            <p:cNvPr id="6" name="Group 13">
              <a:extLst>
                <a:ext uri="{FF2B5EF4-FFF2-40B4-BE49-F238E27FC236}">
                  <a16:creationId xmlns:a16="http://schemas.microsoft.com/office/drawing/2014/main" id="{09A16D06-D342-B5B7-002D-1908E7E0AE30}"/>
                </a:ext>
              </a:extLst>
            </p:cNvPr>
            <p:cNvGrpSpPr/>
            <p:nvPr/>
          </p:nvGrpSpPr>
          <p:grpSpPr>
            <a:xfrm flipH="1">
              <a:off x="16993932" y="6053796"/>
              <a:ext cx="393928" cy="393928"/>
              <a:chOff x="0" y="0"/>
              <a:chExt cx="812800" cy="812800"/>
            </a:xfrm>
          </p:grpSpPr>
          <p:sp>
            <p:nvSpPr>
              <p:cNvPr id="17" name="Freeform 14">
                <a:extLst>
                  <a:ext uri="{FF2B5EF4-FFF2-40B4-BE49-F238E27FC236}">
                    <a16:creationId xmlns:a16="http://schemas.microsoft.com/office/drawing/2014/main" id="{F65E9060-0C32-E9AB-3006-63D99B8D74E9}"/>
                  </a:ext>
                </a:extLst>
              </p:cNvPr>
              <p:cNvSpPr/>
              <p:nvPr/>
            </p:nvSpPr>
            <p:spPr>
              <a:xfrm>
                <a:off x="0" y="57562"/>
                <a:ext cx="772097" cy="697677"/>
              </a:xfrm>
              <a:custGeom>
                <a:avLst/>
                <a:gdLst/>
                <a:ahLst/>
                <a:cxnLst/>
                <a:rect l="l" t="t" r="r" b="b"/>
                <a:pathLst>
                  <a:path w="772097" h="697677">
                    <a:moveTo>
                      <a:pt x="743316" y="279354"/>
                    </a:moveTo>
                    <a:lnTo>
                      <a:pt x="475884" y="11922"/>
                    </a:lnTo>
                    <a:cubicBezTo>
                      <a:pt x="464243" y="281"/>
                      <a:pt x="446736" y="-3201"/>
                      <a:pt x="431527" y="3099"/>
                    </a:cubicBezTo>
                    <a:cubicBezTo>
                      <a:pt x="416317" y="9399"/>
                      <a:pt x="406400" y="24241"/>
                      <a:pt x="406400" y="40704"/>
                    </a:cubicBezTo>
                    <a:lnTo>
                      <a:pt x="406400" y="47372"/>
                    </a:lnTo>
                    <a:cubicBezTo>
                      <a:pt x="406400" y="101643"/>
                      <a:pt x="362405" y="145638"/>
                      <a:pt x="308134" y="145638"/>
                    </a:cubicBezTo>
                    <a:lnTo>
                      <a:pt x="98266" y="145638"/>
                    </a:lnTo>
                    <a:cubicBezTo>
                      <a:pt x="43995" y="145638"/>
                      <a:pt x="0" y="189633"/>
                      <a:pt x="0" y="243904"/>
                    </a:cubicBezTo>
                    <a:lnTo>
                      <a:pt x="0" y="453772"/>
                    </a:lnTo>
                    <a:cubicBezTo>
                      <a:pt x="0" y="508043"/>
                      <a:pt x="43995" y="552038"/>
                      <a:pt x="98266" y="552038"/>
                    </a:cubicBezTo>
                    <a:lnTo>
                      <a:pt x="308134" y="552038"/>
                    </a:lnTo>
                    <a:cubicBezTo>
                      <a:pt x="362405" y="552038"/>
                      <a:pt x="406400" y="596033"/>
                      <a:pt x="406400" y="650304"/>
                    </a:cubicBezTo>
                    <a:lnTo>
                      <a:pt x="406400" y="656972"/>
                    </a:lnTo>
                    <a:cubicBezTo>
                      <a:pt x="406400" y="673435"/>
                      <a:pt x="416317" y="688277"/>
                      <a:pt x="431527" y="694577"/>
                    </a:cubicBezTo>
                    <a:cubicBezTo>
                      <a:pt x="446736" y="700877"/>
                      <a:pt x="464243" y="697395"/>
                      <a:pt x="475884" y="685754"/>
                    </a:cubicBezTo>
                    <a:lnTo>
                      <a:pt x="743316" y="418322"/>
                    </a:lnTo>
                    <a:cubicBezTo>
                      <a:pt x="781691" y="379947"/>
                      <a:pt x="781691" y="317729"/>
                      <a:pt x="743316" y="279354"/>
                    </a:cubicBezTo>
                    <a:close/>
                  </a:path>
                </a:pathLst>
              </a:custGeom>
              <a:solidFill>
                <a:srgbClr val="4E6C7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15">
                <a:extLst>
                  <a:ext uri="{FF2B5EF4-FFF2-40B4-BE49-F238E27FC236}">
                    <a16:creationId xmlns:a16="http://schemas.microsoft.com/office/drawing/2014/main" id="{B090214F-A8F8-C9B3-175E-152B5FC811AC}"/>
                  </a:ext>
                </a:extLst>
              </p:cNvPr>
              <p:cNvSpPr txBox="1"/>
              <p:nvPr/>
            </p:nvSpPr>
            <p:spPr>
              <a:xfrm>
                <a:off x="0" y="174625"/>
                <a:ext cx="711200" cy="434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 dirty="0"/>
              </a:p>
            </p:txBody>
          </p:sp>
        </p:grpSp>
        <p:grpSp>
          <p:nvGrpSpPr>
            <p:cNvPr id="21" name="Group 13">
              <a:extLst>
                <a:ext uri="{FF2B5EF4-FFF2-40B4-BE49-F238E27FC236}">
                  <a16:creationId xmlns:a16="http://schemas.microsoft.com/office/drawing/2014/main" id="{6AC707E6-ED7A-897A-89DA-72EEFF52FE43}"/>
                </a:ext>
              </a:extLst>
            </p:cNvPr>
            <p:cNvGrpSpPr/>
            <p:nvPr/>
          </p:nvGrpSpPr>
          <p:grpSpPr>
            <a:xfrm flipH="1">
              <a:off x="17003796" y="6753150"/>
              <a:ext cx="393928" cy="393928"/>
              <a:chOff x="0" y="0"/>
              <a:chExt cx="812800" cy="812800"/>
            </a:xfrm>
          </p:grpSpPr>
          <p:sp>
            <p:nvSpPr>
              <p:cNvPr id="22" name="Freeform 14">
                <a:extLst>
                  <a:ext uri="{FF2B5EF4-FFF2-40B4-BE49-F238E27FC236}">
                    <a16:creationId xmlns:a16="http://schemas.microsoft.com/office/drawing/2014/main" id="{24EFF137-694A-842C-A917-E87004136F10}"/>
                  </a:ext>
                </a:extLst>
              </p:cNvPr>
              <p:cNvSpPr/>
              <p:nvPr/>
            </p:nvSpPr>
            <p:spPr>
              <a:xfrm>
                <a:off x="0" y="57562"/>
                <a:ext cx="772097" cy="697677"/>
              </a:xfrm>
              <a:custGeom>
                <a:avLst/>
                <a:gdLst/>
                <a:ahLst/>
                <a:cxnLst/>
                <a:rect l="l" t="t" r="r" b="b"/>
                <a:pathLst>
                  <a:path w="772097" h="697677">
                    <a:moveTo>
                      <a:pt x="743316" y="279354"/>
                    </a:moveTo>
                    <a:lnTo>
                      <a:pt x="475884" y="11922"/>
                    </a:lnTo>
                    <a:cubicBezTo>
                      <a:pt x="464243" y="281"/>
                      <a:pt x="446736" y="-3201"/>
                      <a:pt x="431527" y="3099"/>
                    </a:cubicBezTo>
                    <a:cubicBezTo>
                      <a:pt x="416317" y="9399"/>
                      <a:pt x="406400" y="24241"/>
                      <a:pt x="406400" y="40704"/>
                    </a:cubicBezTo>
                    <a:lnTo>
                      <a:pt x="406400" y="47372"/>
                    </a:lnTo>
                    <a:cubicBezTo>
                      <a:pt x="406400" y="101643"/>
                      <a:pt x="362405" y="145638"/>
                      <a:pt x="308134" y="145638"/>
                    </a:cubicBezTo>
                    <a:lnTo>
                      <a:pt x="98266" y="145638"/>
                    </a:lnTo>
                    <a:cubicBezTo>
                      <a:pt x="43995" y="145638"/>
                      <a:pt x="0" y="189633"/>
                      <a:pt x="0" y="243904"/>
                    </a:cubicBezTo>
                    <a:lnTo>
                      <a:pt x="0" y="453772"/>
                    </a:lnTo>
                    <a:cubicBezTo>
                      <a:pt x="0" y="508043"/>
                      <a:pt x="43995" y="552038"/>
                      <a:pt x="98266" y="552038"/>
                    </a:cubicBezTo>
                    <a:lnTo>
                      <a:pt x="308134" y="552038"/>
                    </a:lnTo>
                    <a:cubicBezTo>
                      <a:pt x="362405" y="552038"/>
                      <a:pt x="406400" y="596033"/>
                      <a:pt x="406400" y="650304"/>
                    </a:cubicBezTo>
                    <a:lnTo>
                      <a:pt x="406400" y="656972"/>
                    </a:lnTo>
                    <a:cubicBezTo>
                      <a:pt x="406400" y="673435"/>
                      <a:pt x="416317" y="688277"/>
                      <a:pt x="431527" y="694577"/>
                    </a:cubicBezTo>
                    <a:cubicBezTo>
                      <a:pt x="446736" y="700877"/>
                      <a:pt x="464243" y="697395"/>
                      <a:pt x="475884" y="685754"/>
                    </a:cubicBezTo>
                    <a:lnTo>
                      <a:pt x="743316" y="418322"/>
                    </a:lnTo>
                    <a:cubicBezTo>
                      <a:pt x="781691" y="379947"/>
                      <a:pt x="781691" y="317729"/>
                      <a:pt x="743316" y="279354"/>
                    </a:cubicBezTo>
                    <a:close/>
                  </a:path>
                </a:pathLst>
              </a:custGeom>
              <a:solidFill>
                <a:srgbClr val="4E6C7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15">
                <a:extLst>
                  <a:ext uri="{FF2B5EF4-FFF2-40B4-BE49-F238E27FC236}">
                    <a16:creationId xmlns:a16="http://schemas.microsoft.com/office/drawing/2014/main" id="{D2A507F7-0EF2-FE98-36AF-8227756B6916}"/>
                  </a:ext>
                </a:extLst>
              </p:cNvPr>
              <p:cNvSpPr txBox="1"/>
              <p:nvPr/>
            </p:nvSpPr>
            <p:spPr>
              <a:xfrm>
                <a:off x="0" y="174625"/>
                <a:ext cx="711200" cy="434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146143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59DC4B-A3D5-8F02-AF17-CA1FBB161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8">
            <a:extLst>
              <a:ext uri="{FF2B5EF4-FFF2-40B4-BE49-F238E27FC236}">
                <a16:creationId xmlns:a16="http://schemas.microsoft.com/office/drawing/2014/main" id="{0030D6CE-55CE-7E2C-14FC-DF8CFF46A98A}"/>
              </a:ext>
            </a:extLst>
          </p:cNvPr>
          <p:cNvSpPr txBox="1"/>
          <p:nvPr/>
        </p:nvSpPr>
        <p:spPr>
          <a:xfrm>
            <a:off x="3990537" y="5143500"/>
            <a:ext cx="6868267" cy="439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32"/>
              </a:lnSpc>
            </a:pPr>
            <a:r>
              <a:rPr lang="ar-EG" sz="4000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خيارات العلاج الحديثة </a:t>
            </a:r>
            <a:endParaRPr lang="en-US" sz="3600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652ED3-C037-2894-CAC0-C6A16836A1D5}"/>
              </a:ext>
            </a:extLst>
          </p:cNvPr>
          <p:cNvSpPr txBox="1"/>
          <p:nvPr/>
        </p:nvSpPr>
        <p:spPr>
          <a:xfrm>
            <a:off x="11430000" y="1485900"/>
            <a:ext cx="4495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4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الجراحة في الحالات المتقدمة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655E90-03E9-E208-9D18-907BD27458F2}"/>
              </a:ext>
            </a:extLst>
          </p:cNvPr>
          <p:cNvSpPr txBox="1"/>
          <p:nvPr/>
        </p:nvSpPr>
        <p:spPr>
          <a:xfrm>
            <a:off x="2133600" y="1408956"/>
            <a:ext cx="4495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4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الأدوية والحقن</a:t>
            </a:r>
          </a:p>
          <a:p>
            <a:pPr algn="ctr" rtl="1"/>
            <a:r>
              <a:rPr lang="ar-EG" sz="4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ونقص الوزن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15202C-8C65-1BC6-CF4F-9DCDD8C5541E}"/>
              </a:ext>
            </a:extLst>
          </p:cNvPr>
          <p:cNvSpPr txBox="1"/>
          <p:nvPr/>
        </p:nvSpPr>
        <p:spPr>
          <a:xfrm>
            <a:off x="11582400" y="7962900"/>
            <a:ext cx="4495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4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العلاج الطبيعي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503F36-3268-6910-43D4-C7581CF0001D}"/>
              </a:ext>
            </a:extLst>
          </p:cNvPr>
          <p:cNvSpPr txBox="1"/>
          <p:nvPr/>
        </p:nvSpPr>
        <p:spPr>
          <a:xfrm>
            <a:off x="2209801" y="7593568"/>
            <a:ext cx="4495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4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تعديل نمط الحياة وممارسة الرياضة</a:t>
            </a:r>
            <a:endParaRPr lang="en-US" sz="48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  <p:extLst>
      <p:ext uri="{BB962C8B-B14F-4D97-AF65-F5344CB8AC3E}">
        <p14:creationId xmlns:p14="http://schemas.microsoft.com/office/powerpoint/2010/main" val="15885144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FDF83-09BE-ADDF-FECD-0F0AE7B8D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161F3E2-4848-8722-04CE-27EC9294725A}"/>
              </a:ext>
            </a:extLst>
          </p:cNvPr>
          <p:cNvSpPr/>
          <p:nvPr/>
        </p:nvSpPr>
        <p:spPr>
          <a:xfrm>
            <a:off x="15816806" y="9948441"/>
            <a:ext cx="2471195" cy="338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A0097D6-4C63-4956-FB62-C3A2D5BF29CF}"/>
              </a:ext>
            </a:extLst>
          </p:cNvPr>
          <p:cNvSpPr/>
          <p:nvPr/>
        </p:nvSpPr>
        <p:spPr>
          <a:xfrm>
            <a:off x="3410712" y="8643366"/>
            <a:ext cx="742950" cy="326898"/>
          </a:xfrm>
          <a:prstGeom prst="ellipse">
            <a:avLst/>
          </a:prstGeom>
          <a:solidFill>
            <a:srgbClr val="EFF9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34D7375-C4B2-20E5-7F60-12A95A5FE130}"/>
              </a:ext>
            </a:extLst>
          </p:cNvPr>
          <p:cNvSpPr/>
          <p:nvPr/>
        </p:nvSpPr>
        <p:spPr>
          <a:xfrm>
            <a:off x="3033522" y="8707376"/>
            <a:ext cx="459486" cy="326898"/>
          </a:xfrm>
          <a:prstGeom prst="ellipse">
            <a:avLst/>
          </a:prstGeom>
          <a:solidFill>
            <a:srgbClr val="EFF9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151886C-A6FA-27AE-5960-D60D7E383AC9}"/>
              </a:ext>
            </a:extLst>
          </p:cNvPr>
          <p:cNvSpPr/>
          <p:nvPr/>
        </p:nvSpPr>
        <p:spPr>
          <a:xfrm>
            <a:off x="7181445" y="9820073"/>
            <a:ext cx="3925110" cy="338559"/>
          </a:xfrm>
          <a:prstGeom prst="roundRect">
            <a:avLst/>
          </a:prstGeom>
          <a:solidFill>
            <a:srgbClr val="C1E8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183D33-E516-E874-740E-7E9CF1BC8A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079"/>
            <a:ext cx="18288000" cy="1027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725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5A32852-2347-75E2-EE39-5D2963E9D7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05524"/>
              </p:ext>
            </p:extLst>
          </p:nvPr>
        </p:nvGraphicFramePr>
        <p:xfrm>
          <a:off x="1447799" y="2132498"/>
          <a:ext cx="15392400" cy="798551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781801">
                  <a:extLst>
                    <a:ext uri="{9D8B030D-6E8A-4147-A177-3AD203B41FA5}">
                      <a16:colId xmlns:a16="http://schemas.microsoft.com/office/drawing/2014/main" val="2294546935"/>
                    </a:ext>
                  </a:extLst>
                </a:gridCol>
                <a:gridCol w="8610599">
                  <a:extLst>
                    <a:ext uri="{9D8B030D-6E8A-4147-A177-3AD203B41FA5}">
                      <a16:colId xmlns:a16="http://schemas.microsoft.com/office/drawing/2014/main" val="3531103438"/>
                    </a:ext>
                  </a:extLst>
                </a:gridCol>
              </a:tblGrid>
              <a:tr h="187335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3200" b="1" dirty="0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+mj-cs"/>
                          <a:sym typeface="Poppins Bold"/>
                        </a:rPr>
                        <a:t>١- (جلوس طويلاً) قبض ثابت لعضلات الفخذ الأمامية والخلفية.</a:t>
                      </a:r>
                      <a:endParaRPr lang="en-US" sz="3200" dirty="0"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861332"/>
                  </a:ext>
                </a:extLst>
              </a:tr>
              <a:tr h="174724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3200" b="1" dirty="0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+mj-cs"/>
                          <a:sym typeface="Poppins Bold"/>
                        </a:rPr>
                        <a:t>٢- (جلوس طولاً) وضع وسادة تحت الركبتين وضغط الركبتين لأسفل مع رفع الكعبين.</a:t>
                      </a:r>
                      <a:endParaRPr lang="en-US" sz="3200" dirty="0"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798911"/>
                  </a:ext>
                </a:extLst>
              </a:tr>
              <a:tr h="1981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3200" b="1" kern="1200" dirty="0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+mj-cs"/>
                          <a:sym typeface="Poppins Bold"/>
                        </a:rPr>
                        <a:t>٣- (جلوس طولاً سند الذراعين على الأرض) رفع الرجل مائلاً عالياً ٤٥° والثبات.</a:t>
                      </a:r>
                      <a:endParaRPr lang="en-US" sz="3200" dirty="0"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234064"/>
                  </a:ext>
                </a:extLst>
              </a:tr>
              <a:tr h="238371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3200" b="1" kern="1200" dirty="0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+mj-cs"/>
                          <a:sym typeface="Poppins Bold"/>
                        </a:rPr>
                        <a:t>٤- (جلوس على مقعد) تحريك القدم للأمام والثبات ثم الرجوع ويؤدى التمرين في عدم وجود الألم.</a:t>
                      </a:r>
                      <a:endParaRPr lang="en-US" sz="3200" dirty="0"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51700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45D5B29-C182-9C09-22D6-87B910AD14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2132498"/>
            <a:ext cx="5867400" cy="1816025"/>
          </a:xfrm>
          <a:prstGeom prst="rect">
            <a:avLst/>
          </a:prstGeom>
        </p:spPr>
      </p:pic>
      <p:sp>
        <p:nvSpPr>
          <p:cNvPr id="6" name="TextBox 16">
            <a:extLst>
              <a:ext uri="{FF2B5EF4-FFF2-40B4-BE49-F238E27FC236}">
                <a16:creationId xmlns:a16="http://schemas.microsoft.com/office/drawing/2014/main" id="{5290B6D0-5F6D-3EE9-2D86-D6CA600F8621}"/>
              </a:ext>
            </a:extLst>
          </p:cNvPr>
          <p:cNvSpPr txBox="1"/>
          <p:nvPr/>
        </p:nvSpPr>
        <p:spPr>
          <a:xfrm>
            <a:off x="3446912" y="593868"/>
            <a:ext cx="11394173" cy="984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7371"/>
              </a:lnSpc>
            </a:pPr>
            <a:r>
              <a:rPr lang="ar-EG" sz="7599" b="1" dirty="0">
                <a:solidFill>
                  <a:srgbClr val="4383D1"/>
                </a:solidFill>
                <a:latin typeface="Poppins Bold"/>
                <a:ea typeface="Poppins Bold"/>
                <a:cs typeface="+mj-cs"/>
                <a:sym typeface="Poppins Bold"/>
              </a:rPr>
              <a:t>تمارين المرحلة الأولي</a:t>
            </a:r>
            <a:endParaRPr lang="en-US" sz="7599" b="1" dirty="0">
              <a:solidFill>
                <a:srgbClr val="4383D1"/>
              </a:solidFill>
              <a:latin typeface="Poppins Bold"/>
              <a:ea typeface="Poppins Bold"/>
              <a:cs typeface="+mj-cs"/>
              <a:sym typeface="Poppins Bold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A36E38D-D08E-C5EA-F5BD-9D2523AE7D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4026369"/>
            <a:ext cx="5867400" cy="18160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3608025-B5F5-2898-F38C-52C4E1A8E66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5882141"/>
            <a:ext cx="5874657" cy="181602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25ECD40-46FF-9E7C-F941-8C46C3323DC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17" r="24168"/>
          <a:stretch>
            <a:fillRect/>
          </a:stretch>
        </p:blipFill>
        <p:spPr>
          <a:xfrm>
            <a:off x="2202542" y="7736267"/>
            <a:ext cx="5874658" cy="2271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0407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9BA78-845A-2A09-1E52-6FCDADB5D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3CB2C65-E9BC-4D9B-425B-D8A7F1BA3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879369"/>
              </p:ext>
            </p:extLst>
          </p:nvPr>
        </p:nvGraphicFramePr>
        <p:xfrm>
          <a:off x="1447798" y="1257300"/>
          <a:ext cx="15392400" cy="902521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477002">
                  <a:extLst>
                    <a:ext uri="{9D8B030D-6E8A-4147-A177-3AD203B41FA5}">
                      <a16:colId xmlns:a16="http://schemas.microsoft.com/office/drawing/2014/main" val="2294546935"/>
                    </a:ext>
                  </a:extLst>
                </a:gridCol>
                <a:gridCol w="8915398">
                  <a:extLst>
                    <a:ext uri="{9D8B030D-6E8A-4147-A177-3AD203B41FA5}">
                      <a16:colId xmlns:a16="http://schemas.microsoft.com/office/drawing/2014/main" val="3531103438"/>
                    </a:ext>
                  </a:extLst>
                </a:gridCol>
              </a:tblGrid>
              <a:tr h="19056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3200" b="1" dirty="0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+mj-cs"/>
                          <a:sym typeface="Poppins Bold"/>
                        </a:rPr>
                        <a:t>١- (جلوس طولاً تثبيت ثقل مناسب أسفل القدم المصابة وأستك مطاطي) رفع الرجل مائلاً عاليا ٤٥° والثبات.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3200" b="1" dirty="0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+mj-cs"/>
                          <a:sym typeface="Poppins Bold"/>
                        </a:rPr>
                        <a:t>التدرج في استعمال الأثقال حتى حدود الألم</a:t>
                      </a:r>
                      <a:endParaRPr lang="en-US" sz="3200" dirty="0"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861332"/>
                  </a:ext>
                </a:extLst>
              </a:tr>
              <a:tr h="159959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3200" b="1" dirty="0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+mj-cs"/>
                          <a:sym typeface="Poppins Bold"/>
                        </a:rPr>
                        <a:t>٢- (جلوس على مقعد ربط كاحل القدم المصابة بحبل مطاط) تحريك القدم للأمام لأكبر مدى ممكن في حدود الألم.</a:t>
                      </a:r>
                      <a:endParaRPr lang="en-US" sz="3200" dirty="0"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798911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3200" b="1" kern="1200" dirty="0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+mj-cs"/>
                          <a:sym typeface="Poppins Bold"/>
                        </a:rPr>
                        <a:t>٣-( جلوس القدم المصابة أسفل البار) مد الرجل المصابة لأقصى مدى والثبات.</a:t>
                      </a:r>
                      <a:endParaRPr lang="en-US" sz="3200" dirty="0"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234064"/>
                  </a:ext>
                </a:extLst>
              </a:tr>
              <a:tr h="1905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3200" b="1" kern="1200" dirty="0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+mj-cs"/>
                          <a:sym typeface="Poppins Bold"/>
                        </a:rPr>
                        <a:t>٤- (جلوس القدمين معاً أسفل البار) مد الرجلين </a:t>
                      </a:r>
                      <a:r>
                        <a:rPr lang="ar-EG" sz="3200" b="1" kern="1200" dirty="0" err="1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+mj-cs"/>
                          <a:sym typeface="Poppins Bold"/>
                        </a:rPr>
                        <a:t>لاقصى</a:t>
                      </a:r>
                      <a:r>
                        <a:rPr lang="ar-EG" sz="3200" b="1" kern="1200" dirty="0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+mj-cs"/>
                          <a:sym typeface="Poppins Bold"/>
                        </a:rPr>
                        <a:t> مدى</a:t>
                      </a:r>
                      <a:endParaRPr lang="en-US" sz="3200" dirty="0"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517008"/>
                  </a:ext>
                </a:extLst>
              </a:tr>
              <a:tr h="178621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3200" b="1" dirty="0">
                          <a:cs typeface="+mj-cs"/>
                        </a:rPr>
                        <a:t>٥- (انبطاح على الجهاز المتعدد سند العقبين أسفل البار) ثني الركبتين كاملاً</a:t>
                      </a:r>
                      <a:endParaRPr lang="en-US" sz="3200" b="1" dirty="0"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7653769"/>
                  </a:ext>
                </a:extLst>
              </a:tr>
            </a:tbl>
          </a:graphicData>
        </a:graphic>
      </p:graphicFrame>
      <p:sp>
        <p:nvSpPr>
          <p:cNvPr id="6" name="TextBox 16">
            <a:extLst>
              <a:ext uri="{FF2B5EF4-FFF2-40B4-BE49-F238E27FC236}">
                <a16:creationId xmlns:a16="http://schemas.microsoft.com/office/drawing/2014/main" id="{3384C53F-95FA-6D05-567B-BB0A5F67B00D}"/>
              </a:ext>
            </a:extLst>
          </p:cNvPr>
          <p:cNvSpPr txBox="1"/>
          <p:nvPr/>
        </p:nvSpPr>
        <p:spPr>
          <a:xfrm>
            <a:off x="3581400" y="249141"/>
            <a:ext cx="11394173" cy="984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7371"/>
              </a:lnSpc>
            </a:pPr>
            <a:r>
              <a:rPr lang="ar-EG" sz="7599" b="1" dirty="0">
                <a:solidFill>
                  <a:srgbClr val="4383D1"/>
                </a:solidFill>
                <a:latin typeface="Poppins Bold"/>
                <a:ea typeface="Poppins Bold"/>
                <a:cs typeface="+mj-cs"/>
                <a:sym typeface="Poppins Bold"/>
              </a:rPr>
              <a:t>تمارين المرحلة الثانية</a:t>
            </a:r>
            <a:endParaRPr lang="en-US" sz="7599" b="1" dirty="0">
              <a:solidFill>
                <a:srgbClr val="4383D1"/>
              </a:solidFill>
              <a:latin typeface="Poppins Bold"/>
              <a:ea typeface="Poppins Bold"/>
              <a:cs typeface="+mj-cs"/>
              <a:sym typeface="Poppins Bold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FB118F-615B-3A09-F693-D45CBF3A03E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304487"/>
            <a:ext cx="5791200" cy="1828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8B6CB6-7EDA-DD25-0A6A-5DB027DCE0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3180474"/>
            <a:ext cx="5791200" cy="158202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A93239D-690E-4046-1D36-8A210AB384A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67" r="13333"/>
          <a:stretch>
            <a:fillRect/>
          </a:stretch>
        </p:blipFill>
        <p:spPr>
          <a:xfrm>
            <a:off x="1752600" y="4809686"/>
            <a:ext cx="5791200" cy="178161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BFFD948-CCC4-9051-C8D1-88EFD6CB21D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33" r="22083"/>
          <a:stretch>
            <a:fillRect/>
          </a:stretch>
        </p:blipFill>
        <p:spPr>
          <a:xfrm>
            <a:off x="1752600" y="6565993"/>
            <a:ext cx="5791200" cy="19303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E642B86-2AA8-1C40-0E95-5D932B6B619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70" r="14329"/>
          <a:stretch>
            <a:fillRect/>
          </a:stretch>
        </p:blipFill>
        <p:spPr>
          <a:xfrm>
            <a:off x="1767840" y="8496300"/>
            <a:ext cx="5791200" cy="175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6752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28A54B5-4D8B-2B3F-813C-01079C0B90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7620"/>
            <a:ext cx="15316200" cy="102793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D8648AF-731E-4C3B-C9E2-48923492A373}"/>
              </a:ext>
            </a:extLst>
          </p:cNvPr>
          <p:cNvSpPr txBox="1"/>
          <p:nvPr/>
        </p:nvSpPr>
        <p:spPr>
          <a:xfrm>
            <a:off x="3505200" y="3924300"/>
            <a:ext cx="112014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8800" b="1" dirty="0"/>
              <a:t>حين يختل التوازن في الجسد، لا يبحث الإنسان عن الشفاء فقط بل عن نفسه من جديد.</a:t>
            </a:r>
            <a:endParaRPr lang="en-US" sz="8800" b="1" dirty="0"/>
          </a:p>
        </p:txBody>
      </p:sp>
    </p:spTree>
    <p:extLst>
      <p:ext uri="{BB962C8B-B14F-4D97-AF65-F5344CB8AC3E}">
        <p14:creationId xmlns:p14="http://schemas.microsoft.com/office/powerpoint/2010/main" val="2752221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5BC375B-E8CA-02D2-2E49-F3F1447AB9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71450"/>
            <a:ext cx="14001750" cy="994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39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</TotalTime>
  <Words>854</Words>
  <Application>Microsoft Office PowerPoint</Application>
  <PresentationFormat>Custom</PresentationFormat>
  <Paragraphs>132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Lalezar</vt:lpstr>
      <vt:lpstr>Canva Sans</vt:lpstr>
      <vt:lpstr>Calibri</vt:lpstr>
      <vt:lpstr>Poppins Bold</vt:lpstr>
      <vt:lpstr>Arial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Simple Healthcare Services Presentation</dc:title>
  <cp:lastModifiedBy>عثمان محمد ابراهيم محمد خضير</cp:lastModifiedBy>
  <cp:revision>54</cp:revision>
  <dcterms:created xsi:type="dcterms:W3CDTF">2006-08-16T00:00:00Z</dcterms:created>
  <dcterms:modified xsi:type="dcterms:W3CDTF">2026-05-03T21:40:56Z</dcterms:modified>
  <dc:identifier>DAHEmWRD99M</dc:identifier>
</cp:coreProperties>
</file>